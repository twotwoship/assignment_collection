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1" r:id="rId2"/>
    <p:sldId id="272" r:id="rId3"/>
    <p:sldId id="273" r:id="rId4"/>
    <p:sldId id="264" r:id="rId5"/>
    <p:sldId id="313" r:id="rId6"/>
    <p:sldId id="304" r:id="rId7"/>
    <p:sldId id="279" r:id="rId8"/>
    <p:sldId id="306" r:id="rId9"/>
    <p:sldId id="307" r:id="rId10"/>
    <p:sldId id="280" r:id="rId11"/>
    <p:sldId id="287" r:id="rId12"/>
    <p:sldId id="308" r:id="rId13"/>
    <p:sldId id="309" r:id="rId14"/>
    <p:sldId id="310" r:id="rId15"/>
    <p:sldId id="311" r:id="rId16"/>
    <p:sldId id="312" r:id="rId17"/>
    <p:sldId id="301" r:id="rId18"/>
    <p:sldId id="305" r:id="rId19"/>
    <p:sldId id="298" r:id="rId20"/>
    <p:sldId id="296" r:id="rId21"/>
    <p:sldId id="283" r:id="rId22"/>
    <p:sldId id="284" r:id="rId23"/>
    <p:sldId id="292" r:id="rId24"/>
    <p:sldId id="294" r:id="rId25"/>
    <p:sldId id="265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224D60"/>
    <a:srgbClr val="718EA0"/>
    <a:srgbClr val="6C899B"/>
    <a:srgbClr val="F3F9FB"/>
    <a:srgbClr val="F9FCFD"/>
    <a:srgbClr val="23B0C3"/>
    <a:srgbClr val="146772"/>
    <a:srgbClr val="95E2EC"/>
    <a:srgbClr val="D0C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7" autoAdjust="0"/>
    <p:restoredTop sz="97440" autoAdjust="0"/>
  </p:normalViewPr>
  <p:slideViewPr>
    <p:cSldViewPr snapToGrid="0" showGuides="1">
      <p:cViewPr varScale="1">
        <p:scale>
          <a:sx n="158" d="100"/>
          <a:sy n="158" d="100"/>
        </p:scale>
        <p:origin x="138" y="15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CD294-35C4-43B3-BAB9-A643608059C1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D5FC6-8D3F-4D84-BCFB-00C2009A3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96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Constraints – Quality </a:t>
            </a:r>
            <a:r>
              <a:rPr lang="ko-KR" altLang="en-US" dirty="0" smtClean="0"/>
              <a:t>제약 조건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품질  </a:t>
            </a:r>
            <a:r>
              <a:rPr lang="en-US" altLang="ko-KR" dirty="0" smtClean="0"/>
              <a:t>Deliverables </a:t>
            </a:r>
            <a:r>
              <a:rPr lang="ko-KR" altLang="en-US" dirty="0" smtClean="0"/>
              <a:t>산출물 </a:t>
            </a:r>
            <a:r>
              <a:rPr lang="en-US" altLang="ko-KR" sz="1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Description</a:t>
            </a:r>
            <a:r>
              <a:rPr lang="en-US" altLang="ko-KR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&amp; Goals </a:t>
            </a:r>
            <a:r>
              <a:rPr lang="ko-KR" altLang="en-US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설명 및 목표</a:t>
            </a:r>
            <a:endParaRPr lang="ko-KR" altLang="en-US" sz="1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smtClean="0"/>
              <a:t>Clock Mode(</a:t>
            </a:r>
            <a:r>
              <a:rPr lang="ko-KR" altLang="en-US" sz="1200" dirty="0" smtClean="0"/>
              <a:t>실시간 시계 표시</a:t>
            </a:r>
            <a:r>
              <a:rPr lang="en-US" altLang="ko-KR" sz="1200" dirty="0" smtClean="0"/>
              <a:t>) / Setting Mode(</a:t>
            </a:r>
            <a:r>
              <a:rPr lang="ko-KR" altLang="en-US" sz="1200" dirty="0" smtClean="0"/>
              <a:t>날짜</a:t>
            </a:r>
            <a:r>
              <a:rPr lang="en-US" altLang="ko-KR" sz="1200" dirty="0" smtClean="0"/>
              <a:t>·</a:t>
            </a:r>
            <a:r>
              <a:rPr lang="ko-KR" altLang="en-US" sz="1200" dirty="0" smtClean="0"/>
              <a:t>시간 설정</a:t>
            </a:r>
            <a:r>
              <a:rPr lang="en-US" altLang="ko-KR" sz="1200" dirty="0" smtClean="0"/>
              <a:t>)</a:t>
            </a:r>
            <a:br>
              <a:rPr lang="en-US" altLang="ko-KR" sz="1200" dirty="0" smtClean="0"/>
            </a:br>
            <a:r>
              <a:rPr lang="en-US" altLang="ko-KR" sz="1200" dirty="0" smtClean="0"/>
              <a:t>Calculator Mode(FSM </a:t>
            </a:r>
            <a:r>
              <a:rPr lang="ko-KR" altLang="en-US" sz="1200" dirty="0" smtClean="0"/>
              <a:t>기반 계산기</a:t>
            </a:r>
            <a:r>
              <a:rPr lang="en-US" altLang="ko-KR" sz="1200" dirty="0" smtClean="0"/>
              <a:t>) / LCD Driver Module(HD44780)</a:t>
            </a:r>
            <a:br>
              <a:rPr lang="en-US" altLang="ko-KR" sz="1200" dirty="0" smtClean="0"/>
            </a:br>
            <a:r>
              <a:rPr lang="en-US" altLang="ko-KR" sz="1200" dirty="0" smtClean="0"/>
              <a:t>DS1307 RTC Driver(I²C) / Calculator Module(Infix → Postfix, Stack)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돋움" panose="020B0600000101010101" pitchFamily="50" charset="-127"/>
              <a:ea typeface="돋움" panose="020B0600000101010101" pitchFamily="50" charset="-127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02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Constraints – Quality </a:t>
            </a:r>
            <a:r>
              <a:rPr lang="ko-KR" altLang="en-US" dirty="0" smtClean="0"/>
              <a:t>제약 조건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품질  </a:t>
            </a:r>
            <a:r>
              <a:rPr lang="en-US" altLang="ko-KR" dirty="0" smtClean="0"/>
              <a:t>Deliverables </a:t>
            </a:r>
            <a:r>
              <a:rPr lang="ko-KR" altLang="en-US" dirty="0" smtClean="0"/>
              <a:t>산출물 </a:t>
            </a:r>
            <a:r>
              <a:rPr lang="en-US" altLang="ko-KR" sz="1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Description</a:t>
            </a:r>
            <a:r>
              <a:rPr lang="en-US" altLang="ko-KR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&amp; Goals </a:t>
            </a:r>
            <a:r>
              <a:rPr lang="ko-KR" altLang="en-US" sz="1200" baseline="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설명 및 목표</a:t>
            </a:r>
            <a:endParaRPr lang="ko-KR" altLang="en-US" sz="1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smtClean="0"/>
              <a:t>Clock Mode(</a:t>
            </a:r>
            <a:r>
              <a:rPr lang="ko-KR" altLang="en-US" sz="1200" dirty="0" smtClean="0"/>
              <a:t>실시간 시계 표시</a:t>
            </a:r>
            <a:r>
              <a:rPr lang="en-US" altLang="ko-KR" sz="1200" dirty="0" smtClean="0"/>
              <a:t>) / Setting Mode(</a:t>
            </a:r>
            <a:r>
              <a:rPr lang="ko-KR" altLang="en-US" sz="1200" dirty="0" smtClean="0"/>
              <a:t>날짜</a:t>
            </a:r>
            <a:r>
              <a:rPr lang="en-US" altLang="ko-KR" sz="1200" dirty="0" smtClean="0"/>
              <a:t>·</a:t>
            </a:r>
            <a:r>
              <a:rPr lang="ko-KR" altLang="en-US" sz="1200" dirty="0" smtClean="0"/>
              <a:t>시간 설정</a:t>
            </a:r>
            <a:r>
              <a:rPr lang="en-US" altLang="ko-KR" sz="1200" dirty="0" smtClean="0"/>
              <a:t>)</a:t>
            </a:r>
            <a:br>
              <a:rPr lang="en-US" altLang="ko-KR" sz="1200" dirty="0" smtClean="0"/>
            </a:br>
            <a:r>
              <a:rPr lang="en-US" altLang="ko-KR" sz="1200" dirty="0" smtClean="0"/>
              <a:t>Calculator Mode(FSM </a:t>
            </a:r>
            <a:r>
              <a:rPr lang="ko-KR" altLang="en-US" sz="1200" dirty="0" smtClean="0"/>
              <a:t>기반 계산기</a:t>
            </a:r>
            <a:r>
              <a:rPr lang="en-US" altLang="ko-KR" sz="1200" dirty="0" smtClean="0"/>
              <a:t>) / LCD Driver Module(HD44780)</a:t>
            </a:r>
            <a:br>
              <a:rPr lang="en-US" altLang="ko-KR" sz="1200" dirty="0" smtClean="0"/>
            </a:br>
            <a:r>
              <a:rPr lang="en-US" altLang="ko-KR" sz="1200" dirty="0" smtClean="0"/>
              <a:t>DS1307 RTC Driver(I²C) / Calculator Module(Infix → Postfix, Stack)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돋움" panose="020B0600000101010101" pitchFamily="50" charset="-127"/>
              <a:ea typeface="돋움" panose="020B0600000101010101" pitchFamily="50" charset="-127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454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ATmega128A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ATmega128A</a:t>
            </a:r>
            <a:endParaRPr lang="ko-KR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272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START / STOP </a:t>
            </a:r>
            <a:r>
              <a:rPr lang="ko-KR" altLang="en-US" dirty="0" smtClean="0"/>
              <a:t>생성</a:t>
            </a:r>
          </a:p>
          <a:p>
            <a:r>
              <a:rPr lang="en-US" altLang="ko-KR" dirty="0" smtClean="0"/>
              <a:t>Slave Address </a:t>
            </a:r>
            <a:r>
              <a:rPr lang="ko-KR" altLang="en-US" dirty="0" smtClean="0"/>
              <a:t>전송</a:t>
            </a:r>
          </a:p>
          <a:p>
            <a:r>
              <a:rPr lang="en-US" altLang="ko-KR" dirty="0" smtClean="0"/>
              <a:t>RTC Register </a:t>
            </a:r>
            <a:r>
              <a:rPr lang="ko-KR" altLang="en-US" dirty="0" smtClean="0"/>
              <a:t>접근</a:t>
            </a:r>
          </a:p>
          <a:p>
            <a:r>
              <a:rPr lang="en-US" altLang="ko-KR" dirty="0" smtClean="0"/>
              <a:t>ACK / NACK </a:t>
            </a:r>
            <a:r>
              <a:rPr lang="ko-KR" altLang="en-US" dirty="0" smtClean="0"/>
              <a:t>처리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90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설정 </a:t>
            </a:r>
            <a:r>
              <a:rPr lang="ko-KR" altLang="en-US" dirty="0" err="1" smtClean="0"/>
              <a:t>변경시</a:t>
            </a:r>
            <a:r>
              <a:rPr lang="ko-KR" altLang="en-US" dirty="0" smtClean="0"/>
              <a:t> 쓰레기 값 추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413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설정 </a:t>
            </a:r>
            <a:r>
              <a:rPr lang="ko-KR" altLang="en-US" dirty="0" err="1" smtClean="0"/>
              <a:t>변경시</a:t>
            </a:r>
            <a:r>
              <a:rPr lang="ko-KR" altLang="en-US" dirty="0" smtClean="0"/>
              <a:t> 쓰레기 값 추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527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설정 </a:t>
            </a:r>
            <a:r>
              <a:rPr lang="ko-KR" altLang="en-US" dirty="0" err="1" smtClean="0"/>
              <a:t>변경시</a:t>
            </a:r>
            <a:r>
              <a:rPr lang="ko-KR" altLang="en-US" dirty="0" smtClean="0"/>
              <a:t> 쓰레기 값 추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432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LCD1602 </a:t>
            </a:r>
            <a:r>
              <a:rPr lang="ko-KR" altLang="en-US" dirty="0" smtClean="0"/>
              <a:t>제어의 핵심은 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"RS 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핀으로 명령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구분하고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핀에 값을 얹은 뒤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핀을 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튕겨주는 것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dirty="0" smtClean="0"/>
              <a:t>입니다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143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LCD1602 </a:t>
            </a:r>
            <a:r>
              <a:rPr lang="ko-KR" altLang="en-US" dirty="0" smtClean="0"/>
              <a:t>제어의 핵심은 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"RS 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핀으로 명령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구분하고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핀에 값을 얹은 뒤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핀을 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튕겨주는 것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dirty="0" smtClean="0"/>
              <a:t>입니다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749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구현 기술</a:t>
            </a:r>
            <a:endParaRPr lang="en-US" altLang="ko-KR" dirty="0" smtClean="0"/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/ pam</a:t>
            </a:r>
          </a:p>
          <a:p>
            <a:r>
              <a:rPr lang="en-US" altLang="ko-KR" dirty="0" err="1" smtClean="0"/>
              <a:t>Pwm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이론</a:t>
            </a:r>
            <a:endParaRPr lang="en-US" altLang="ko-KR" dirty="0" smtClean="0"/>
          </a:p>
          <a:p>
            <a:r>
              <a:rPr lang="ko-KR" altLang="en-US" dirty="0" err="1" smtClean="0"/>
              <a:t>초음파센서</a:t>
            </a:r>
            <a:r>
              <a:rPr lang="ko-KR" altLang="en-US" dirty="0" smtClean="0"/>
              <a:t> 이론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F</a:t>
            </a:r>
            <a:r>
              <a:rPr lang="en-US" altLang="ko-KR" baseline="0" dirty="0" smtClean="0"/>
              <a:t> = 0x66 0110 0110 </a:t>
            </a:r>
          </a:p>
          <a:p>
            <a:r>
              <a:rPr lang="en-US" altLang="ko-KR" baseline="0" dirty="0" smtClean="0"/>
              <a:t>S = 0x73 0111 0011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601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	</a:t>
            </a:r>
            <a:r>
              <a:rPr lang="ko-KR" altLang="en-US" dirty="0" err="1" smtClean="0"/>
              <a:t>폴링</a:t>
            </a:r>
            <a:r>
              <a:rPr lang="ko-KR" altLang="en-US" dirty="0" smtClean="0"/>
              <a:t> </a:t>
            </a:r>
            <a:r>
              <a:rPr lang="en-US" altLang="ko-KR" dirty="0" smtClean="0"/>
              <a:t>(Polling)				</a:t>
            </a:r>
            <a:r>
              <a:rPr lang="ko-KR" altLang="en-US" dirty="0" smtClean="0"/>
              <a:t>인터럽트 </a:t>
            </a:r>
            <a:r>
              <a:rPr lang="en-US" altLang="ko-KR" dirty="0" smtClean="0"/>
              <a:t>(Interrupt)</a:t>
            </a:r>
          </a:p>
          <a:p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주기적으로 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왔어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 계속 물어봄   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장치가 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왔습니다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 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 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깨움</a:t>
            </a:r>
            <a:endParaRPr lang="en-US" altLang="ko-KR" sz="1200" b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</a:t>
            </a:r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자원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비효율적 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아무 일도 없어도 계속 확인해야 함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ko-KR" sz="1200" b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ko-KR" altLang="en-US" sz="1200" b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효율적 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일 하다가 알림이 올 때만 처리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반응 속도</a:t>
            </a:r>
            <a:r>
              <a:rPr lang="en-US" altLang="ko-KR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주기적으로 확인하므로 지연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(Overhead) 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발생 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가능즉각적인 처리 가능</a:t>
            </a:r>
            <a:endParaRPr lang="en-US" altLang="ko-KR" sz="1200" b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 오버헤드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 주기가 짧으면 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낭비가 심함</a:t>
            </a:r>
            <a:r>
              <a:rPr lang="en-US" altLang="ko-KR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ko-KR" altLang="en-US" sz="1200" b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빈번한 인터럽트 발생 시 컨텍스트 스위칭 비용 발생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373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582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026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데이터시트를 분석하여 </a:t>
            </a:r>
            <a:r>
              <a:rPr lang="en-US" altLang="ko-KR" dirty="0" smtClean="0">
                <a:solidFill>
                  <a:schemeClr val="tx1"/>
                </a:solidFill>
              </a:rPr>
              <a:t>MCU</a:t>
            </a:r>
            <a:r>
              <a:rPr lang="ko-KR" altLang="en-US" dirty="0" smtClean="0">
                <a:solidFill>
                  <a:schemeClr val="tx1"/>
                </a:solidFill>
              </a:rPr>
              <a:t>와 </a:t>
            </a:r>
            <a:r>
              <a:rPr lang="en-US" altLang="ko-KR" dirty="0" smtClean="0">
                <a:solidFill>
                  <a:schemeClr val="tx1"/>
                </a:solidFill>
              </a:rPr>
              <a:t>DS1307 RTC </a:t>
            </a:r>
            <a:r>
              <a:rPr lang="ko-KR" altLang="en-US" dirty="0" err="1" smtClean="0">
                <a:solidFill>
                  <a:schemeClr val="tx1"/>
                </a:solidFill>
              </a:rPr>
              <a:t>칩간의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I2C </a:t>
            </a:r>
            <a:r>
              <a:rPr lang="ko-KR" altLang="en-US" dirty="0" smtClean="0">
                <a:solidFill>
                  <a:schemeClr val="tx1"/>
                </a:solidFill>
              </a:rPr>
              <a:t>동기식 통신을 직접 제어하는 과정을 통해서 통신 프로토콜의 흐름에 대해 깊이 있게 이해할 수 있게 되었다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925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5FC6-8D3F-4D84-BCFB-00C2009A344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64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465221" y="545691"/>
            <a:ext cx="95315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spc="-150" dirty="0">
                <a:solidFill>
                  <a:schemeClr val="bg1"/>
                </a:solidFill>
                <a:latin typeface="Arial Black" panose="020B0A04020102020204" pitchFamily="34" charset="0"/>
              </a:rPr>
              <a:t>AVR </a:t>
            </a:r>
            <a:r>
              <a:rPr lang="en-US" altLang="ko-KR" sz="6000" spc="-15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Project</a:t>
            </a:r>
            <a:endParaRPr lang="en-US" altLang="ko-KR" sz="6000" spc="-15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ko-KR" altLang="en-US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－</a:t>
            </a:r>
            <a:r>
              <a:rPr lang="en-US" altLang="ko-KR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Digital </a:t>
            </a:r>
            <a:r>
              <a:rPr lang="en-US" altLang="ko-KR" sz="4800" dirty="0">
                <a:solidFill>
                  <a:schemeClr val="bg1"/>
                </a:solidFill>
                <a:latin typeface="Arial Black" panose="020B0A04020102020204" pitchFamily="34" charset="0"/>
              </a:rPr>
              <a:t>Clock &amp; Calculator</a:t>
            </a:r>
            <a:endParaRPr lang="en-US" altLang="ko-KR" sz="4800" spc="-15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903620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한소영</a:t>
            </a:r>
            <a:r>
              <a:rPr lang="ko-KR" altLang="en-US" sz="2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ko-KR" altLang="en-US" sz="20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이양배</a:t>
            </a:r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229707" y="7218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accent1"/>
                </a:solidFill>
                <a:latin typeface="Arial Black" panose="020B0A04020102020204" pitchFamily="34" charset="0"/>
                <a:ea typeface="+mj-ea"/>
              </a:rPr>
              <a:t>목차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8183-DB54-F711-9B69-C8C5752AF7AF}"/>
              </a:ext>
            </a:extLst>
          </p:cNvPr>
          <p:cNvSpPr txBox="1"/>
          <p:nvPr/>
        </p:nvSpPr>
        <p:spPr>
          <a:xfrm>
            <a:off x="1856247" y="1795038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1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F8E78-68AC-B048-5336-EE835D4169E6}"/>
              </a:ext>
            </a:extLst>
          </p:cNvPr>
          <p:cNvSpPr txBox="1"/>
          <p:nvPr/>
        </p:nvSpPr>
        <p:spPr>
          <a:xfrm>
            <a:off x="2585007" y="1733483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개요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F5BEB-A29E-EC98-4681-67E53CB0B3C2}"/>
              </a:ext>
            </a:extLst>
          </p:cNvPr>
          <p:cNvSpPr txBox="1"/>
          <p:nvPr/>
        </p:nvSpPr>
        <p:spPr>
          <a:xfrm>
            <a:off x="1856247" y="287125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2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F1453-BC33-8329-E803-35808F5E93AA}"/>
              </a:ext>
            </a:extLst>
          </p:cNvPr>
          <p:cNvSpPr txBox="1"/>
          <p:nvPr/>
        </p:nvSpPr>
        <p:spPr>
          <a:xfrm>
            <a:off x="2585007" y="2809701"/>
            <a:ext cx="2608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FSM &amp; H/W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BC02-6717-E326-10F3-EED37C2CE102}"/>
              </a:ext>
            </a:extLst>
          </p:cNvPr>
          <p:cNvSpPr txBox="1"/>
          <p:nvPr/>
        </p:nvSpPr>
        <p:spPr>
          <a:xfrm>
            <a:off x="1856247" y="394747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3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A99F0-E26F-49EF-19FA-5DA225DF25D0}"/>
              </a:ext>
            </a:extLst>
          </p:cNvPr>
          <p:cNvSpPr txBox="1"/>
          <p:nvPr/>
        </p:nvSpPr>
        <p:spPr>
          <a:xfrm>
            <a:off x="2585007" y="3885919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accent1"/>
                </a:solidFill>
                <a:latin typeface="Arial Black" panose="020B0A04020102020204" pitchFamily="34" charset="0"/>
              </a:rPr>
              <a:t>S/W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4965817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4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4904262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err="1" smtClean="0">
                <a:solidFill>
                  <a:schemeClr val="accent1"/>
                </a:solidFill>
                <a:latin typeface="Arial Black" panose="020B0A04020102020204" pitchFamily="34" charset="0"/>
              </a:rPr>
              <a:t>동작영상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173C-BF4B-5D6B-514A-71779E736CDB}"/>
              </a:ext>
            </a:extLst>
          </p:cNvPr>
          <p:cNvSpPr txBox="1"/>
          <p:nvPr/>
        </p:nvSpPr>
        <p:spPr>
          <a:xfrm>
            <a:off x="2585007" y="1035957"/>
            <a:ext cx="235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Arial Black" panose="020B0A04020102020204" pitchFamily="34" charset="0"/>
              </a:rPr>
              <a:t>table of contents</a:t>
            </a:r>
            <a:endParaRPr lang="ko-KR" altLang="en-US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58E78-E0A3-AE12-64E5-C4481F9EEFE4}"/>
              </a:ext>
            </a:extLst>
          </p:cNvPr>
          <p:cNvSpPr txBox="1"/>
          <p:nvPr/>
        </p:nvSpPr>
        <p:spPr>
          <a:xfrm>
            <a:off x="9987228" y="6437787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597583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5</a:t>
            </a:r>
            <a:endParaRPr lang="ko-KR" altLang="en-US" sz="28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5914284"/>
            <a:ext cx="1992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구현 후기</a:t>
            </a:r>
            <a:endParaRPr lang="ko-KR" altLang="en-US" sz="3600" spc="-3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AutoShape 2" descr="생성된 이미지: 전자기기 제어판 사진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580" y="213447"/>
            <a:ext cx="4323232" cy="64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3020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430117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프로젝트 개요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744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15315542" y="1572255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993AD8-5CEA-2D1B-82AC-2D89F5B58074}"/>
              </a:ext>
            </a:extLst>
          </p:cNvPr>
          <p:cNvGrpSpPr/>
          <p:nvPr/>
        </p:nvGrpSpPr>
        <p:grpSpPr>
          <a:xfrm>
            <a:off x="16297717" y="1836751"/>
            <a:ext cx="3874975" cy="1491414"/>
            <a:chOff x="5071677" y="598302"/>
            <a:chExt cx="5322767" cy="204864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917425D-F03B-F354-FEC0-11250975C51C}"/>
                </a:ext>
              </a:extLst>
            </p:cNvPr>
            <p:cNvSpPr/>
            <p:nvPr/>
          </p:nvSpPr>
          <p:spPr>
            <a:xfrm>
              <a:off x="5071677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D86A9D-39F0-778D-7C2D-6B2967ABF872}"/>
                </a:ext>
              </a:extLst>
            </p:cNvPr>
            <p:cNvSpPr/>
            <p:nvPr/>
          </p:nvSpPr>
          <p:spPr>
            <a:xfrm>
              <a:off x="8345799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49E913F-178D-7981-553C-769FFE1B1252}"/>
                </a:ext>
              </a:extLst>
            </p:cNvPr>
            <p:cNvSpPr/>
            <p:nvPr/>
          </p:nvSpPr>
          <p:spPr>
            <a:xfrm>
              <a:off x="6708666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5315488" y="4090478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4B8AE79-A306-A46A-EEF1-06F4CEFAEB92}"/>
              </a:ext>
            </a:extLst>
          </p:cNvPr>
          <p:cNvSpPr/>
          <p:nvPr/>
        </p:nvSpPr>
        <p:spPr>
          <a:xfrm>
            <a:off x="16297663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B7E96AE-48A6-A34C-EFD2-3F9F934109DD}"/>
              </a:ext>
            </a:extLst>
          </p:cNvPr>
          <p:cNvSpPr/>
          <p:nvPr/>
        </p:nvSpPr>
        <p:spPr>
          <a:xfrm>
            <a:off x="18681224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685C743-667E-953C-9424-2457F2A44BBC}"/>
              </a:ext>
            </a:extLst>
          </p:cNvPr>
          <p:cNvSpPr/>
          <p:nvPr/>
        </p:nvSpPr>
        <p:spPr>
          <a:xfrm>
            <a:off x="17489392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53D032-5499-0641-D904-7324D054E01F}"/>
              </a:ext>
            </a:extLst>
          </p:cNvPr>
          <p:cNvSpPr txBox="1"/>
          <p:nvPr/>
        </p:nvSpPr>
        <p:spPr>
          <a:xfrm flipH="1">
            <a:off x="16509677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1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17720654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2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7853B-477E-91A6-7476-B9DE24370803}"/>
              </a:ext>
            </a:extLst>
          </p:cNvPr>
          <p:cNvSpPr txBox="1"/>
          <p:nvPr/>
        </p:nvSpPr>
        <p:spPr>
          <a:xfrm flipH="1">
            <a:off x="18931631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3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6834E9-F8C4-A144-81C2-01D4A963F72A}"/>
              </a:ext>
            </a:extLst>
          </p:cNvPr>
          <p:cNvSpPr txBox="1"/>
          <p:nvPr/>
        </p:nvSpPr>
        <p:spPr>
          <a:xfrm flipH="1">
            <a:off x="16516693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516656-473D-938C-C42F-7CEC57624741}"/>
              </a:ext>
            </a:extLst>
          </p:cNvPr>
          <p:cNvSpPr txBox="1"/>
          <p:nvPr/>
        </p:nvSpPr>
        <p:spPr>
          <a:xfrm flipH="1">
            <a:off x="17727670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0E921-C951-E3EE-3892-18B32D1CCC90}"/>
              </a:ext>
            </a:extLst>
          </p:cNvPr>
          <p:cNvSpPr txBox="1"/>
          <p:nvPr/>
        </p:nvSpPr>
        <p:spPr>
          <a:xfrm flipH="1">
            <a:off x="18938647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/>
          <p:nvPr/>
        </p:nvCxnSpPr>
        <p:spPr>
          <a:xfrm flipV="1">
            <a:off x="18169833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>
            <a:off x="18354515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484997"/>
              </p:ext>
            </p:extLst>
          </p:nvPr>
        </p:nvGraphicFramePr>
        <p:xfrm>
          <a:off x="198848" y="867715"/>
          <a:ext cx="11781128" cy="56728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4453">
                  <a:extLst>
                    <a:ext uri="{9D8B030D-6E8A-4147-A177-3AD203B41FA5}">
                      <a16:colId xmlns:a16="http://schemas.microsoft.com/office/drawing/2014/main" val="106595958"/>
                    </a:ext>
                  </a:extLst>
                </a:gridCol>
                <a:gridCol w="7686675">
                  <a:extLst>
                    <a:ext uri="{9D8B030D-6E8A-4147-A177-3AD203B41FA5}">
                      <a16:colId xmlns:a16="http://schemas.microsoft.com/office/drawing/2014/main" val="4031561553"/>
                    </a:ext>
                  </a:extLst>
                </a:gridCol>
              </a:tblGrid>
              <a:tr h="4203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Name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1" dirty="0" smtClean="0"/>
                        <a:t>Digital Clock &amp; Calculator using LCD1602 and DS1307</a:t>
                      </a:r>
                      <a:endParaRPr lang="en-US" altLang="ko-KR" sz="1600" dirty="0"/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4511995"/>
                  </a:ext>
                </a:extLst>
              </a:tr>
              <a:tr h="11316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Description</a:t>
                      </a:r>
                      <a:r>
                        <a:rPr lang="en-US" altLang="ko-KR" sz="1800" baseline="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 &amp; Goals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-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ATmega128A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디지털 시계 및 계산기 시스템 구현</a:t>
                      </a:r>
                      <a:endParaRPr lang="en-US" altLang="ko-KR" sz="16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-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LCD1602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이용한 실시간 날짜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 표시</a:t>
                      </a:r>
                      <a:endParaRPr lang="en-US" altLang="ko-KR" sz="16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-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DS1307 RTC(I²C)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이용한 시계 기능 구현</a:t>
                      </a:r>
                      <a:endParaRPr lang="en-US" altLang="ko-KR" sz="16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- 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4×4 Keypad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이용한 계산기 및 시간 설정 기능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250089"/>
                  </a:ext>
                </a:extLst>
              </a:tr>
              <a:tr h="14549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Scope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LCD1602 </a:t>
                      </a:r>
                      <a:r>
                        <a:rPr lang="ko-KR" altLang="en-US" sz="1400" dirty="0" smtClean="0"/>
                        <a:t>문자 </a:t>
                      </a:r>
                      <a:r>
                        <a:rPr lang="en-US" altLang="ko-KR" sz="1400" dirty="0" smtClean="0"/>
                        <a:t>LCD </a:t>
                      </a:r>
                      <a:r>
                        <a:rPr lang="ko-KR" altLang="en-US" sz="1400" dirty="0" smtClean="0"/>
                        <a:t>드라이버 구현</a:t>
                      </a:r>
                      <a:r>
                        <a:rPr lang="en-US" altLang="ko-KR" sz="1400" dirty="0" smtClean="0"/>
                        <a:t>(4-bit Interface)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DS1307 RTC</a:t>
                      </a:r>
                      <a:r>
                        <a:rPr lang="ko-KR" altLang="en-US" sz="1400" dirty="0" smtClean="0"/>
                        <a:t>와 </a:t>
                      </a:r>
                      <a:r>
                        <a:rPr lang="en-US" altLang="ko-KR" sz="1400" dirty="0" smtClean="0"/>
                        <a:t>I²C </a:t>
                      </a:r>
                      <a:r>
                        <a:rPr lang="ko-KR" altLang="en-US" sz="1400" dirty="0" smtClean="0"/>
                        <a:t>통신 기반 시간 읽기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쓰기</a:t>
                      </a:r>
                      <a:br>
                        <a:rPr lang="ko-KR" altLang="en-US" sz="1400" dirty="0" smtClean="0"/>
                      </a:b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Clock / Setting / Calculator Mode FSM </a:t>
                      </a:r>
                      <a:r>
                        <a:rPr lang="ko-KR" altLang="en-US" sz="1400" dirty="0" smtClean="0"/>
                        <a:t>구현</a:t>
                      </a:r>
                      <a:br>
                        <a:rPr lang="ko-KR" altLang="en-US" sz="1400" dirty="0" smtClean="0"/>
                      </a:b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- 4×4 Keypad </a:t>
                      </a:r>
                      <a:r>
                        <a:rPr lang="ko-KR" altLang="en-US" sz="1400" dirty="0" smtClean="0"/>
                        <a:t>및 </a:t>
                      </a:r>
                      <a:r>
                        <a:rPr lang="en-US" altLang="ko-KR" sz="1400" dirty="0" smtClean="0"/>
                        <a:t>Push Button </a:t>
                      </a:r>
                      <a:r>
                        <a:rPr lang="ko-KR" altLang="en-US" sz="1400" dirty="0" smtClean="0"/>
                        <a:t>입력 처리</a:t>
                      </a:r>
                      <a:br>
                        <a:rPr lang="ko-KR" altLang="en-US" sz="1400" dirty="0" smtClean="0"/>
                      </a:b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</a:t>
                      </a:r>
                      <a:r>
                        <a:rPr lang="ko-KR" altLang="en-US" sz="1400" dirty="0" smtClean="0"/>
                        <a:t>중위표기식을 후위표기식으로 변환하여 계산 수행</a:t>
                      </a:r>
                      <a:br>
                        <a:rPr lang="ko-KR" altLang="en-US" sz="1400" dirty="0" smtClean="0"/>
                      </a:b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Stack </a:t>
                      </a:r>
                      <a:r>
                        <a:rPr lang="ko-KR" altLang="en-US" sz="1400" dirty="0" smtClean="0"/>
                        <a:t>기반 계산 알고리즘 구현</a:t>
                      </a:r>
                      <a:endParaRPr lang="ko-KR" altLang="en-US" sz="14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2711061"/>
                  </a:ext>
                </a:extLst>
              </a:tr>
              <a:tr h="12286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Constraints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MCU : ATmega128A / F_CPU 16MHz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RTC : DS1307(I²C Standard Mode 200kHz)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LCD : HD44780 Compatible LCD1602 (4-bit Mode)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Timer0 </a:t>
                      </a:r>
                      <a:r>
                        <a:rPr lang="ko-KR" altLang="en-US" sz="1400" dirty="0" smtClean="0"/>
                        <a:t>기반 버튼 관리</a:t>
                      </a:r>
                      <a:br>
                        <a:rPr lang="ko-KR" altLang="en-US" sz="1400" dirty="0" smtClean="0"/>
                      </a:b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- RTC </a:t>
                      </a:r>
                      <a:r>
                        <a:rPr lang="ko-KR" altLang="en-US" sz="1400" dirty="0" smtClean="0"/>
                        <a:t>데이터는 </a:t>
                      </a:r>
                      <a:r>
                        <a:rPr lang="en-US" altLang="ko-KR" sz="1400" dirty="0" smtClean="0"/>
                        <a:t>BCD(Binary Coded Decimal) </a:t>
                      </a:r>
                      <a:r>
                        <a:rPr lang="ko-KR" altLang="en-US" sz="1400" dirty="0" smtClean="0"/>
                        <a:t>형식 사용</a:t>
                      </a:r>
                      <a:endParaRPr lang="ko-KR" altLang="en-US" sz="14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2730901"/>
                  </a:ext>
                </a:extLst>
              </a:tr>
              <a:tr h="6143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Deliberables</a:t>
                      </a:r>
                      <a:endParaRPr lang="ko-KR" altLang="en-US" sz="1800" dirty="0" smtClean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- Clock Mode(</a:t>
                      </a:r>
                      <a:r>
                        <a:rPr lang="ko-KR" altLang="en-US" sz="1600" dirty="0" smtClean="0"/>
                        <a:t>실시간 시계 표시</a:t>
                      </a:r>
                      <a:r>
                        <a:rPr lang="en-US" altLang="ko-KR" sz="1600" dirty="0" smtClean="0"/>
                        <a:t>) / Setting Mode(</a:t>
                      </a:r>
                      <a:r>
                        <a:rPr lang="ko-KR" altLang="en-US" sz="1600" dirty="0" smtClean="0"/>
                        <a:t>날짜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시간 설정</a:t>
                      </a:r>
                      <a:r>
                        <a:rPr lang="en-US" altLang="ko-KR" sz="1600" dirty="0" smtClean="0"/>
                        <a:t>)</a:t>
                      </a:r>
                      <a:br>
                        <a:rPr lang="en-US" altLang="ko-KR" sz="1600" dirty="0" smtClean="0"/>
                      </a:br>
                      <a:r>
                        <a:rPr lang="en-US" altLang="ko-KR" sz="1600" dirty="0" smtClean="0"/>
                        <a:t> - Calculator Mode(FSM </a:t>
                      </a:r>
                      <a:r>
                        <a:rPr lang="ko-KR" altLang="en-US" sz="1600" dirty="0" smtClean="0"/>
                        <a:t>기반 계산기</a:t>
                      </a:r>
                      <a:r>
                        <a:rPr lang="en-US" altLang="ko-KR" sz="1600" dirty="0" smtClean="0"/>
                        <a:t>) / LCD Driver Module(HD44780)</a:t>
                      </a:r>
                      <a:br>
                        <a:rPr lang="en-US" altLang="ko-KR" sz="1600" dirty="0" smtClean="0"/>
                      </a:br>
                      <a:r>
                        <a:rPr lang="en-US" altLang="ko-KR" sz="1600" dirty="0" smtClean="0"/>
                        <a:t> - DS1307 RTC Driver(I²C) / Calculator Module(Infix → Postfix, Stack)</a:t>
                      </a:r>
                      <a:endParaRPr lang="ko-KR" altLang="en-US" sz="1600" kern="1200" dirty="0" smtClean="0"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483266"/>
                  </a:ext>
                </a:extLst>
              </a:tr>
              <a:tr h="61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Key Components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ATmega128A, LCD1602, DS1307 RTC, 4×4 Keypad, Push Button, 32.768kHz Crystal, Coin Battery(CR2032), Timer0, I²C(TWI)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56565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１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653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accent1"/>
                </a:solidFill>
              </a:rPr>
              <a:t>프로젝트　개요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16112" y="156603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32000" y="6678309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15315542" y="1572255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993AD8-5CEA-2D1B-82AC-2D89F5B58074}"/>
              </a:ext>
            </a:extLst>
          </p:cNvPr>
          <p:cNvGrpSpPr/>
          <p:nvPr/>
        </p:nvGrpSpPr>
        <p:grpSpPr>
          <a:xfrm>
            <a:off x="16297717" y="1836751"/>
            <a:ext cx="3874975" cy="1491414"/>
            <a:chOff x="5071677" y="598302"/>
            <a:chExt cx="5322767" cy="204864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917425D-F03B-F354-FEC0-11250975C51C}"/>
                </a:ext>
              </a:extLst>
            </p:cNvPr>
            <p:cNvSpPr/>
            <p:nvPr/>
          </p:nvSpPr>
          <p:spPr>
            <a:xfrm>
              <a:off x="5071677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D86A9D-39F0-778D-7C2D-6B2967ABF872}"/>
                </a:ext>
              </a:extLst>
            </p:cNvPr>
            <p:cNvSpPr/>
            <p:nvPr/>
          </p:nvSpPr>
          <p:spPr>
            <a:xfrm>
              <a:off x="8345799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49E913F-178D-7981-553C-769FFE1B1252}"/>
                </a:ext>
              </a:extLst>
            </p:cNvPr>
            <p:cNvSpPr/>
            <p:nvPr/>
          </p:nvSpPr>
          <p:spPr>
            <a:xfrm>
              <a:off x="6708666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5315488" y="4090478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4B8AE79-A306-A46A-EEF1-06F4CEFAEB92}"/>
              </a:ext>
            </a:extLst>
          </p:cNvPr>
          <p:cNvSpPr/>
          <p:nvPr/>
        </p:nvSpPr>
        <p:spPr>
          <a:xfrm>
            <a:off x="16297663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B7E96AE-48A6-A34C-EFD2-3F9F934109DD}"/>
              </a:ext>
            </a:extLst>
          </p:cNvPr>
          <p:cNvSpPr/>
          <p:nvPr/>
        </p:nvSpPr>
        <p:spPr>
          <a:xfrm>
            <a:off x="18681224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685C743-667E-953C-9424-2457F2A44BBC}"/>
              </a:ext>
            </a:extLst>
          </p:cNvPr>
          <p:cNvSpPr/>
          <p:nvPr/>
        </p:nvSpPr>
        <p:spPr>
          <a:xfrm>
            <a:off x="17489392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53D032-5499-0641-D904-7324D054E01F}"/>
              </a:ext>
            </a:extLst>
          </p:cNvPr>
          <p:cNvSpPr txBox="1"/>
          <p:nvPr/>
        </p:nvSpPr>
        <p:spPr>
          <a:xfrm flipH="1">
            <a:off x="16509677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1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17720654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2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7853B-477E-91A6-7476-B9DE24370803}"/>
              </a:ext>
            </a:extLst>
          </p:cNvPr>
          <p:cNvSpPr txBox="1"/>
          <p:nvPr/>
        </p:nvSpPr>
        <p:spPr>
          <a:xfrm flipH="1">
            <a:off x="18931631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3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6834E9-F8C4-A144-81C2-01D4A963F72A}"/>
              </a:ext>
            </a:extLst>
          </p:cNvPr>
          <p:cNvSpPr txBox="1"/>
          <p:nvPr/>
        </p:nvSpPr>
        <p:spPr>
          <a:xfrm flipH="1">
            <a:off x="16516693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516656-473D-938C-C42F-7CEC57624741}"/>
              </a:ext>
            </a:extLst>
          </p:cNvPr>
          <p:cNvSpPr txBox="1"/>
          <p:nvPr/>
        </p:nvSpPr>
        <p:spPr>
          <a:xfrm flipH="1">
            <a:off x="17727670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0E921-C951-E3EE-3892-18B32D1CCC90}"/>
              </a:ext>
            </a:extLst>
          </p:cNvPr>
          <p:cNvSpPr txBox="1"/>
          <p:nvPr/>
        </p:nvSpPr>
        <p:spPr>
          <a:xfrm flipH="1">
            <a:off x="18938647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/>
          <p:nvPr/>
        </p:nvCxnSpPr>
        <p:spPr>
          <a:xfrm flipV="1">
            <a:off x="18169833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>
            <a:off x="18354515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１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95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 smtClean="0">
                <a:solidFill>
                  <a:schemeClr val="accent1"/>
                </a:solidFill>
              </a:rPr>
              <a:t>외관사진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16112" y="156603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32000" y="6678309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595" y="1004764"/>
            <a:ext cx="8177706" cy="548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1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15315542" y="1572255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993AD8-5CEA-2D1B-82AC-2D89F5B58074}"/>
              </a:ext>
            </a:extLst>
          </p:cNvPr>
          <p:cNvGrpSpPr/>
          <p:nvPr/>
        </p:nvGrpSpPr>
        <p:grpSpPr>
          <a:xfrm>
            <a:off x="16297717" y="1836751"/>
            <a:ext cx="3874975" cy="1491414"/>
            <a:chOff x="5071677" y="598302"/>
            <a:chExt cx="5322767" cy="204864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917425D-F03B-F354-FEC0-11250975C51C}"/>
                </a:ext>
              </a:extLst>
            </p:cNvPr>
            <p:cNvSpPr/>
            <p:nvPr/>
          </p:nvSpPr>
          <p:spPr>
            <a:xfrm>
              <a:off x="5071677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D86A9D-39F0-778D-7C2D-6B2967ABF872}"/>
                </a:ext>
              </a:extLst>
            </p:cNvPr>
            <p:cNvSpPr/>
            <p:nvPr/>
          </p:nvSpPr>
          <p:spPr>
            <a:xfrm>
              <a:off x="8345799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49E913F-178D-7981-553C-769FFE1B1252}"/>
                </a:ext>
              </a:extLst>
            </p:cNvPr>
            <p:cNvSpPr/>
            <p:nvPr/>
          </p:nvSpPr>
          <p:spPr>
            <a:xfrm>
              <a:off x="6708666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15315488" y="4090478"/>
            <a:ext cx="5839327" cy="2020407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4B8AE79-A306-A46A-EEF1-06F4CEFAEB92}"/>
              </a:ext>
            </a:extLst>
          </p:cNvPr>
          <p:cNvSpPr/>
          <p:nvPr/>
        </p:nvSpPr>
        <p:spPr>
          <a:xfrm>
            <a:off x="16297663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B7E96AE-48A6-A34C-EFD2-3F9F934109DD}"/>
              </a:ext>
            </a:extLst>
          </p:cNvPr>
          <p:cNvSpPr/>
          <p:nvPr/>
        </p:nvSpPr>
        <p:spPr>
          <a:xfrm>
            <a:off x="18681224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685C743-667E-953C-9424-2457F2A44BBC}"/>
              </a:ext>
            </a:extLst>
          </p:cNvPr>
          <p:cNvSpPr/>
          <p:nvPr/>
        </p:nvSpPr>
        <p:spPr>
          <a:xfrm>
            <a:off x="17489392" y="4354974"/>
            <a:ext cx="1491414" cy="1491414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53D032-5499-0641-D904-7324D054E01F}"/>
              </a:ext>
            </a:extLst>
          </p:cNvPr>
          <p:cNvSpPr txBox="1"/>
          <p:nvPr/>
        </p:nvSpPr>
        <p:spPr>
          <a:xfrm flipH="1">
            <a:off x="16509677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1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17720654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2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7853B-477E-91A6-7476-B9DE24370803}"/>
              </a:ext>
            </a:extLst>
          </p:cNvPr>
          <p:cNvSpPr txBox="1"/>
          <p:nvPr/>
        </p:nvSpPr>
        <p:spPr>
          <a:xfrm flipH="1">
            <a:off x="18931631" y="2397792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요소</a:t>
            </a:r>
            <a:r>
              <a:rPr lang="en-US" altLang="ko-KR" dirty="0">
                <a:solidFill>
                  <a:srgbClr val="146772"/>
                </a:solidFill>
              </a:rPr>
              <a:t>3</a:t>
            </a:r>
            <a:endParaRPr lang="ko-KR" altLang="en-US" dirty="0">
              <a:solidFill>
                <a:srgbClr val="14677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6834E9-F8C4-A144-81C2-01D4A963F72A}"/>
              </a:ext>
            </a:extLst>
          </p:cNvPr>
          <p:cNvSpPr txBox="1"/>
          <p:nvPr/>
        </p:nvSpPr>
        <p:spPr>
          <a:xfrm flipH="1">
            <a:off x="16516693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516656-473D-938C-C42F-7CEC57624741}"/>
              </a:ext>
            </a:extLst>
          </p:cNvPr>
          <p:cNvSpPr txBox="1"/>
          <p:nvPr/>
        </p:nvSpPr>
        <p:spPr>
          <a:xfrm flipH="1">
            <a:off x="17727670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0E921-C951-E3EE-3892-18B32D1CCC90}"/>
              </a:ext>
            </a:extLst>
          </p:cNvPr>
          <p:cNvSpPr txBox="1"/>
          <p:nvPr/>
        </p:nvSpPr>
        <p:spPr>
          <a:xfrm flipH="1">
            <a:off x="18938647" y="4924423"/>
            <a:ext cx="10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요소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3F2EE1-E72C-4DD3-0605-83467FBC130B}"/>
              </a:ext>
            </a:extLst>
          </p:cNvPr>
          <p:cNvCxnSpPr/>
          <p:nvPr/>
        </p:nvCxnSpPr>
        <p:spPr>
          <a:xfrm flipV="1">
            <a:off x="18169833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A96696-4197-AB01-41F5-C2A0B82632DA}"/>
              </a:ext>
            </a:extLst>
          </p:cNvPr>
          <p:cNvCxnSpPr>
            <a:cxnSpLocks/>
          </p:cNvCxnSpPr>
          <p:nvPr/>
        </p:nvCxnSpPr>
        <p:spPr>
          <a:xfrm>
            <a:off x="18354515" y="3592662"/>
            <a:ext cx="0" cy="497816"/>
          </a:xfrm>
          <a:prstGeom prst="straightConnector1">
            <a:avLst/>
          </a:prstGeom>
          <a:ln>
            <a:solidFill>
              <a:srgbClr val="146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259707"/>
              </p:ext>
            </p:extLst>
          </p:nvPr>
        </p:nvGraphicFramePr>
        <p:xfrm>
          <a:off x="228980" y="1031003"/>
          <a:ext cx="11693845" cy="51451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4849">
                  <a:extLst>
                    <a:ext uri="{9D8B030D-6E8A-4147-A177-3AD203B41FA5}">
                      <a16:colId xmlns:a16="http://schemas.microsoft.com/office/drawing/2014/main" val="106595958"/>
                    </a:ext>
                  </a:extLst>
                </a:gridCol>
                <a:gridCol w="2921329">
                  <a:extLst>
                    <a:ext uri="{9D8B030D-6E8A-4147-A177-3AD203B41FA5}">
                      <a16:colId xmlns:a16="http://schemas.microsoft.com/office/drawing/2014/main" val="4031561553"/>
                    </a:ext>
                  </a:extLst>
                </a:gridCol>
                <a:gridCol w="819398">
                  <a:extLst>
                    <a:ext uri="{9D8B030D-6E8A-4147-A177-3AD203B41FA5}">
                      <a16:colId xmlns:a16="http://schemas.microsoft.com/office/drawing/2014/main" val="3637110274"/>
                    </a:ext>
                  </a:extLst>
                </a:gridCol>
                <a:gridCol w="5308269">
                  <a:extLst>
                    <a:ext uri="{9D8B030D-6E8A-4147-A177-3AD203B41FA5}">
                      <a16:colId xmlns:a16="http://schemas.microsoft.com/office/drawing/2014/main" val="3161487550"/>
                    </a:ext>
                  </a:extLst>
                </a:gridCol>
              </a:tblGrid>
              <a:tr h="643142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구성품</a:t>
                      </a:r>
                      <a:endParaRPr lang="ko-KR" altLang="en-US" b="1" dirty="0">
                        <a:solidFill>
                          <a:schemeClr val="bg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역할</a:t>
                      </a: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개수</a:t>
                      </a:r>
                      <a:endParaRPr lang="en-US" altLang="ko-KR" sz="16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비고</a:t>
                      </a:r>
                      <a:endParaRPr lang="en-US" altLang="ko-KR" sz="16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28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4511995"/>
                  </a:ext>
                </a:extLst>
              </a:tr>
              <a:tr h="6431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 smtClean="0"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ATmega128A</a:t>
                      </a:r>
                      <a:endParaRPr lang="ko-KR" altLang="ko-KR" sz="1800" b="1" kern="1200" dirty="0" smtClean="0">
                        <a:solidFill>
                          <a:schemeClr val="bg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전체 제어 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MCU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1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상태 전환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, LCD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제어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, I2C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통신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입력 처리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250089"/>
                  </a:ext>
                </a:extLst>
              </a:tr>
              <a:tr h="64314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800" b="1" kern="1200" dirty="0" smtClean="0"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LCD1602</a:t>
                      </a:r>
                      <a:endParaRPr lang="en-US" altLang="ko-KR" sz="1800" b="1" kern="1200" dirty="0">
                        <a:solidFill>
                          <a:schemeClr val="bg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문자 출력 장치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1</a:t>
                      </a:r>
                      <a:endParaRPr lang="ko-KR" altLang="en-US" sz="1800" kern="1200" dirty="0" smtClean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시간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설정 정보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계산식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계산 결과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2711061"/>
                  </a:ext>
                </a:extLst>
              </a:tr>
              <a:tr h="64314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800" b="1" kern="1200" dirty="0" smtClean="0"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DS1307 </a:t>
                      </a:r>
                      <a:endParaRPr lang="en-US" altLang="ko-KR" sz="1800" b="1" kern="1200" dirty="0">
                        <a:solidFill>
                          <a:schemeClr val="bg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RTC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(REAL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TIME CLOCK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)</a:t>
                      </a:r>
                      <a:endParaRPr lang="en-US" altLang="ko-KR" sz="1800" b="0" kern="1200" dirty="0" smtClean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1</a:t>
                      </a:r>
                      <a:endParaRPr lang="ko-KR" altLang="en-US" sz="1800" kern="1200" dirty="0" smtClean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현재 시간과 날짜 유지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전원 차단 시 배터리 백업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2730901"/>
                  </a:ext>
                </a:extLst>
              </a:tr>
              <a:tr h="64314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800" b="1" kern="1200" dirty="0" smtClean="0"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4×4 Keypad</a:t>
                      </a:r>
                      <a:endParaRPr lang="en-US" altLang="ko-KR" sz="1800" b="1" kern="1200" dirty="0">
                        <a:solidFill>
                          <a:schemeClr val="bg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계산기 숫자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연산자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1</a:t>
                      </a:r>
                      <a:endParaRPr lang="ko-KR" altLang="en-US" sz="1800" kern="1200" dirty="0" smtClean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0~9, +, -, *, /, =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483266"/>
                  </a:ext>
                </a:extLst>
              </a:tr>
              <a:tr h="64314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800" b="1" kern="1200" dirty="0" smtClean="0"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Push Button</a:t>
                      </a:r>
                      <a:endParaRPr lang="en-US" altLang="ko-KR" sz="1800" b="1" kern="1200" dirty="0">
                        <a:solidFill>
                          <a:schemeClr val="bg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모드 전환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괄호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취소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5</a:t>
                      </a:r>
                      <a:endParaRPr lang="ko-KR" altLang="en-US" sz="1800" kern="1200" dirty="0" smtClean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시계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설정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계산기 모드 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565652"/>
                  </a:ext>
                </a:extLst>
              </a:tr>
              <a:tr h="64314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800" b="1" kern="1200" dirty="0" smtClean="0"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32.768 kHz Crystal</a:t>
                      </a:r>
                      <a:endParaRPr lang="en-US" altLang="ko-KR" sz="1800" b="1" kern="1200" dirty="0">
                        <a:solidFill>
                          <a:schemeClr val="bg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RTC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기준 클럭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1</a:t>
                      </a:r>
                      <a:endParaRPr lang="ko-KR" altLang="en-US" sz="1800" kern="1200" dirty="0" smtClean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DS1307 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시간 기준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4736896"/>
                  </a:ext>
                </a:extLst>
              </a:tr>
              <a:tr h="643142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 smtClean="0"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Coin Battery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백업 전원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1</a:t>
                      </a:r>
                      <a:endParaRPr lang="ko-KR" altLang="en-US" sz="1800" kern="1200" dirty="0" smtClean="0">
                        <a:solidFill>
                          <a:schemeClr val="tx1"/>
                        </a:solidFill>
                        <a:effectLst/>
                        <a:latin typeface="HY견고딕" panose="02030600000101010101" pitchFamily="18" charset="-127"/>
                        <a:ea typeface="HY견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 VBAT</a:t>
                      </a:r>
                      <a:r>
                        <a:rPr lang="ko-KR" altLang="en-US" sz="1800" kern="1200" dirty="0" smtClean="0">
                          <a:solidFill>
                            <a:schemeClr val="tx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  <a:cs typeface="+mn-cs"/>
                        </a:rPr>
                        <a:t>에 연결하여 시간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73370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１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909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PART LIST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32000" y="10910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32000" y="6678309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85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78286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921133" y="3277039"/>
              <a:ext cx="186461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0" b="1" spc="-300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FSM</a:t>
              </a:r>
              <a:endParaRPr lang="ko-KR" altLang="en-US" sz="60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416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세부 기능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38870" y="12915746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723510" y="9005367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Arial Black" panose="020B0A04020102020204" pitchFamily="34" charset="0"/>
              </a:rPr>
              <a:t>Auto 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mode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133058" y="9005463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Forward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736507" y="7378461"/>
            <a:ext cx="1500138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5" name="직선 화살표 연결선 34"/>
          <p:cNvCxnSpPr>
            <a:stCxn id="28" idx="6"/>
            <a:endCxn id="32" idx="2"/>
          </p:cNvCxnSpPr>
          <p:nvPr/>
        </p:nvCxnSpPr>
        <p:spPr>
          <a:xfrm>
            <a:off x="4098887" y="9437367"/>
            <a:ext cx="1034171" cy="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2" idx="0"/>
            <a:endCxn id="34" idx="2"/>
          </p:cNvCxnSpPr>
          <p:nvPr/>
        </p:nvCxnSpPr>
        <p:spPr>
          <a:xfrm flipV="1">
            <a:off x="5820747" y="7810461"/>
            <a:ext cx="1915760" cy="1195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736507" y="11281428"/>
            <a:ext cx="1500138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Left</a:t>
            </a:r>
            <a:b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8" name="직선 화살표 연결선 37"/>
          <p:cNvCxnSpPr>
            <a:stCxn id="32" idx="4"/>
            <a:endCxn id="37" idx="2"/>
          </p:cNvCxnSpPr>
          <p:nvPr/>
        </p:nvCxnSpPr>
        <p:spPr>
          <a:xfrm>
            <a:off x="5820747" y="9869463"/>
            <a:ext cx="1915760" cy="1843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830222" y="8636160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Not 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9690674" y="7428609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Laft</a:t>
            </a:r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41722" y="7260536"/>
            <a:ext cx="2951611" cy="1529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Forward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Backward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 turn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Left 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669582" y="9327991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Front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0598732" y="9032826"/>
            <a:ext cx="1500138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 Left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compare</a:t>
            </a:r>
          </a:p>
        </p:txBody>
      </p:sp>
      <p:cxnSp>
        <p:nvCxnSpPr>
          <p:cNvPr id="44" name="직선 화살표 연결선 43"/>
          <p:cNvCxnSpPr>
            <a:stCxn id="32" idx="6"/>
            <a:endCxn id="43" idx="2"/>
          </p:cNvCxnSpPr>
          <p:nvPr/>
        </p:nvCxnSpPr>
        <p:spPr>
          <a:xfrm>
            <a:off x="6508435" y="9437463"/>
            <a:ext cx="4090297" cy="2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43" idx="0"/>
            <a:endCxn id="34" idx="6"/>
          </p:cNvCxnSpPr>
          <p:nvPr/>
        </p:nvCxnSpPr>
        <p:spPr>
          <a:xfrm flipH="1" flipV="1">
            <a:off x="9236645" y="7810461"/>
            <a:ext cx="2112156" cy="1222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43" idx="4"/>
            <a:endCxn id="37" idx="6"/>
          </p:cNvCxnSpPr>
          <p:nvPr/>
        </p:nvCxnSpPr>
        <p:spPr>
          <a:xfrm flipH="1">
            <a:off x="9236645" y="9896826"/>
            <a:ext cx="2112156" cy="1816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649630" y="7351529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Laft</a:t>
            </a:r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9907719" y="10524849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97412" y="8421953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Maunal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Mode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0" name="직선 화살표 연결선 49"/>
          <p:cNvCxnSpPr>
            <a:stCxn id="49" idx="6"/>
            <a:endCxn id="28" idx="0"/>
          </p:cNvCxnSpPr>
          <p:nvPr/>
        </p:nvCxnSpPr>
        <p:spPr>
          <a:xfrm>
            <a:off x="1672789" y="8853953"/>
            <a:ext cx="1738410" cy="151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원형 화살표 50"/>
          <p:cNvSpPr/>
          <p:nvPr/>
        </p:nvSpPr>
        <p:spPr>
          <a:xfrm rot="16946956">
            <a:off x="4400748" y="9473146"/>
            <a:ext cx="1292458" cy="1347065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4207801" y="9825741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Not close mid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distance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644519" y="10635430"/>
            <a:ext cx="1375377" cy="86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Arial Black" panose="020B0A04020102020204" pitchFamily="34" charset="0"/>
              </a:rPr>
              <a:t>Auto 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mode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Check</a:t>
            </a:r>
          </a:p>
        </p:txBody>
      </p:sp>
      <p:cxnSp>
        <p:nvCxnSpPr>
          <p:cNvPr id="54" name="직선 화살표 연결선 53"/>
          <p:cNvCxnSpPr>
            <a:stCxn id="28" idx="4"/>
            <a:endCxn id="53" idx="0"/>
          </p:cNvCxnSpPr>
          <p:nvPr/>
        </p:nvCxnSpPr>
        <p:spPr>
          <a:xfrm flipH="1">
            <a:off x="2332208" y="9869367"/>
            <a:ext cx="1078991" cy="766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원형 화살표 54"/>
          <p:cNvSpPr/>
          <p:nvPr/>
        </p:nvSpPr>
        <p:spPr>
          <a:xfrm rot="16487565">
            <a:off x="1211140" y="10721138"/>
            <a:ext cx="1219947" cy="2548662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331875" y="9119666"/>
            <a:ext cx="1252621" cy="91586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77500" lnSpcReduction="20000"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Bluetooth,</a:t>
            </a:r>
          </a:p>
          <a:p>
            <a:pPr algn="ctr"/>
            <a:r>
              <a:rPr lang="en-US" altLang="ko-KR" sz="16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Botton</a:t>
            </a:r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Control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7" name="직선 화살표 연결선 56"/>
          <p:cNvCxnSpPr>
            <a:stCxn id="53" idx="2"/>
            <a:endCxn id="49" idx="4"/>
          </p:cNvCxnSpPr>
          <p:nvPr/>
        </p:nvCxnSpPr>
        <p:spPr>
          <a:xfrm flipH="1" flipV="1">
            <a:off x="985101" y="9285953"/>
            <a:ext cx="659418" cy="1781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687775" y="10733655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Right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approach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9" name="원형 화살표 58"/>
          <p:cNvSpPr/>
          <p:nvPr/>
        </p:nvSpPr>
        <p:spPr>
          <a:xfrm rot="6341601">
            <a:off x="1155068" y="6962271"/>
            <a:ext cx="1511203" cy="2084161"/>
          </a:xfrm>
          <a:prstGeom prst="circularArrow">
            <a:avLst>
              <a:gd name="adj1" fmla="val 0"/>
              <a:gd name="adj2" fmla="val 1062085"/>
              <a:gd name="adj3" fmla="val 20086656"/>
              <a:gd name="adj4" fmla="val 2823885"/>
              <a:gd name="adj5" fmla="val 52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285932" y="11166856"/>
            <a:ext cx="2951611" cy="1529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Running Time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Try Left turn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Try Right turn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6459986" y="2031199"/>
            <a:ext cx="2561817" cy="17653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Complex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Calculator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028797" y="1993891"/>
            <a:ext cx="2561817" cy="17653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RTC CLOCK</a:t>
            </a:r>
          </a:p>
        </p:txBody>
      </p:sp>
      <p:sp>
        <p:nvSpPr>
          <p:cNvPr id="63" name="원형 화살표 62"/>
          <p:cNvSpPr/>
          <p:nvPr/>
        </p:nvSpPr>
        <p:spPr>
          <a:xfrm rot="9198358">
            <a:off x="8703234" y="1214421"/>
            <a:ext cx="2546545" cy="2494831"/>
          </a:xfrm>
          <a:prstGeom prst="circularArrow">
            <a:avLst>
              <a:gd name="adj1" fmla="val 0"/>
              <a:gd name="adj2" fmla="val 646700"/>
              <a:gd name="adj3" fmla="val 20086656"/>
              <a:gd name="adj4" fmla="val 2823885"/>
              <a:gd name="adj5" fmla="val 38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8416667" y="1751890"/>
            <a:ext cx="3217153" cy="1529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BTN0 Reset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BTN1 Back Space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BTN2 (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BTN3 )</a:t>
            </a:r>
          </a:p>
        </p:txBody>
      </p:sp>
      <p:sp>
        <p:nvSpPr>
          <p:cNvPr id="65" name="원형 화살표 64"/>
          <p:cNvSpPr/>
          <p:nvPr/>
        </p:nvSpPr>
        <p:spPr>
          <a:xfrm rot="13244269">
            <a:off x="7788981" y="3476314"/>
            <a:ext cx="2411637" cy="2477646"/>
          </a:xfrm>
          <a:prstGeom prst="circularArrow">
            <a:avLst>
              <a:gd name="adj1" fmla="val 0"/>
              <a:gd name="adj2" fmla="val 940101"/>
              <a:gd name="adj3" fmla="val 20086656"/>
              <a:gd name="adj4" fmla="val 2823885"/>
              <a:gd name="adj5" fmla="val 346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898168" y="3744283"/>
            <a:ext cx="1923170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Arial Black" panose="020B0A04020102020204" pitchFamily="34" charset="0"/>
              </a:rPr>
              <a:t>KEY PAD Input</a:t>
            </a:r>
          </a:p>
          <a:p>
            <a:pPr algn="ctr"/>
            <a:endParaRPr lang="en-US" altLang="ko-KR" sz="16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7898168" y="4110377"/>
            <a:ext cx="2045554" cy="16508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/   3   2   1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6   5   4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-   9   8   7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+   =   0   ‘ ‘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1577716" y="4289256"/>
            <a:ext cx="2110268" cy="105111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SET 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Date &amp;Time</a:t>
            </a:r>
          </a:p>
        </p:txBody>
      </p:sp>
      <p:sp>
        <p:nvSpPr>
          <p:cNvPr id="71" name="원형 화살표 70"/>
          <p:cNvSpPr/>
          <p:nvPr/>
        </p:nvSpPr>
        <p:spPr>
          <a:xfrm rot="2696137">
            <a:off x="644158" y="2606113"/>
            <a:ext cx="2061616" cy="1987990"/>
          </a:xfrm>
          <a:prstGeom prst="circularArrow">
            <a:avLst>
              <a:gd name="adj1" fmla="val 0"/>
              <a:gd name="adj2" fmla="val 940101"/>
              <a:gd name="adj3" fmla="val 20086656"/>
              <a:gd name="adj4" fmla="val 2823885"/>
              <a:gd name="adj5" fmla="val 389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72" name="직선 화살표 연결선 71"/>
          <p:cNvCxnSpPr/>
          <p:nvPr/>
        </p:nvCxnSpPr>
        <p:spPr>
          <a:xfrm>
            <a:off x="5508215" y="2456970"/>
            <a:ext cx="1034171" cy="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flipH="1">
            <a:off x="5472521" y="3387724"/>
            <a:ext cx="103580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타원 73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5196237" y="1730247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BTN4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4663829" y="3336148"/>
            <a:ext cx="2765492" cy="198356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BTN4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OR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If button is not pressed for more than 1 minute</a:t>
            </a:r>
          </a:p>
          <a:p>
            <a:pPr algn="ctr"/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 flipV="1">
            <a:off x="2844621" y="3557604"/>
            <a:ext cx="454313" cy="63413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flipH="1">
            <a:off x="3226894" y="3757830"/>
            <a:ext cx="395101" cy="5853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 rot="18263817">
            <a:off x="2419069" y="3548315"/>
            <a:ext cx="1658127" cy="80379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BTN3</a:t>
            </a:r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F8D2C43B-0916-A66C-7CD0-625FED5C26E9}"/>
              </a:ext>
            </a:extLst>
          </p:cNvPr>
          <p:cNvSpPr>
            <a:spLocks/>
          </p:cNvSpPr>
          <p:nvPr/>
        </p:nvSpPr>
        <p:spPr>
          <a:xfrm>
            <a:off x="368607" y="2876554"/>
            <a:ext cx="2630356" cy="179105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BTN0 Down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BTN1 Up</a:t>
            </a: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BTN2 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Arial Black" panose="020B0A04020102020204" pitchFamily="34" charset="0"/>
              </a:rPr>
              <a:t>D</a:t>
            </a:r>
            <a:r>
              <a:rPr lang="en-US" altLang="ko-KR" sz="16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ate or  Time select</a:t>
            </a:r>
          </a:p>
          <a:p>
            <a:pPr algn="ctr"/>
            <a:endParaRPr lang="ko-KR" altLang="en-US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37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도면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548" y="7138382"/>
            <a:ext cx="6986156" cy="631709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3" t="9509"/>
          <a:stretch/>
        </p:blipFill>
        <p:spPr>
          <a:xfrm>
            <a:off x="1825439" y="1123791"/>
            <a:ext cx="8292905" cy="510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6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세부 기능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0A2222-1861-0C93-F3FF-B480F0A8C532}"/>
              </a:ext>
            </a:extLst>
          </p:cNvPr>
          <p:cNvSpPr/>
          <p:nvPr/>
        </p:nvSpPr>
        <p:spPr>
          <a:xfrm>
            <a:off x="907547" y="1506285"/>
            <a:ext cx="2818633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6559F-3837-B749-A77F-EE960F0146CE}"/>
              </a:ext>
            </a:extLst>
          </p:cNvPr>
          <p:cNvSpPr/>
          <p:nvPr/>
        </p:nvSpPr>
        <p:spPr>
          <a:xfrm>
            <a:off x="907547" y="1506283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LCD 1602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4275037" y="1506285"/>
            <a:ext cx="3464885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70CC38-9B93-3086-7155-DB6D495644D4}"/>
              </a:ext>
            </a:extLst>
          </p:cNvPr>
          <p:cNvSpPr/>
          <p:nvPr/>
        </p:nvSpPr>
        <p:spPr>
          <a:xfrm>
            <a:off x="896930" y="4047758"/>
            <a:ext cx="2829250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4281019" y="1506283"/>
            <a:ext cx="3452923" cy="6848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Arial Black" panose="020B0A04020102020204" pitchFamily="34" charset="0"/>
              </a:rPr>
              <a:t>BUTTON</a:t>
            </a:r>
            <a:endParaRPr lang="ko-KR" altLang="en-US" dirty="0">
              <a:latin typeface="Arial Black" panose="020B0A040201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1A3D78-ED92-F94F-B0D0-BC15DEBDC75A}"/>
              </a:ext>
            </a:extLst>
          </p:cNvPr>
          <p:cNvSpPr/>
          <p:nvPr/>
        </p:nvSpPr>
        <p:spPr>
          <a:xfrm>
            <a:off x="907547" y="4016470"/>
            <a:ext cx="281863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CALCULATOR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E2E9DD-A907-410C-F125-ADC1C9942C5F}"/>
              </a:ext>
            </a:extLst>
          </p:cNvPr>
          <p:cNvSpPr txBox="1"/>
          <p:nvPr/>
        </p:nvSpPr>
        <p:spPr>
          <a:xfrm>
            <a:off x="1002465" y="2235059"/>
            <a:ext cx="2704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LCD </a:t>
            </a:r>
            <a:r>
              <a:rPr lang="ko-KR" altLang="en-US" sz="1400" dirty="0"/>
              <a:t>초기화</a:t>
            </a:r>
            <a:r>
              <a:rPr lang="en-US" altLang="ko-KR" sz="1400" dirty="0"/>
              <a:t>(4-bit Mode)</a:t>
            </a:r>
          </a:p>
          <a:p>
            <a:r>
              <a:rPr lang="ko-KR" altLang="en-US" sz="1400" dirty="0"/>
              <a:t>현재 시간 및 날짜 출력</a:t>
            </a:r>
          </a:p>
          <a:p>
            <a:r>
              <a:rPr lang="ko-KR" altLang="en-US" sz="1400" dirty="0"/>
              <a:t>계산식 및 결과 표시</a:t>
            </a:r>
          </a:p>
          <a:p>
            <a:r>
              <a:rPr lang="ko-KR" altLang="en-US" sz="1400" dirty="0"/>
              <a:t>사용자 정의 문자 출력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1072314" y="4732214"/>
            <a:ext cx="27557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중위표기식</a:t>
            </a:r>
            <a:r>
              <a:rPr lang="ko-KR" altLang="en-US" sz="1400" dirty="0"/>
              <a:t> 입력</a:t>
            </a:r>
          </a:p>
          <a:p>
            <a:r>
              <a:rPr lang="ko-KR" altLang="en-US" sz="1400" dirty="0" err="1"/>
              <a:t>후위표기식</a:t>
            </a:r>
            <a:r>
              <a:rPr lang="ko-KR" altLang="en-US" sz="1400" dirty="0"/>
              <a:t> 변환</a:t>
            </a:r>
          </a:p>
          <a:p>
            <a:r>
              <a:rPr lang="en-US" altLang="ko-KR" sz="1400" dirty="0"/>
              <a:t>Stack </a:t>
            </a:r>
            <a:r>
              <a:rPr lang="ko-KR" altLang="en-US" sz="1400" dirty="0"/>
              <a:t>기반 계산</a:t>
            </a:r>
          </a:p>
          <a:p>
            <a:r>
              <a:rPr lang="ko-KR" altLang="en-US" sz="1400" dirty="0"/>
              <a:t>결과 출력 및 오류 처리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C8C25A-844B-8FFA-1272-6223DD0085C9}"/>
              </a:ext>
            </a:extLst>
          </p:cNvPr>
          <p:cNvSpPr/>
          <p:nvPr/>
        </p:nvSpPr>
        <p:spPr>
          <a:xfrm>
            <a:off x="4218279" y="3998444"/>
            <a:ext cx="3466383" cy="2007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681D37-D302-8C28-4973-B7F299E24EAC}"/>
              </a:ext>
            </a:extLst>
          </p:cNvPr>
          <p:cNvSpPr/>
          <p:nvPr/>
        </p:nvSpPr>
        <p:spPr>
          <a:xfrm>
            <a:off x="4230241" y="4005990"/>
            <a:ext cx="3452924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4 X 4 KEYPAD</a:t>
            </a:r>
            <a:endParaRPr lang="en-US" altLang="ko-KR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7F5C0-7DEE-E4FF-F4EC-87DA8045BD02}"/>
              </a:ext>
            </a:extLst>
          </p:cNvPr>
          <p:cNvSpPr txBox="1"/>
          <p:nvPr/>
        </p:nvSpPr>
        <p:spPr>
          <a:xfrm>
            <a:off x="4379495" y="4740212"/>
            <a:ext cx="29604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숫자 입력</a:t>
            </a:r>
          </a:p>
          <a:p>
            <a:r>
              <a:rPr lang="ko-KR" altLang="en-US" sz="1400" dirty="0"/>
              <a:t>연산자 입력</a:t>
            </a:r>
          </a:p>
          <a:p>
            <a:r>
              <a:rPr lang="ko-KR" altLang="en-US" sz="1400" dirty="0"/>
              <a:t>괄호 입력</a:t>
            </a:r>
          </a:p>
          <a:p>
            <a:r>
              <a:rPr lang="ko-KR" altLang="en-US" sz="1400" dirty="0"/>
              <a:t>계산 실행</a:t>
            </a:r>
            <a:r>
              <a:rPr lang="en-US" altLang="ko-KR" sz="1400" dirty="0"/>
              <a:t>(=)</a:t>
            </a:r>
            <a:endParaRPr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4453383" y="2269134"/>
            <a:ext cx="2848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Clock / Setting Mode </a:t>
            </a:r>
            <a:r>
              <a:rPr lang="ko-KR" altLang="en-US" sz="1400" dirty="0"/>
              <a:t>전환</a:t>
            </a:r>
          </a:p>
          <a:p>
            <a:r>
              <a:rPr lang="ko-KR" altLang="en-US" sz="1400" dirty="0"/>
              <a:t>시간 설정 항목 선택</a:t>
            </a:r>
          </a:p>
          <a:p>
            <a:r>
              <a:rPr lang="ko-KR" altLang="en-US" sz="1400" dirty="0"/>
              <a:t>설정 값 증가</a:t>
            </a:r>
          </a:p>
          <a:p>
            <a:r>
              <a:rPr lang="ko-KR" altLang="en-US" sz="1400" dirty="0"/>
              <a:t>계산기 </a:t>
            </a:r>
            <a:r>
              <a:rPr lang="ko-KR" altLang="en-US" sz="1400" dirty="0" smtClean="0"/>
              <a:t>기능 </a:t>
            </a:r>
            <a:r>
              <a:rPr lang="ko-KR" altLang="en-US" sz="1400" dirty="0"/>
              <a:t>버튼 입력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1506284"/>
            <a:ext cx="2755879" cy="1933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1506283"/>
            <a:ext cx="2755879" cy="6848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DS1307 RTC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521520" y="2250760"/>
            <a:ext cx="2232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실시간 날짜</a:t>
            </a:r>
            <a:r>
              <a:rPr lang="en-US" altLang="ko-KR" sz="1400" dirty="0"/>
              <a:t>/</a:t>
            </a:r>
            <a:r>
              <a:rPr lang="ko-KR" altLang="en-US" sz="1400" dirty="0"/>
              <a:t>시간 저장</a:t>
            </a:r>
          </a:p>
          <a:p>
            <a:r>
              <a:rPr lang="en-US" altLang="ko-KR" sz="1400" dirty="0" smtClean="0"/>
              <a:t>I2C </a:t>
            </a:r>
            <a:r>
              <a:rPr lang="ko-KR" altLang="en-US" sz="1400" dirty="0"/>
              <a:t>기반 시간 읽기</a:t>
            </a:r>
            <a:r>
              <a:rPr lang="en-US" altLang="ko-KR" sz="1400" dirty="0"/>
              <a:t>/</a:t>
            </a:r>
            <a:r>
              <a:rPr lang="ko-KR" altLang="en-US" sz="1400" dirty="0"/>
              <a:t>쓰기</a:t>
            </a:r>
          </a:p>
          <a:p>
            <a:r>
              <a:rPr lang="ko-KR" altLang="en-US" sz="1400" dirty="0"/>
              <a:t>배터리 백업 시간 유지</a:t>
            </a:r>
          </a:p>
          <a:p>
            <a:r>
              <a:rPr lang="en-US" altLang="ko-KR" sz="1400" dirty="0"/>
              <a:t>BCD </a:t>
            </a:r>
            <a:r>
              <a:rPr lang="ko-KR" altLang="en-US" sz="1400" dirty="0"/>
              <a:t>데이터 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8376940" y="3979459"/>
            <a:ext cx="2755879" cy="19337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8376940" y="4012236"/>
            <a:ext cx="2755880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I2C</a:t>
            </a:r>
            <a:endParaRPr lang="ko-KR" altLang="en-US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8462144" y="4741476"/>
            <a:ext cx="261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START / STOP </a:t>
            </a:r>
            <a:r>
              <a:rPr lang="ko-KR" altLang="en-US" sz="1400" dirty="0"/>
              <a:t>생성</a:t>
            </a:r>
          </a:p>
          <a:p>
            <a:r>
              <a:rPr lang="en-US" altLang="ko-KR" sz="1400" dirty="0"/>
              <a:t>Slave Address </a:t>
            </a:r>
            <a:r>
              <a:rPr lang="ko-KR" altLang="en-US" sz="1400" dirty="0"/>
              <a:t>전송</a:t>
            </a:r>
          </a:p>
          <a:p>
            <a:r>
              <a:rPr lang="en-US" altLang="ko-KR" sz="1400" dirty="0"/>
              <a:t>RTC Register </a:t>
            </a:r>
            <a:r>
              <a:rPr lang="ko-KR" altLang="en-US" sz="1400" dirty="0"/>
              <a:t>접근</a:t>
            </a:r>
          </a:p>
          <a:p>
            <a:r>
              <a:rPr lang="en-US" altLang="ko-KR" sz="1400" dirty="0"/>
              <a:t>ACK / NACK </a:t>
            </a:r>
            <a:r>
              <a:rPr lang="ko-KR" altLang="en-US" sz="1400" dirty="0"/>
              <a:t>처리</a:t>
            </a:r>
          </a:p>
        </p:txBody>
      </p:sp>
    </p:spTree>
    <p:extLst>
      <p:ext uri="{BB962C8B-B14F-4D97-AF65-F5344CB8AC3E}">
        <p14:creationId xmlns:p14="http://schemas.microsoft.com/office/powerpoint/2010/main" val="150566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664238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88224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Ｓ／Ｗ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19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3687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LCD Driver – pin </a:t>
            </a:r>
            <a:r>
              <a:rPr lang="ko-KR" altLang="en-US" sz="2800" b="1" dirty="0" smtClean="0">
                <a:solidFill>
                  <a:schemeClr val="accent1"/>
                </a:solidFill>
              </a:rPr>
              <a:t>기능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32" y="901267"/>
            <a:ext cx="5601648" cy="5630120"/>
          </a:xfrm>
          <a:prstGeom prst="rect">
            <a:avLst/>
          </a:prstGeom>
        </p:spPr>
      </p:pic>
      <p:sp>
        <p:nvSpPr>
          <p:cNvPr id="6" name="오른쪽 대괄호 5"/>
          <p:cNvSpPr/>
          <p:nvPr/>
        </p:nvSpPr>
        <p:spPr>
          <a:xfrm>
            <a:off x="6116480" y="1995584"/>
            <a:ext cx="558907" cy="813936"/>
          </a:xfrm>
          <a:prstGeom prst="righ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6791183" y="1648888"/>
            <a:ext cx="4999079" cy="118099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tx1"/>
                </a:solidFill>
              </a:rPr>
              <a:t>전원 공급 및 대비 제어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(PIN 1~3)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VSS: </a:t>
            </a:r>
            <a:r>
              <a:rPr lang="ko-KR" altLang="en-US" sz="1400" dirty="0" smtClean="0">
                <a:solidFill>
                  <a:schemeClr val="tx1"/>
                </a:solidFill>
              </a:rPr>
              <a:t>시스템 그라운드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VCC: </a:t>
            </a:r>
            <a:r>
              <a:rPr lang="ko-KR" altLang="en-US" sz="1400" dirty="0" smtClean="0">
                <a:solidFill>
                  <a:schemeClr val="tx1"/>
                </a:solidFill>
              </a:rPr>
              <a:t>전원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VEE: </a:t>
            </a:r>
            <a:r>
              <a:rPr lang="ko-KR" altLang="en-US" sz="1400" dirty="0" smtClean="0">
                <a:solidFill>
                  <a:schemeClr val="tx1"/>
                </a:solidFill>
              </a:rPr>
              <a:t>글자 선명도 조절 핀 </a:t>
            </a:r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가변저항</a:t>
            </a:r>
            <a:r>
              <a:rPr lang="ko-KR" altLang="en-US" sz="1400" dirty="0" smtClean="0">
                <a:solidFill>
                  <a:schemeClr val="tx1"/>
                </a:solidFill>
              </a:rPr>
              <a:t> 연결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8" name="오른쪽 대괄호 57"/>
          <p:cNvSpPr/>
          <p:nvPr/>
        </p:nvSpPr>
        <p:spPr>
          <a:xfrm>
            <a:off x="6127857" y="3076919"/>
            <a:ext cx="558907" cy="728264"/>
          </a:xfrm>
          <a:prstGeom prst="righ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6767577" y="2928572"/>
            <a:ext cx="4999079" cy="118099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tx1"/>
                </a:solidFill>
              </a:rPr>
              <a:t>제어 신호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(PIN 4~6)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RS: </a:t>
            </a:r>
            <a:r>
              <a:rPr lang="ko-KR" altLang="en-US" sz="1400" dirty="0" smtClean="0">
                <a:solidFill>
                  <a:schemeClr val="tx1"/>
                </a:solidFill>
              </a:rPr>
              <a:t>레지스터 선택 </a:t>
            </a:r>
            <a:r>
              <a:rPr lang="en-US" altLang="ko-KR" sz="1400" dirty="0" smtClean="0">
                <a:solidFill>
                  <a:schemeClr val="tx1"/>
                </a:solidFill>
              </a:rPr>
              <a:t>(0: </a:t>
            </a:r>
            <a:r>
              <a:rPr lang="ko-KR" altLang="en-US" sz="1400" dirty="0" smtClean="0">
                <a:solidFill>
                  <a:schemeClr val="tx1"/>
                </a:solidFill>
              </a:rPr>
              <a:t>명령어 입력 </a:t>
            </a:r>
            <a:r>
              <a:rPr lang="en-US" altLang="ko-KR" sz="1400" dirty="0" smtClean="0">
                <a:solidFill>
                  <a:schemeClr val="tx1"/>
                </a:solidFill>
              </a:rPr>
              <a:t>/ 1: </a:t>
            </a:r>
            <a:r>
              <a:rPr lang="ko-KR" altLang="en-US" sz="1400" dirty="0" smtClean="0">
                <a:solidFill>
                  <a:schemeClr val="tx1"/>
                </a:solidFill>
              </a:rPr>
              <a:t>데이터 글자 입력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R/W:: </a:t>
            </a:r>
            <a:r>
              <a:rPr lang="ko-KR" altLang="en-US" sz="1400" dirty="0" smtClean="0">
                <a:solidFill>
                  <a:schemeClr val="tx1"/>
                </a:solidFill>
              </a:rPr>
              <a:t>읽기</a:t>
            </a:r>
            <a:r>
              <a:rPr lang="en-US" altLang="ko-KR" sz="1400" dirty="0" smtClean="0">
                <a:solidFill>
                  <a:schemeClr val="tx1"/>
                </a:solidFill>
              </a:rPr>
              <a:t>/ </a:t>
            </a:r>
            <a:r>
              <a:rPr lang="ko-KR" altLang="en-US" sz="1400" dirty="0" smtClean="0">
                <a:solidFill>
                  <a:schemeClr val="tx1"/>
                </a:solidFill>
              </a:rPr>
              <a:t>쓰기 선택 </a:t>
            </a:r>
            <a:r>
              <a:rPr lang="en-US" altLang="ko-KR" sz="1400" dirty="0" smtClean="0">
                <a:solidFill>
                  <a:schemeClr val="tx1"/>
                </a:solidFill>
              </a:rPr>
              <a:t>(0: </a:t>
            </a:r>
            <a:r>
              <a:rPr lang="ko-KR" altLang="en-US" sz="1400" dirty="0" smtClean="0">
                <a:solidFill>
                  <a:schemeClr val="tx1"/>
                </a:solidFill>
              </a:rPr>
              <a:t>쓰기 </a:t>
            </a:r>
            <a:r>
              <a:rPr lang="en-US" altLang="ko-KR" sz="1400" dirty="0" smtClean="0">
                <a:solidFill>
                  <a:schemeClr val="tx1"/>
                </a:solidFill>
              </a:rPr>
              <a:t>1: </a:t>
            </a:r>
            <a:r>
              <a:rPr lang="ko-KR" altLang="en-US" sz="1400" dirty="0" smtClean="0">
                <a:solidFill>
                  <a:schemeClr val="tx1"/>
                </a:solidFill>
              </a:rPr>
              <a:t>읽기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E: </a:t>
            </a:r>
            <a:r>
              <a:rPr lang="ko-KR" altLang="en-US" sz="1400" dirty="0" smtClean="0">
                <a:solidFill>
                  <a:schemeClr val="tx1"/>
                </a:solidFill>
              </a:rPr>
              <a:t>활성화 신호 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60" name="오른쪽 대괄호 59"/>
          <p:cNvSpPr/>
          <p:nvPr/>
        </p:nvSpPr>
        <p:spPr>
          <a:xfrm>
            <a:off x="6127857" y="4138813"/>
            <a:ext cx="558907" cy="1551125"/>
          </a:xfrm>
          <a:prstGeom prst="righ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6767578" y="4229030"/>
            <a:ext cx="4999079" cy="118099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tx1"/>
                </a:solidFill>
              </a:rPr>
              <a:t>데이터 버스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(PIN 7~14) 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DB0 ~ DB7 : 8</a:t>
            </a:r>
            <a:r>
              <a:rPr lang="ko-KR" altLang="en-US" sz="1400" dirty="0" smtClean="0">
                <a:solidFill>
                  <a:schemeClr val="tx1"/>
                </a:solidFill>
              </a:rPr>
              <a:t>비트 데이터 입출력 핀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프로젝트에선 상위 </a:t>
            </a:r>
            <a:r>
              <a:rPr lang="en-US" altLang="ko-KR" sz="1400" dirty="0" smtClean="0">
                <a:solidFill>
                  <a:schemeClr val="tx1"/>
                </a:solidFill>
              </a:rPr>
              <a:t>4</a:t>
            </a:r>
            <a:r>
              <a:rPr lang="ko-KR" altLang="en-US" sz="1400" dirty="0" smtClean="0">
                <a:solidFill>
                  <a:schemeClr val="tx1"/>
                </a:solidFill>
              </a:rPr>
              <a:t>개핀</a:t>
            </a:r>
            <a:r>
              <a:rPr lang="en-US" altLang="ko-KR" sz="1400" dirty="0" smtClean="0">
                <a:solidFill>
                  <a:schemeClr val="tx1"/>
                </a:solidFill>
              </a:rPr>
              <a:t>(DB4~DB7)</a:t>
            </a:r>
            <a:r>
              <a:rPr lang="ko-KR" altLang="en-US" sz="1400" dirty="0" smtClean="0">
                <a:solidFill>
                  <a:schemeClr val="tx1"/>
                </a:solidFill>
              </a:rPr>
              <a:t>만 사용</a:t>
            </a:r>
            <a:r>
              <a:rPr lang="en-US" altLang="ko-KR" sz="1400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4" name="오른쪽 대괄호 63"/>
          <p:cNvSpPr/>
          <p:nvPr/>
        </p:nvSpPr>
        <p:spPr>
          <a:xfrm>
            <a:off x="6116480" y="5889776"/>
            <a:ext cx="558907" cy="487480"/>
          </a:xfrm>
          <a:prstGeom prst="righ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6767578" y="5484172"/>
            <a:ext cx="4999079" cy="118099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</a:rPr>
              <a:t>LED </a:t>
            </a:r>
            <a:r>
              <a:rPr lang="ko-KR" altLang="en-US" sz="1400" b="1" dirty="0" err="1" smtClean="0">
                <a:solidFill>
                  <a:schemeClr val="tx1"/>
                </a:solidFill>
              </a:rPr>
              <a:t>백라이트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 전원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(PIN 15 ~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16) 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A/K : </a:t>
            </a:r>
            <a:r>
              <a:rPr lang="ko-KR" altLang="en-US" sz="1400" dirty="0" smtClean="0">
                <a:solidFill>
                  <a:schemeClr val="tx1"/>
                </a:solidFill>
              </a:rPr>
              <a:t>어두운 곳에서도 화면이 보이도록 켜주는 전원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A: 5V, K: 0V</a:t>
            </a:r>
          </a:p>
        </p:txBody>
      </p:sp>
    </p:spTree>
    <p:extLst>
      <p:ext uri="{BB962C8B-B14F-4D97-AF65-F5344CB8AC3E}">
        <p14:creationId xmlns:p14="http://schemas.microsoft.com/office/powerpoint/2010/main" val="338159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13"/>
          <p:cNvSpPr/>
          <p:nvPr/>
        </p:nvSpPr>
        <p:spPr>
          <a:xfrm>
            <a:off x="4841748" y="9577919"/>
            <a:ext cx="2153032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13"/>
          <p:cNvSpPr/>
          <p:nvPr/>
        </p:nvSpPr>
        <p:spPr>
          <a:xfrm>
            <a:off x="2618935" y="9577901"/>
            <a:ext cx="2103507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3"/>
          <p:cNvSpPr/>
          <p:nvPr/>
        </p:nvSpPr>
        <p:spPr>
          <a:xfrm>
            <a:off x="440971" y="9584251"/>
            <a:ext cx="2082714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3464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LCD Driver - </a:t>
            </a:r>
            <a:r>
              <a:rPr lang="ko-KR" altLang="en-US" sz="2800" b="1" dirty="0" smtClean="0">
                <a:solidFill>
                  <a:schemeClr val="accent1"/>
                </a:solidFill>
              </a:rPr>
              <a:t>초기화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표 7">
            <a:extLst>
              <a:ext uri="{FF2B5EF4-FFF2-40B4-BE49-F238E27FC236}">
                <a16:creationId xmlns:a16="http://schemas.microsoft.com/office/drawing/2014/main" id="{EE901189-A3F0-994A-EDA1-98BFBC2BB17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56513" y="7019231"/>
          <a:ext cx="1056856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219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686686885"/>
                    </a:ext>
                  </a:extLst>
                </a:gridCol>
              </a:tblGrid>
              <a:tr h="2549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구분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PAM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PWM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제어 방식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진폭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(Voltage)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펄스 폭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(Time)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주파수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평균 전력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전압 크기로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Duty rate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로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MCU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구현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DAC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필요</a:t>
                      </a:r>
                      <a:r>
                        <a:rPr lang="ko-KR" altLang="en-US" sz="1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１）</a:t>
                      </a:r>
                      <a:endParaRPr lang="ko-KR" altLang="en-US" sz="1000" spc="-1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Timer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만으로 가능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42245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모터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비효율적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매우 효율적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3775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439610" y="9214919"/>
            <a:ext cx="18738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PWM </a:t>
            </a:r>
            <a:r>
              <a:rPr lang="ko-KR" altLang="en-US" b="1" dirty="0"/>
              <a:t>동작 원리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39610" y="9729391"/>
            <a:ext cx="33772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50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■■□□□□□□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04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2612207" y="9732115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29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en-US" altLang="ko-KR" b="1" dirty="0" smtClean="0">
                <a:latin typeface="Arial" panose="020B0604020202020204" pitchFamily="34" charset="0"/>
              </a:rPr>
              <a:t>/ 300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29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45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4835626" y="9729390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700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■■■■■■□□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68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3.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40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9236053" y="9441656"/>
            <a:ext cx="27578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프로젝트 적용</a:t>
            </a:r>
            <a:endParaRPr kumimoji="0" lang="en-US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/>
              <a:t>Timer1 </a:t>
            </a:r>
            <a:r>
              <a:rPr lang="ko-KR" altLang="ko-KR" dirty="0" err="1"/>
              <a:t>Fast</a:t>
            </a:r>
            <a:r>
              <a:rPr lang="ko-KR" altLang="ko-KR" dirty="0"/>
              <a:t> PWM 사용 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OCR1A, </a:t>
            </a:r>
            <a:r>
              <a:rPr lang="ko-KR" altLang="ko-KR" dirty="0" smtClean="0">
                <a:latin typeface="Arial" panose="020B0604020202020204" pitchFamily="34" charset="0"/>
              </a:rPr>
              <a:t>OCR1B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모터 속도 제어 </a:t>
            </a:r>
            <a:r>
              <a:rPr lang="ko-KR" altLang="ko-KR" dirty="0" smtClean="0">
                <a:latin typeface="Arial" panose="020B0604020202020204" pitchFamily="34" charset="0"/>
              </a:rPr>
              <a:t>구현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ICR1 = 0x3FF;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/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1023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/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OCR1A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en-US" altLang="ko-KR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OCR1B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494137" y="12581922"/>
            <a:ext cx="22317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１）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Digital </a:t>
            </a:r>
            <a:r>
              <a:rPr lang="en-US" altLang="ko-KR" sz="1400" spc="-150" dirty="0">
                <a:latin typeface="돋움" panose="020B0600000101010101" pitchFamily="50" charset="-127"/>
                <a:ea typeface="돋움" panose="020B0600000101010101" pitchFamily="50" charset="-127"/>
              </a:rPr>
              <a:t>to Analog 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Converter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Rounded Rectangle 13"/>
          <p:cNvSpPr/>
          <p:nvPr/>
        </p:nvSpPr>
        <p:spPr>
          <a:xfrm>
            <a:off x="7114086" y="9578377"/>
            <a:ext cx="2153032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7107964" y="9729848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999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■■■■■■□□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97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8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39610" y="11069730"/>
            <a:ext cx="2084075" cy="179805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645787" y="11069730"/>
            <a:ext cx="2084075" cy="179805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885214" y="11064146"/>
            <a:ext cx="2084075" cy="179805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7150132" y="11064146"/>
            <a:ext cx="2084075" cy="179805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아래쪽 화살표 37"/>
          <p:cNvSpPr/>
          <p:nvPr/>
        </p:nvSpPr>
        <p:spPr>
          <a:xfrm rot="18209198">
            <a:off x="1720816" y="10712143"/>
            <a:ext cx="113783" cy="1006505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아래쪽 화살표 38"/>
          <p:cNvSpPr/>
          <p:nvPr/>
        </p:nvSpPr>
        <p:spPr>
          <a:xfrm rot="18397873">
            <a:off x="4001051" y="10808504"/>
            <a:ext cx="113783" cy="827442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아래쪽 화살표 39"/>
          <p:cNvSpPr/>
          <p:nvPr/>
        </p:nvSpPr>
        <p:spPr>
          <a:xfrm rot="18900023">
            <a:off x="5883130" y="10826712"/>
            <a:ext cx="113783" cy="672340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 rot="19084357">
            <a:off x="8259538" y="10824291"/>
            <a:ext cx="113783" cy="643106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원호 24"/>
          <p:cNvSpPr/>
          <p:nvPr/>
        </p:nvSpPr>
        <p:spPr>
          <a:xfrm>
            <a:off x="8147879" y="11527444"/>
            <a:ext cx="911225" cy="220745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원호 45"/>
          <p:cNvSpPr/>
          <p:nvPr/>
        </p:nvSpPr>
        <p:spPr>
          <a:xfrm>
            <a:off x="6116480" y="11447006"/>
            <a:ext cx="616805" cy="285736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원호 46"/>
          <p:cNvSpPr/>
          <p:nvPr/>
        </p:nvSpPr>
        <p:spPr>
          <a:xfrm>
            <a:off x="4320612" y="11527444"/>
            <a:ext cx="206568" cy="224591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원호 48"/>
          <p:cNvSpPr/>
          <p:nvPr/>
        </p:nvSpPr>
        <p:spPr>
          <a:xfrm>
            <a:off x="2335633" y="11555348"/>
            <a:ext cx="45719" cy="103807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" b="-1"/>
          <a:stretch/>
        </p:blipFill>
        <p:spPr>
          <a:xfrm>
            <a:off x="249808" y="908229"/>
            <a:ext cx="4277372" cy="5147768"/>
          </a:xfrm>
          <a:prstGeom prst="rect">
            <a:avLst/>
          </a:prstGeom>
        </p:spPr>
      </p:pic>
      <p:sp>
        <p:nvSpPr>
          <p:cNvPr id="30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4603608" y="997133"/>
            <a:ext cx="4081086" cy="1428013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Power ON -&gt; Wait time &gt; 15 </a:t>
            </a:r>
            <a:r>
              <a:rPr lang="en-US" altLang="ko-KR" sz="1400" dirty="0" err="1" smtClean="0">
                <a:solidFill>
                  <a:schemeClr val="tx1"/>
                </a:solidFill>
              </a:rPr>
              <a:t>ms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LCD </a:t>
            </a:r>
            <a:r>
              <a:rPr lang="ko-KR" altLang="en-US" sz="1400" dirty="0" smtClean="0">
                <a:solidFill>
                  <a:schemeClr val="tx1"/>
                </a:solidFill>
              </a:rPr>
              <a:t>내부의 </a:t>
            </a:r>
            <a:r>
              <a:rPr lang="en-US" altLang="ko-KR" sz="1400" dirty="0" smtClean="0">
                <a:solidFill>
                  <a:schemeClr val="tx1"/>
                </a:solidFill>
              </a:rPr>
              <a:t>MCU</a:t>
            </a:r>
            <a:r>
              <a:rPr lang="ko-KR" altLang="en-US" sz="1400" dirty="0" smtClean="0">
                <a:solidFill>
                  <a:schemeClr val="tx1"/>
                </a:solidFill>
              </a:rPr>
              <a:t>가 안정적으로 켜질 때까지 전원이 </a:t>
            </a:r>
            <a:r>
              <a:rPr lang="en-US" altLang="ko-KR" sz="1400" dirty="0" smtClean="0">
                <a:solidFill>
                  <a:schemeClr val="tx1"/>
                </a:solidFill>
              </a:rPr>
              <a:t>4.5V </a:t>
            </a:r>
            <a:r>
              <a:rPr lang="ko-KR" altLang="en-US" sz="1400" dirty="0" smtClean="0">
                <a:solidFill>
                  <a:schemeClr val="tx1"/>
                </a:solidFill>
              </a:rPr>
              <a:t>이상 올라간 후 최소 </a:t>
            </a:r>
            <a:r>
              <a:rPr lang="en-US" altLang="ko-KR" sz="1400" dirty="0" smtClean="0">
                <a:solidFill>
                  <a:schemeClr val="tx1"/>
                </a:solidFill>
              </a:rPr>
              <a:t>15ms</a:t>
            </a:r>
            <a:r>
              <a:rPr lang="ko-KR" altLang="en-US" sz="1400" dirty="0" smtClean="0">
                <a:solidFill>
                  <a:schemeClr val="tx1"/>
                </a:solidFill>
              </a:rPr>
              <a:t>이상 무조건 대기</a:t>
            </a:r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내부 회로 안정화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4465114" y="756635"/>
            <a:ext cx="226817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Power on &amp; Wait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5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4505976" y="2979230"/>
            <a:ext cx="4165269" cy="1428013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1</a:t>
            </a:r>
            <a:r>
              <a:rPr lang="ko-KR" altLang="en-US" sz="1400" dirty="0" smtClean="0">
                <a:solidFill>
                  <a:schemeClr val="tx1"/>
                </a:solidFill>
              </a:rPr>
              <a:t>차 명령</a:t>
            </a:r>
            <a:r>
              <a:rPr lang="en-US" altLang="ko-KR" sz="1400" dirty="0" smtClean="0">
                <a:solidFill>
                  <a:schemeClr val="tx1"/>
                </a:solidFill>
              </a:rPr>
              <a:t>: 0x30 </a:t>
            </a:r>
            <a:r>
              <a:rPr lang="ko-KR" altLang="en-US" sz="1400" dirty="0" smtClean="0">
                <a:solidFill>
                  <a:schemeClr val="tx1"/>
                </a:solidFill>
              </a:rPr>
              <a:t>전송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최소 </a:t>
            </a:r>
            <a:r>
              <a:rPr lang="en-US" altLang="ko-KR" sz="1400" dirty="0" smtClean="0">
                <a:solidFill>
                  <a:schemeClr val="tx1"/>
                </a:solidFill>
              </a:rPr>
              <a:t>4.1ms </a:t>
            </a:r>
            <a:r>
              <a:rPr lang="ko-KR" altLang="en-US" sz="1400" dirty="0" smtClean="0">
                <a:solidFill>
                  <a:schemeClr val="tx1"/>
                </a:solidFill>
              </a:rPr>
              <a:t>대기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2</a:t>
            </a:r>
            <a:r>
              <a:rPr lang="ko-KR" altLang="en-US" sz="1400" dirty="0" smtClean="0">
                <a:solidFill>
                  <a:schemeClr val="tx1"/>
                </a:solidFill>
              </a:rPr>
              <a:t>차 명령</a:t>
            </a:r>
            <a:r>
              <a:rPr lang="en-US" altLang="ko-KR" sz="1400" dirty="0" smtClean="0">
                <a:solidFill>
                  <a:schemeClr val="tx1"/>
                </a:solidFill>
              </a:rPr>
              <a:t>: 0x30 </a:t>
            </a:r>
            <a:r>
              <a:rPr lang="ko-KR" altLang="en-US" sz="1400" dirty="0" smtClean="0">
                <a:solidFill>
                  <a:schemeClr val="tx1"/>
                </a:solidFill>
              </a:rPr>
              <a:t>전송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최소 </a:t>
            </a:r>
            <a:r>
              <a:rPr lang="en-US" altLang="ko-KR" sz="1400" dirty="0" smtClean="0">
                <a:solidFill>
                  <a:schemeClr val="tx1"/>
                </a:solidFill>
              </a:rPr>
              <a:t>100us </a:t>
            </a:r>
            <a:r>
              <a:rPr lang="ko-KR" altLang="en-US" sz="1400" dirty="0" smtClean="0">
                <a:solidFill>
                  <a:schemeClr val="tx1"/>
                </a:solidFill>
              </a:rPr>
              <a:t>대기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3</a:t>
            </a:r>
            <a:r>
              <a:rPr lang="ko-KR" altLang="en-US" sz="1400" dirty="0" smtClean="0">
                <a:solidFill>
                  <a:schemeClr val="tx1"/>
                </a:solidFill>
              </a:rPr>
              <a:t>차 명령</a:t>
            </a:r>
            <a:r>
              <a:rPr lang="en-US" altLang="ko-KR" sz="1400" dirty="0" smtClean="0">
                <a:solidFill>
                  <a:schemeClr val="tx1"/>
                </a:solidFill>
              </a:rPr>
              <a:t>: 0x30 </a:t>
            </a:r>
            <a:r>
              <a:rPr lang="ko-KR" altLang="en-US" sz="1400" dirty="0" smtClean="0">
                <a:solidFill>
                  <a:schemeClr val="tx1"/>
                </a:solidFill>
              </a:rPr>
              <a:t>전송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대기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어떤 상태로 있었든 간에 </a:t>
            </a:r>
            <a:r>
              <a:rPr lang="en-US" altLang="ko-KR" sz="1400" dirty="0" smtClean="0">
                <a:solidFill>
                  <a:schemeClr val="tx1"/>
                </a:solidFill>
              </a:rPr>
              <a:t>8</a:t>
            </a:r>
            <a:r>
              <a:rPr lang="ko-KR" altLang="en-US" sz="1400" dirty="0" smtClean="0">
                <a:solidFill>
                  <a:schemeClr val="tx1"/>
                </a:solidFill>
              </a:rPr>
              <a:t>비트 표준 상태 리셋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4583948" y="2673115"/>
            <a:ext cx="24108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8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비트 모드 강제 설정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7" name="아래쪽 화살표 36"/>
          <p:cNvSpPr/>
          <p:nvPr/>
        </p:nvSpPr>
        <p:spPr>
          <a:xfrm>
            <a:off x="7190042" y="2329883"/>
            <a:ext cx="412655" cy="635849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4558178" y="5026517"/>
            <a:ext cx="3970007" cy="1428013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명령</a:t>
            </a:r>
            <a:r>
              <a:rPr lang="en-US" altLang="ko-KR" sz="1400" dirty="0" smtClean="0">
                <a:solidFill>
                  <a:schemeClr val="tx1"/>
                </a:solidFill>
              </a:rPr>
              <a:t>: RS=0,R/W=0,DB7~DB4= 0010 (0x20)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명령 후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모든 </a:t>
            </a:r>
            <a:r>
              <a:rPr lang="en-US" altLang="ko-KR" sz="1400" dirty="0" smtClean="0">
                <a:solidFill>
                  <a:schemeClr val="tx1"/>
                </a:solidFill>
              </a:rPr>
              <a:t>8</a:t>
            </a:r>
            <a:r>
              <a:rPr lang="ko-KR" altLang="en-US" sz="1400" dirty="0" smtClean="0">
                <a:solidFill>
                  <a:schemeClr val="tx1"/>
                </a:solidFill>
              </a:rPr>
              <a:t>비트 데이터를 상위 </a:t>
            </a:r>
            <a:r>
              <a:rPr lang="en-US" altLang="ko-KR" sz="1400" dirty="0" smtClean="0">
                <a:solidFill>
                  <a:schemeClr val="tx1"/>
                </a:solidFill>
              </a:rPr>
              <a:t>4</a:t>
            </a:r>
            <a:r>
              <a:rPr lang="ko-KR" altLang="en-US" sz="1400" dirty="0" smtClean="0">
                <a:solidFill>
                  <a:schemeClr val="tx1"/>
                </a:solidFill>
              </a:rPr>
              <a:t>비트 전송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하위 </a:t>
            </a:r>
            <a:r>
              <a:rPr lang="en-US" altLang="ko-KR" sz="1400" dirty="0" smtClean="0">
                <a:solidFill>
                  <a:schemeClr val="tx1"/>
                </a:solidFill>
              </a:rPr>
              <a:t>8</a:t>
            </a:r>
            <a:r>
              <a:rPr lang="ko-KR" altLang="en-US" sz="1400" dirty="0" smtClean="0">
                <a:solidFill>
                  <a:schemeClr val="tx1"/>
                </a:solidFill>
              </a:rPr>
              <a:t>비트 전송 순으로 보내야 함</a:t>
            </a:r>
            <a:r>
              <a:rPr lang="en-US" altLang="ko-KR" sz="1400" dirty="0" smtClean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4621826" y="4700171"/>
            <a:ext cx="24108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비트 모드 전환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4" name="아래쪽 화살표 43"/>
          <p:cNvSpPr/>
          <p:nvPr/>
        </p:nvSpPr>
        <p:spPr>
          <a:xfrm>
            <a:off x="7156922" y="4412184"/>
            <a:ext cx="412655" cy="635849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8887711" y="1019950"/>
            <a:ext cx="3106148" cy="5460503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 smtClean="0">
                <a:solidFill>
                  <a:schemeClr val="tx1"/>
                </a:solidFill>
              </a:rPr>
              <a:t>라인 및 폰트 설정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상위</a:t>
            </a:r>
            <a:r>
              <a:rPr lang="en-US" altLang="ko-KR" sz="1400" dirty="0" smtClean="0">
                <a:solidFill>
                  <a:schemeClr val="tx1"/>
                </a:solidFill>
              </a:rPr>
              <a:t>:0x2 </a:t>
            </a:r>
            <a:r>
              <a:rPr lang="ko-KR" altLang="en-US" sz="1400" dirty="0" smtClean="0">
                <a:solidFill>
                  <a:schemeClr val="tx1"/>
                </a:solidFill>
              </a:rPr>
              <a:t>하위</a:t>
            </a:r>
            <a:r>
              <a:rPr lang="en-US" altLang="ko-KR" sz="1400" dirty="0" smtClean="0">
                <a:solidFill>
                  <a:schemeClr val="tx1"/>
                </a:solidFill>
              </a:rPr>
              <a:t>: 0x8 -&gt; 0x28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2. Display OFF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상위</a:t>
            </a:r>
            <a:r>
              <a:rPr lang="en-US" altLang="ko-KR" sz="1400" dirty="0" smtClean="0">
                <a:solidFill>
                  <a:schemeClr val="tx1"/>
                </a:solidFill>
              </a:rPr>
              <a:t>:0x0, </a:t>
            </a:r>
            <a:r>
              <a:rPr lang="ko-KR" altLang="en-US" sz="1400" dirty="0" smtClean="0">
                <a:solidFill>
                  <a:schemeClr val="tx1"/>
                </a:solidFill>
              </a:rPr>
              <a:t>하위 </a:t>
            </a:r>
            <a:r>
              <a:rPr lang="en-US" altLang="ko-KR" sz="1400" dirty="0" smtClean="0">
                <a:solidFill>
                  <a:schemeClr val="tx1"/>
                </a:solidFill>
              </a:rPr>
              <a:t>0x8 -&gt;0x08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3. Display Clear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최소 </a:t>
            </a:r>
            <a:r>
              <a:rPr lang="en-US" altLang="ko-KR" sz="1400" dirty="0" smtClean="0">
                <a:solidFill>
                  <a:schemeClr val="tx1"/>
                </a:solidFill>
              </a:rPr>
              <a:t>1.64ms </a:t>
            </a:r>
            <a:r>
              <a:rPr lang="ko-KR" altLang="en-US" sz="1400" dirty="0" smtClean="0">
                <a:solidFill>
                  <a:schemeClr val="tx1"/>
                </a:solidFill>
              </a:rPr>
              <a:t>이상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딜레이</a:t>
            </a:r>
            <a:r>
              <a:rPr lang="ko-KR" altLang="en-US" sz="1400" dirty="0" smtClean="0">
                <a:solidFill>
                  <a:schemeClr val="tx1"/>
                </a:solidFill>
              </a:rPr>
              <a:t> 필요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상위</a:t>
            </a:r>
            <a:r>
              <a:rPr lang="en-US" altLang="ko-KR" sz="1400" dirty="0" smtClean="0">
                <a:solidFill>
                  <a:schemeClr val="tx1"/>
                </a:solidFill>
              </a:rPr>
              <a:t>: 0x0, 0x1 -&gt; 0x01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4. Entry Mode Set (</a:t>
            </a:r>
            <a:r>
              <a:rPr lang="ko-KR" altLang="en-US" sz="1400" dirty="0" smtClean="0">
                <a:solidFill>
                  <a:schemeClr val="tx1"/>
                </a:solidFill>
              </a:rPr>
              <a:t>입력 모드 설정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chemeClr val="tx1"/>
                </a:solidFill>
              </a:rPr>
              <a:t>상위</a:t>
            </a:r>
            <a:r>
              <a:rPr lang="en-US" altLang="ko-KR" sz="1400" dirty="0" smtClean="0">
                <a:solidFill>
                  <a:schemeClr val="tx1"/>
                </a:solidFill>
              </a:rPr>
              <a:t>: 0x0, </a:t>
            </a:r>
            <a:r>
              <a:rPr lang="ko-KR" altLang="en-US" sz="1400" dirty="0" smtClean="0">
                <a:solidFill>
                  <a:schemeClr val="tx1"/>
                </a:solidFill>
              </a:rPr>
              <a:t>하위</a:t>
            </a:r>
            <a:r>
              <a:rPr lang="en-US" altLang="ko-KR" sz="1400" dirty="0" smtClean="0">
                <a:solidFill>
                  <a:schemeClr val="tx1"/>
                </a:solidFill>
              </a:rPr>
              <a:t>:0x6 -&gt;0x06</a:t>
            </a:r>
          </a:p>
          <a:p>
            <a:pPr>
              <a:lnSpc>
                <a:spcPct val="150000"/>
              </a:lnSpc>
            </a:pP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9016724" y="716962"/>
            <a:ext cx="264510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세부 기능 및 화면 설정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4" name="아래쪽 화살표 53"/>
          <p:cNvSpPr/>
          <p:nvPr/>
        </p:nvSpPr>
        <p:spPr>
          <a:xfrm rot="16200000">
            <a:off x="8555369" y="5356475"/>
            <a:ext cx="412655" cy="635849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49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13"/>
          <p:cNvSpPr/>
          <p:nvPr/>
        </p:nvSpPr>
        <p:spPr>
          <a:xfrm>
            <a:off x="4841748" y="9577919"/>
            <a:ext cx="2153032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13"/>
          <p:cNvSpPr/>
          <p:nvPr/>
        </p:nvSpPr>
        <p:spPr>
          <a:xfrm>
            <a:off x="2618935" y="9577901"/>
            <a:ext cx="2103507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3"/>
          <p:cNvSpPr/>
          <p:nvPr/>
        </p:nvSpPr>
        <p:spPr>
          <a:xfrm>
            <a:off x="440971" y="9584251"/>
            <a:ext cx="2082714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3464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LCD Driver - </a:t>
            </a:r>
            <a:r>
              <a:rPr lang="ko-KR" altLang="en-US" sz="2800" b="1" dirty="0" smtClean="0">
                <a:solidFill>
                  <a:schemeClr val="accent1"/>
                </a:solidFill>
              </a:rPr>
              <a:t>초기화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표 7">
            <a:extLst>
              <a:ext uri="{FF2B5EF4-FFF2-40B4-BE49-F238E27FC236}">
                <a16:creationId xmlns:a16="http://schemas.microsoft.com/office/drawing/2014/main" id="{EE901189-A3F0-994A-EDA1-98BFBC2BB17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56513" y="7019231"/>
          <a:ext cx="1056856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219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686686885"/>
                    </a:ext>
                  </a:extLst>
                </a:gridCol>
              </a:tblGrid>
              <a:tr h="2549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구분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PAM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PWM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제어 방식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진폭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(Voltage)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펄스 폭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(Time)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주파수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평균 전력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전압 크기로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Duty rate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로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MCU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구현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DAC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필요</a:t>
                      </a:r>
                      <a:r>
                        <a:rPr lang="ko-KR" altLang="en-US" sz="1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１）</a:t>
                      </a:r>
                      <a:endParaRPr lang="ko-KR" altLang="en-US" sz="1000" spc="-1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Timer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만으로 가능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42245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모터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비효율적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매우 효율적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3775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439610" y="9214919"/>
            <a:ext cx="18738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PWM </a:t>
            </a:r>
            <a:r>
              <a:rPr lang="ko-KR" altLang="en-US" b="1" dirty="0"/>
              <a:t>동작 원리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39610" y="9729391"/>
            <a:ext cx="33772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50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■■□□□□□□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04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2612207" y="9732115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29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en-US" altLang="ko-KR" b="1" dirty="0" smtClean="0">
                <a:latin typeface="Arial" panose="020B0604020202020204" pitchFamily="34" charset="0"/>
              </a:rPr>
              <a:t>/ 300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29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45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4835626" y="9729390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700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■■■■■■□□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68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3.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40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9236053" y="9441656"/>
            <a:ext cx="27578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프로젝트 적용</a:t>
            </a:r>
            <a:endParaRPr kumimoji="0" lang="en-US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/>
              <a:t>Timer1 </a:t>
            </a:r>
            <a:r>
              <a:rPr lang="ko-KR" altLang="ko-KR" dirty="0" err="1"/>
              <a:t>Fast</a:t>
            </a:r>
            <a:r>
              <a:rPr lang="ko-KR" altLang="ko-KR" dirty="0"/>
              <a:t> PWM 사용 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OCR1A, </a:t>
            </a:r>
            <a:r>
              <a:rPr lang="ko-KR" altLang="ko-KR" dirty="0" smtClean="0">
                <a:latin typeface="Arial" panose="020B0604020202020204" pitchFamily="34" charset="0"/>
              </a:rPr>
              <a:t>OCR1B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모터 속도 제어 </a:t>
            </a:r>
            <a:r>
              <a:rPr lang="ko-KR" altLang="ko-KR" dirty="0" smtClean="0">
                <a:latin typeface="Arial" panose="020B0604020202020204" pitchFamily="34" charset="0"/>
              </a:rPr>
              <a:t>구현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ICR1 = 0x3FF;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/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1023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/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OCR1A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en-US" altLang="ko-KR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OCR1B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494137" y="12581922"/>
            <a:ext cx="22317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１）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Digital </a:t>
            </a:r>
            <a:r>
              <a:rPr lang="en-US" altLang="ko-KR" sz="1400" spc="-150" dirty="0">
                <a:latin typeface="돋움" panose="020B0600000101010101" pitchFamily="50" charset="-127"/>
                <a:ea typeface="돋움" panose="020B0600000101010101" pitchFamily="50" charset="-127"/>
              </a:rPr>
              <a:t>to Analog 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Converter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Rounded Rectangle 13"/>
          <p:cNvSpPr/>
          <p:nvPr/>
        </p:nvSpPr>
        <p:spPr>
          <a:xfrm>
            <a:off x="7114086" y="9578377"/>
            <a:ext cx="2153032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7107964" y="9729848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999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■■■■■■□□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97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8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39610" y="11069730"/>
            <a:ext cx="2084075" cy="179805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645787" y="11069730"/>
            <a:ext cx="2084075" cy="179805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885214" y="11064146"/>
            <a:ext cx="2084075" cy="179805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7150132" y="11064146"/>
            <a:ext cx="2084075" cy="179805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아래쪽 화살표 37"/>
          <p:cNvSpPr/>
          <p:nvPr/>
        </p:nvSpPr>
        <p:spPr>
          <a:xfrm rot="18209198">
            <a:off x="1720816" y="10712143"/>
            <a:ext cx="113783" cy="1006505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아래쪽 화살표 38"/>
          <p:cNvSpPr/>
          <p:nvPr/>
        </p:nvSpPr>
        <p:spPr>
          <a:xfrm rot="18397873">
            <a:off x="4001051" y="10808504"/>
            <a:ext cx="113783" cy="827442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아래쪽 화살표 39"/>
          <p:cNvSpPr/>
          <p:nvPr/>
        </p:nvSpPr>
        <p:spPr>
          <a:xfrm rot="18900023">
            <a:off x="5883130" y="10826712"/>
            <a:ext cx="113783" cy="672340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 rot="19084357">
            <a:off x="8259538" y="10824291"/>
            <a:ext cx="113783" cy="643106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원호 24"/>
          <p:cNvSpPr/>
          <p:nvPr/>
        </p:nvSpPr>
        <p:spPr>
          <a:xfrm>
            <a:off x="8147879" y="11527444"/>
            <a:ext cx="911225" cy="220745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원호 45"/>
          <p:cNvSpPr/>
          <p:nvPr/>
        </p:nvSpPr>
        <p:spPr>
          <a:xfrm>
            <a:off x="6116480" y="11447006"/>
            <a:ext cx="616805" cy="285736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원호 46"/>
          <p:cNvSpPr/>
          <p:nvPr/>
        </p:nvSpPr>
        <p:spPr>
          <a:xfrm>
            <a:off x="4320612" y="11527444"/>
            <a:ext cx="206568" cy="224591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원호 48"/>
          <p:cNvSpPr/>
          <p:nvPr/>
        </p:nvSpPr>
        <p:spPr>
          <a:xfrm>
            <a:off x="2335633" y="11555348"/>
            <a:ext cx="45719" cy="103807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378" y="783168"/>
            <a:ext cx="4184017" cy="568345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3052" y="1993539"/>
            <a:ext cx="3982006" cy="33151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3052" y="1463040"/>
            <a:ext cx="356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PIN </a:t>
            </a:r>
            <a:r>
              <a:rPr lang="ko-KR" altLang="en-US" b="1" dirty="0" smtClean="0"/>
              <a:t>설정 및 명령어 주소 설정</a:t>
            </a:r>
            <a:endParaRPr lang="ko-KR" altLang="en-US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6116012" y="407650"/>
            <a:ext cx="356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LCD Driver </a:t>
            </a:r>
            <a:r>
              <a:rPr lang="ko-KR" altLang="en-US" b="1" dirty="0" smtClean="0"/>
              <a:t>초기화</a:t>
            </a:r>
            <a:endParaRPr lang="ko-KR" altLang="en-US" b="1" dirty="0"/>
          </a:p>
        </p:txBody>
      </p:sp>
      <p:sp>
        <p:nvSpPr>
          <p:cNvPr id="7" name="직사각형 6"/>
          <p:cNvSpPr/>
          <p:nvPr/>
        </p:nvSpPr>
        <p:spPr>
          <a:xfrm>
            <a:off x="1163052" y="4379954"/>
            <a:ext cx="3806981" cy="633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38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3457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LCD Driver – Timing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9" t="11279" r="1668" b="45243"/>
          <a:stretch/>
        </p:blipFill>
        <p:spPr>
          <a:xfrm>
            <a:off x="363983" y="1446568"/>
            <a:ext cx="7166971" cy="3943013"/>
          </a:xfrm>
          <a:prstGeom prst="rect">
            <a:avLst/>
          </a:prstGeom>
        </p:spPr>
      </p:pic>
      <p:sp>
        <p:nvSpPr>
          <p:cNvPr id="54" name="아래쪽 화살표 53"/>
          <p:cNvSpPr/>
          <p:nvPr/>
        </p:nvSpPr>
        <p:spPr>
          <a:xfrm>
            <a:off x="9519031" y="2218123"/>
            <a:ext cx="412655" cy="531952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2390607" y="2665400"/>
            <a:ext cx="718352" cy="508106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>
            <a:off x="3618478" y="4088213"/>
            <a:ext cx="899734" cy="411278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7839267" y="962098"/>
            <a:ext cx="4052415" cy="118099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tx1"/>
                </a:solidFill>
              </a:rPr>
              <a:t>신호 준비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(setup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단계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RS(</a:t>
            </a:r>
            <a:r>
              <a:rPr lang="ko-KR" altLang="en-US" sz="1400" dirty="0" smtClean="0">
                <a:solidFill>
                  <a:schemeClr val="tx1"/>
                </a:solidFill>
              </a:rPr>
              <a:t>명령</a:t>
            </a:r>
            <a:r>
              <a:rPr lang="en-US" altLang="ko-KR" sz="1400" dirty="0" smtClean="0">
                <a:solidFill>
                  <a:schemeClr val="tx1"/>
                </a:solidFill>
              </a:rPr>
              <a:t>/</a:t>
            </a:r>
            <a:r>
              <a:rPr lang="ko-KR" altLang="en-US" sz="1400" dirty="0" smtClean="0">
                <a:solidFill>
                  <a:schemeClr val="tx1"/>
                </a:solidFill>
              </a:rPr>
              <a:t>데이터 구분</a:t>
            </a:r>
            <a:r>
              <a:rPr lang="en-US" altLang="ko-KR" sz="1400" dirty="0" smtClean="0">
                <a:solidFill>
                  <a:schemeClr val="tx1"/>
                </a:solidFill>
              </a:rPr>
              <a:t>) </a:t>
            </a:r>
            <a:r>
              <a:rPr lang="ko-KR" altLang="en-US" sz="1400" dirty="0" smtClean="0">
                <a:solidFill>
                  <a:schemeClr val="tx1"/>
                </a:solidFill>
              </a:rPr>
              <a:t>및 </a:t>
            </a:r>
            <a:r>
              <a:rPr lang="en-US" altLang="ko-KR" sz="1400" dirty="0" smtClean="0">
                <a:solidFill>
                  <a:schemeClr val="tx1"/>
                </a:solidFill>
              </a:rPr>
              <a:t>R/W (</a:t>
            </a:r>
            <a:r>
              <a:rPr lang="ko-KR" altLang="en-US" sz="1400" dirty="0" smtClean="0">
                <a:solidFill>
                  <a:schemeClr val="tx1"/>
                </a:solidFill>
              </a:rPr>
              <a:t>쓰기</a:t>
            </a:r>
            <a:r>
              <a:rPr lang="en-US" altLang="ko-KR" sz="1400" dirty="0" smtClean="0">
                <a:solidFill>
                  <a:schemeClr val="tx1"/>
                </a:solidFill>
              </a:rPr>
              <a:t>=0) </a:t>
            </a:r>
            <a:r>
              <a:rPr lang="ko-KR" altLang="en-US" sz="1400" dirty="0" smtClean="0">
                <a:solidFill>
                  <a:schemeClr val="tx1"/>
                </a:solidFill>
              </a:rPr>
              <a:t>인가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Tsp1 : </a:t>
            </a:r>
            <a:r>
              <a:rPr lang="ko-KR" altLang="en-US" sz="1400" dirty="0" smtClean="0">
                <a:solidFill>
                  <a:schemeClr val="tx1"/>
                </a:solidFill>
              </a:rPr>
              <a:t>신호가 안정될 때까지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딜레이</a:t>
            </a:r>
            <a:r>
              <a:rPr lang="ko-KR" altLang="en-US" sz="1400" dirty="0" smtClean="0">
                <a:solidFill>
                  <a:schemeClr val="tx1"/>
                </a:solidFill>
              </a:rPr>
              <a:t> 필요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87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7839267" y="2794491"/>
            <a:ext cx="4118628" cy="1581374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</a:rPr>
              <a:t>E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활성화 및 데이터 버스 출력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E-&gt; High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DB7 ~ DB4</a:t>
            </a:r>
            <a:r>
              <a:rPr lang="ko-KR" altLang="en-US" sz="1400" dirty="0" smtClean="0">
                <a:solidFill>
                  <a:schemeClr val="tx1"/>
                </a:solidFill>
              </a:rPr>
              <a:t>에 </a:t>
            </a:r>
            <a:r>
              <a:rPr lang="en-US" altLang="ko-KR" sz="1400" dirty="0" smtClean="0">
                <a:solidFill>
                  <a:schemeClr val="tx1"/>
                </a:solidFill>
              </a:rPr>
              <a:t>4</a:t>
            </a:r>
            <a:r>
              <a:rPr lang="ko-KR" altLang="en-US" sz="1400" dirty="0" smtClean="0">
                <a:solidFill>
                  <a:schemeClr val="tx1"/>
                </a:solidFill>
              </a:rPr>
              <a:t>비트 데이터 버스 출력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E </a:t>
            </a:r>
            <a:r>
              <a:rPr lang="ko-KR" altLang="en-US" sz="1400" dirty="0" smtClean="0">
                <a:solidFill>
                  <a:schemeClr val="tx1"/>
                </a:solidFill>
              </a:rPr>
              <a:t>하강 전 데이터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셋업</a:t>
            </a:r>
            <a:r>
              <a:rPr lang="ko-KR" altLang="en-US" sz="1400" dirty="0" smtClean="0">
                <a:solidFill>
                  <a:schemeClr val="tx1"/>
                </a:solidFill>
              </a:rPr>
              <a:t> 시간 </a:t>
            </a:r>
            <a:r>
              <a:rPr lang="en-US" altLang="ko-KR" sz="1400" dirty="0" smtClean="0">
                <a:solidFill>
                  <a:schemeClr val="tx1"/>
                </a:solidFill>
              </a:rPr>
              <a:t>(Tsp2) </a:t>
            </a:r>
            <a:r>
              <a:rPr lang="ko-KR" altLang="en-US" sz="1400" dirty="0" smtClean="0">
                <a:solidFill>
                  <a:schemeClr val="tx1"/>
                </a:solidFill>
              </a:rPr>
              <a:t>확보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88" name="사각형: 둥근 모서리 11">
            <a:extLst>
              <a:ext uri="{FF2B5EF4-FFF2-40B4-BE49-F238E27FC236}">
                <a16:creationId xmlns:a16="http://schemas.microsoft.com/office/drawing/2014/main" id="{5A0FA901-53D4-B76D-CCF0-3A9E2A49AC42}"/>
              </a:ext>
            </a:extLst>
          </p:cNvPr>
          <p:cNvSpPr/>
          <p:nvPr/>
        </p:nvSpPr>
        <p:spPr>
          <a:xfrm>
            <a:off x="7905480" y="5027267"/>
            <a:ext cx="4052415" cy="118099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tx1"/>
                </a:solidFill>
              </a:rPr>
              <a:t>하강 </a:t>
            </a:r>
            <a:r>
              <a:rPr lang="ko-KR" altLang="en-US" sz="1400" b="1" dirty="0" err="1" smtClean="0">
                <a:solidFill>
                  <a:schemeClr val="tx1"/>
                </a:solidFill>
              </a:rPr>
              <a:t>엣지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400" b="1" dirty="0" err="1" smtClean="0">
                <a:solidFill>
                  <a:schemeClr val="tx1"/>
                </a:solidFill>
              </a:rPr>
              <a:t>래치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E -&gt; Low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schemeClr val="tx1"/>
                </a:solidFill>
              </a:rPr>
              <a:t>LCD </a:t>
            </a:r>
            <a:r>
              <a:rPr lang="ko-KR" altLang="en-US" sz="1400" dirty="0" smtClean="0">
                <a:solidFill>
                  <a:schemeClr val="tx1"/>
                </a:solidFill>
              </a:rPr>
              <a:t>내부 레지스터에 데이터 기록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89" name="아래쪽 화살표 88"/>
          <p:cNvSpPr/>
          <p:nvPr/>
        </p:nvSpPr>
        <p:spPr>
          <a:xfrm>
            <a:off x="9519032" y="4420281"/>
            <a:ext cx="412655" cy="562570"/>
          </a:xfrm>
          <a:prstGeom prst="downArrow">
            <a:avLst>
              <a:gd name="adj1" fmla="val 33992"/>
              <a:gd name="adj2" fmla="val 36903"/>
            </a:avLst>
          </a:prstGeom>
          <a:solidFill>
            <a:srgbClr val="00B05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3108959" y="1807285"/>
            <a:ext cx="4647305" cy="987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 flipV="1">
            <a:off x="4518212" y="4088213"/>
            <a:ext cx="3463962" cy="2876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95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13"/>
          <p:cNvSpPr/>
          <p:nvPr/>
        </p:nvSpPr>
        <p:spPr>
          <a:xfrm>
            <a:off x="4841748" y="9577919"/>
            <a:ext cx="2153032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13"/>
          <p:cNvSpPr/>
          <p:nvPr/>
        </p:nvSpPr>
        <p:spPr>
          <a:xfrm>
            <a:off x="2618935" y="9577901"/>
            <a:ext cx="2103507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3"/>
          <p:cNvSpPr/>
          <p:nvPr/>
        </p:nvSpPr>
        <p:spPr>
          <a:xfrm>
            <a:off x="440971" y="9584251"/>
            <a:ext cx="2082714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3457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LCD Driver – Timing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표 7">
            <a:extLst>
              <a:ext uri="{FF2B5EF4-FFF2-40B4-BE49-F238E27FC236}">
                <a16:creationId xmlns:a16="http://schemas.microsoft.com/office/drawing/2014/main" id="{EE901189-A3F0-994A-EDA1-98BFBC2BB17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56513" y="7019231"/>
          <a:ext cx="1056856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219">
                  <a:extLst>
                    <a:ext uri="{9D8B030D-6E8A-4147-A177-3AD203B41FA5}">
                      <a16:colId xmlns:a16="http://schemas.microsoft.com/office/drawing/2014/main" val="388326904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172355626"/>
                    </a:ext>
                  </a:extLst>
                </a:gridCol>
                <a:gridCol w="4480675">
                  <a:extLst>
                    <a:ext uri="{9D8B030D-6E8A-4147-A177-3AD203B41FA5}">
                      <a16:colId xmlns:a16="http://schemas.microsoft.com/office/drawing/2014/main" val="1686686885"/>
                    </a:ext>
                  </a:extLst>
                </a:gridCol>
              </a:tblGrid>
              <a:tr h="2549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구분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PAM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PWM</a:t>
                      </a:r>
                      <a:endParaRPr lang="ko-KR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097032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제어 방식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진폭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(Voltage)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펄스 폭</a:t>
                      </a:r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(Time)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변경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22558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주파수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일정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26794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평균 전력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전압 크기로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Duty rate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로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82185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MCU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구현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DAC</a:t>
                      </a:r>
                      <a:r>
                        <a:rPr lang="en-US" altLang="ko-KR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필요</a:t>
                      </a:r>
                      <a:r>
                        <a:rPr lang="ko-KR" altLang="en-US" sz="10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１）</a:t>
                      </a:r>
                      <a:endParaRPr lang="ko-KR" altLang="en-US" sz="1000" spc="-1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Timer</a:t>
                      </a:r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만으로 가능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342245"/>
                  </a:ext>
                </a:extLst>
              </a:tr>
              <a:tr h="235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모터 제어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비효율적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매우 효율적</a:t>
                      </a:r>
                      <a:endParaRPr lang="ko-KR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3775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439610" y="9214919"/>
            <a:ext cx="18738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PWM </a:t>
            </a:r>
            <a:r>
              <a:rPr lang="ko-KR" altLang="en-US" b="1" dirty="0"/>
              <a:t>동작 원리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39610" y="9729391"/>
            <a:ext cx="33772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50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■■□□□□□□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04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2612207" y="9732115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29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en-US" altLang="ko-KR" b="1" dirty="0" smtClean="0">
                <a:latin typeface="Arial" panose="020B0604020202020204" pitchFamily="34" charset="0"/>
              </a:rPr>
              <a:t>/ 300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■■■■□□□□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29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45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4835626" y="9729390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700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■■■■■■□□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68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3.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40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9236053" y="9441656"/>
            <a:ext cx="27578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프로젝트 적용</a:t>
            </a:r>
            <a:endParaRPr kumimoji="0" lang="en-US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/>
              <a:t>Timer1 </a:t>
            </a:r>
            <a:r>
              <a:rPr lang="ko-KR" altLang="ko-KR" dirty="0" err="1"/>
              <a:t>Fast</a:t>
            </a:r>
            <a:r>
              <a:rPr lang="ko-KR" altLang="ko-KR" dirty="0"/>
              <a:t> PWM 사용 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OCR1A, </a:t>
            </a:r>
            <a:r>
              <a:rPr lang="ko-KR" altLang="ko-KR" dirty="0" smtClean="0">
                <a:latin typeface="Arial" panose="020B0604020202020204" pitchFamily="34" charset="0"/>
              </a:rPr>
              <a:t>OCR1B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rial" panose="020B0604020202020204" pitchFamily="34" charset="0"/>
              </a:rPr>
              <a:t>모터 속도 제어 </a:t>
            </a:r>
            <a:r>
              <a:rPr lang="ko-KR" altLang="ko-KR" dirty="0" smtClean="0">
                <a:latin typeface="Arial" panose="020B0604020202020204" pitchFamily="34" charset="0"/>
              </a:rPr>
              <a:t>구현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ICR1 = 0x3FF;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/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1023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/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OCR1A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en-US" altLang="ko-KR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OCR1B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494137" y="12581922"/>
            <a:ext cx="22317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１）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Digital </a:t>
            </a:r>
            <a:r>
              <a:rPr lang="en-US" altLang="ko-KR" sz="1400" spc="-150" dirty="0">
                <a:latin typeface="돋움" panose="020B0600000101010101" pitchFamily="50" charset="-127"/>
                <a:ea typeface="돋움" panose="020B0600000101010101" pitchFamily="50" charset="-127"/>
              </a:rPr>
              <a:t>to Analog </a:t>
            </a:r>
            <a:r>
              <a:rPr lang="en-US" altLang="ko-KR" sz="1400" spc="-15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Converter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Rounded Rectangle 13"/>
          <p:cNvSpPr/>
          <p:nvPr/>
        </p:nvSpPr>
        <p:spPr>
          <a:xfrm>
            <a:off x="7114086" y="9578377"/>
            <a:ext cx="2153032" cy="1551638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7107964" y="9729848"/>
            <a:ext cx="21595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999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■■■■■■□□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평균 전압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 × 0.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97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8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5V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39610" y="11069730"/>
            <a:ext cx="2084075" cy="179805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645787" y="11069730"/>
            <a:ext cx="2084075" cy="179805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885214" y="11064146"/>
            <a:ext cx="2084075" cy="179805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7150132" y="11064146"/>
            <a:ext cx="2084075" cy="179805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아래쪽 화살표 37"/>
          <p:cNvSpPr/>
          <p:nvPr/>
        </p:nvSpPr>
        <p:spPr>
          <a:xfrm rot="18209198">
            <a:off x="1720816" y="10712143"/>
            <a:ext cx="113783" cy="1006505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아래쪽 화살표 38"/>
          <p:cNvSpPr/>
          <p:nvPr/>
        </p:nvSpPr>
        <p:spPr>
          <a:xfrm rot="18397873">
            <a:off x="4001051" y="10808504"/>
            <a:ext cx="113783" cy="827442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아래쪽 화살표 39"/>
          <p:cNvSpPr/>
          <p:nvPr/>
        </p:nvSpPr>
        <p:spPr>
          <a:xfrm rot="18900023">
            <a:off x="5883130" y="10826712"/>
            <a:ext cx="113783" cy="672340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 rot="19084357">
            <a:off x="8259538" y="10824291"/>
            <a:ext cx="113783" cy="643106"/>
          </a:xfrm>
          <a:prstGeom prst="downArrow">
            <a:avLst>
              <a:gd name="adj1" fmla="val 15167"/>
              <a:gd name="adj2" fmla="val 13653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원호 24"/>
          <p:cNvSpPr/>
          <p:nvPr/>
        </p:nvSpPr>
        <p:spPr>
          <a:xfrm>
            <a:off x="8147879" y="11527444"/>
            <a:ext cx="911225" cy="220745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원호 45"/>
          <p:cNvSpPr/>
          <p:nvPr/>
        </p:nvSpPr>
        <p:spPr>
          <a:xfrm>
            <a:off x="6116480" y="11447006"/>
            <a:ext cx="616805" cy="285736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원호 46"/>
          <p:cNvSpPr/>
          <p:nvPr/>
        </p:nvSpPr>
        <p:spPr>
          <a:xfrm>
            <a:off x="4320612" y="11527444"/>
            <a:ext cx="206568" cy="224591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원호 48"/>
          <p:cNvSpPr/>
          <p:nvPr/>
        </p:nvSpPr>
        <p:spPr>
          <a:xfrm>
            <a:off x="2335633" y="11555348"/>
            <a:ext cx="45719" cy="103807"/>
          </a:xfrm>
          <a:prstGeom prst="arc">
            <a:avLst>
              <a:gd name="adj1" fmla="val 10773181"/>
              <a:gd name="adj2" fmla="val 52403"/>
            </a:avLst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7"/>
          <a:srcRect b="63232"/>
          <a:stretch/>
        </p:blipFill>
        <p:spPr>
          <a:xfrm>
            <a:off x="434730" y="2827832"/>
            <a:ext cx="5344271" cy="15907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8059" y="1255055"/>
            <a:ext cx="5839640" cy="27687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45412" y="2272472"/>
            <a:ext cx="356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E </a:t>
            </a:r>
            <a:r>
              <a:rPr lang="ko-KR" altLang="en-US" b="1" dirty="0" err="1" smtClean="0"/>
              <a:t>하강엣지</a:t>
            </a:r>
            <a:r>
              <a:rPr lang="ko-KR" altLang="en-US" b="1" dirty="0" smtClean="0"/>
              <a:t> 구현</a:t>
            </a:r>
            <a:endParaRPr lang="ko-KR" altLang="en-US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5387108" y="767211"/>
            <a:ext cx="356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데이터 쓰기 동작</a:t>
            </a:r>
            <a:endParaRPr lang="ko-KR" altLang="en-US" b="1" dirty="0"/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7"/>
          <a:srcRect t="39079"/>
          <a:stretch/>
        </p:blipFill>
        <p:spPr>
          <a:xfrm>
            <a:off x="5387108" y="4106965"/>
            <a:ext cx="5344271" cy="235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9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071" y="3497219"/>
            <a:ext cx="3054848" cy="3229426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130" y="3193093"/>
            <a:ext cx="6563641" cy="3620005"/>
          </a:xfrm>
          <a:prstGeom prst="rect">
            <a:avLst/>
          </a:prstGeom>
        </p:spPr>
      </p:pic>
      <p:sp>
        <p:nvSpPr>
          <p:cNvPr id="23" name="Rounded Rectangle 13"/>
          <p:cNvSpPr/>
          <p:nvPr/>
        </p:nvSpPr>
        <p:spPr>
          <a:xfrm>
            <a:off x="8379179" y="9989603"/>
            <a:ext cx="3048000" cy="2621535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3"/>
          <p:cNvSpPr/>
          <p:nvPr/>
        </p:nvSpPr>
        <p:spPr>
          <a:xfrm>
            <a:off x="0" y="1129023"/>
            <a:ext cx="3048000" cy="2064070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028400" y="272716"/>
            <a:ext cx="52389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I2C(TWI)</a:t>
            </a:r>
            <a:r>
              <a:rPr lang="en-US" altLang="ko-KR" sz="1400" dirty="0" smtClean="0">
                <a:solidFill>
                  <a:schemeClr val="accent1"/>
                </a:solidFill>
              </a:rPr>
              <a:t>1)</a:t>
            </a:r>
            <a:r>
              <a:rPr lang="en-US" altLang="ko-KR" sz="2800" b="1" dirty="0" smtClean="0">
                <a:solidFill>
                  <a:schemeClr val="accent1"/>
                </a:solidFill>
              </a:rPr>
              <a:t> </a:t>
            </a:r>
            <a:r>
              <a:rPr lang="ko-KR" altLang="en-US" sz="2800" b="1" dirty="0" smtClean="0">
                <a:solidFill>
                  <a:schemeClr val="accent1"/>
                </a:solidFill>
              </a:rPr>
              <a:t>통신 </a:t>
            </a:r>
            <a:r>
              <a:rPr lang="en-US" altLang="ko-KR" sz="2800" b="1" dirty="0" smtClean="0">
                <a:solidFill>
                  <a:schemeClr val="accent1"/>
                </a:solidFill>
              </a:rPr>
              <a:t>/ </a:t>
            </a:r>
            <a:r>
              <a:rPr lang="en-US" altLang="ko-KR" sz="2800" b="1" dirty="0">
                <a:solidFill>
                  <a:schemeClr val="accent1"/>
                </a:solidFill>
              </a:rPr>
              <a:t>RTC(DS1307)</a:t>
            </a:r>
            <a:endParaRPr lang="ko-KR" altLang="en-US" sz="28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endParaRPr lang="ko-KR" altLang="en-US" sz="28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9773905" y="6577379"/>
            <a:ext cx="24304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１）</a:t>
            </a:r>
            <a:r>
              <a:rPr lang="en-US" altLang="ko-KR" sz="1400" dirty="0"/>
              <a:t>Inter-Integrated Circuit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40152" y="776780"/>
            <a:ext cx="117766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SDA</a:t>
            </a:r>
            <a:r>
              <a:rPr lang="ko-KR" altLang="en-US" sz="1400" dirty="0"/>
              <a:t>와 </a:t>
            </a:r>
            <a:r>
              <a:rPr lang="en-US" altLang="ko-KR" sz="1400" dirty="0"/>
              <a:t>SCL </a:t>
            </a:r>
            <a:r>
              <a:rPr lang="ko-KR" altLang="en-US" sz="1400" dirty="0"/>
              <a:t>두 선을 이용해 </a:t>
            </a:r>
            <a:r>
              <a:rPr lang="en-US" altLang="ko-KR" sz="1400" dirty="0"/>
              <a:t>Master</a:t>
            </a:r>
            <a:r>
              <a:rPr lang="ko-KR" altLang="en-US" sz="1400" dirty="0"/>
              <a:t>가 </a:t>
            </a:r>
            <a:r>
              <a:rPr lang="en-US" altLang="ko-KR" sz="1400" dirty="0"/>
              <a:t>Slave</a:t>
            </a:r>
            <a:r>
              <a:rPr lang="ko-KR" altLang="en-US" sz="1400" dirty="0"/>
              <a:t>의 </a:t>
            </a:r>
            <a:r>
              <a:rPr lang="en-US" altLang="ko-KR" sz="1400" dirty="0"/>
              <a:t>Register</a:t>
            </a:r>
            <a:r>
              <a:rPr lang="ko-KR" altLang="en-US" sz="1400" dirty="0"/>
              <a:t>를 지정하고</a:t>
            </a:r>
            <a:r>
              <a:rPr lang="en-US" altLang="ko-KR" sz="1400" dirty="0" smtClean="0"/>
              <a:t>,ACK/NACK</a:t>
            </a:r>
            <a:r>
              <a:rPr lang="ko-KR" altLang="en-US" sz="1400" dirty="0"/>
              <a:t>를 확인하며 데이터를 읽고 쓰는 동기식 직렬 </a:t>
            </a:r>
            <a:r>
              <a:rPr lang="en-US" altLang="ko-KR" sz="1400" dirty="0"/>
              <a:t>1: </a:t>
            </a:r>
            <a:r>
              <a:rPr lang="ko-KR" altLang="en-US" sz="1400" dirty="0"/>
              <a:t>多 통신 방식</a:t>
            </a:r>
            <a:endParaRPr lang="en-US" altLang="ko-KR" sz="1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84974" y="10131898"/>
            <a:ext cx="181011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</a:t>
            </a: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구조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26304" y="1137353"/>
            <a:ext cx="294695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ko-KR" altLang="en-US" sz="14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통신순서</a:t>
            </a:r>
            <a:endParaRPr lang="ko-KR" altLang="en-US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4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START</a:t>
            </a: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Slave Address + </a:t>
            </a:r>
            <a:r>
              <a:rPr lang="en-US" altLang="ko-KR" sz="14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R/W</a:t>
            </a: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4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ACK</a:t>
            </a: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4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Register Address</a:t>
            </a: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4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ACK</a:t>
            </a: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4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Data</a:t>
            </a: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ACK / </a:t>
            </a:r>
            <a:r>
              <a:rPr lang="en-US" altLang="ko-KR" sz="14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NACK</a:t>
            </a: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STOP</a:t>
            </a:r>
            <a:endParaRPr lang="ko-KR" altLang="en-US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062125" y="13149086"/>
            <a:ext cx="19440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f : Forward</a:t>
            </a:r>
            <a:br>
              <a:rPr lang="en-US" altLang="ko-KR" dirty="0"/>
            </a:br>
            <a:r>
              <a:rPr lang="en-US" altLang="ko-KR" dirty="0"/>
              <a:t>b : Backward</a:t>
            </a:r>
            <a:br>
              <a:rPr lang="en-US" altLang="ko-KR" dirty="0"/>
            </a:br>
            <a:r>
              <a:rPr lang="en-US" altLang="ko-KR" dirty="0"/>
              <a:t>l : Left</a:t>
            </a:r>
            <a:br>
              <a:rPr lang="en-US" altLang="ko-KR" dirty="0"/>
            </a:br>
            <a:r>
              <a:rPr lang="en-US" altLang="ko-KR" dirty="0"/>
              <a:t>r : Right</a:t>
            </a:r>
            <a:br>
              <a:rPr lang="en-US" altLang="ko-KR" dirty="0"/>
            </a:br>
            <a:r>
              <a:rPr lang="en-US" altLang="ko-KR" dirty="0"/>
              <a:t>s : Stop</a:t>
            </a:r>
            <a:br>
              <a:rPr lang="en-US" altLang="ko-KR" dirty="0"/>
            </a:br>
            <a:r>
              <a:rPr lang="en-US" altLang="ko-KR" dirty="0"/>
              <a:t>n : Next Mode</a:t>
            </a:r>
            <a:endParaRPr lang="ko-KR" alt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475731" y="10148114"/>
            <a:ext cx="281679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인터럽트 기반 수신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569166" y="10604955"/>
            <a:ext cx="26299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ISR(USART1_RX_vect)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bt_data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UDR1;</a:t>
            </a:r>
            <a:b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521514" y="13117133"/>
            <a:ext cx="30443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장점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CPU</a:t>
            </a:r>
            <a:r>
              <a:rPr lang="ko-KR" altLang="en-US" dirty="0"/>
              <a:t>가 계속 대기하지 않음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실시간 명령 처리 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817" y="7953043"/>
            <a:ext cx="3855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FFFF00"/>
                </a:solidFill>
              </a:rPr>
              <a:t>0 0 1 1 0 0 1 1 0 </a:t>
            </a:r>
            <a:r>
              <a:rPr lang="en-US" altLang="ko-KR" sz="3200" b="1" dirty="0" smtClean="0">
                <a:solidFill>
                  <a:srgbClr val="FFFF00"/>
                </a:solidFill>
              </a:rPr>
              <a:t>1</a:t>
            </a:r>
            <a:endParaRPr lang="ko-KR" altLang="en-US" sz="3200" b="1" dirty="0">
              <a:solidFill>
                <a:srgbClr val="FFFF0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84974" y="12699775"/>
            <a:ext cx="2371162" cy="369332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dirty="0"/>
              <a:t>F = 0x66 0110 0110 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4909625" y="12699775"/>
            <a:ext cx="2299027" cy="369332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ko-KR" dirty="0"/>
              <a:t>S = 0x73 0111 0011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386141" y="5009414"/>
            <a:ext cx="3058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dirty="0" smtClean="0">
                <a:solidFill>
                  <a:srgbClr val="FFFF00"/>
                </a:solidFill>
              </a:rPr>
              <a:t>S11010000A 00000000A</a:t>
            </a:r>
            <a:endParaRPr lang="ko-KR" altLang="ko-KR" sz="2000" b="1" dirty="0">
              <a:solidFill>
                <a:srgbClr val="FFFF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64807" y="4973853"/>
            <a:ext cx="3408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dirty="0" smtClean="0">
                <a:solidFill>
                  <a:srgbClr val="FFFF00"/>
                </a:solidFill>
              </a:rPr>
              <a:t>S11010001A01010011A010</a:t>
            </a:r>
            <a:endParaRPr lang="ko-KR" altLang="ko-KR" sz="2000" b="1" dirty="0">
              <a:solidFill>
                <a:srgbClr val="FFFF00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897820" y="5715910"/>
            <a:ext cx="889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rgbClr val="FFFF00"/>
                </a:solidFill>
              </a:rPr>
              <a:t>0x68W</a:t>
            </a:r>
            <a:endParaRPr lang="en-US" altLang="ko-KR" b="1" dirty="0">
              <a:solidFill>
                <a:srgbClr val="FFFF00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310248" y="5685294"/>
            <a:ext cx="688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rgbClr val="FFFF00"/>
                </a:solidFill>
              </a:rPr>
              <a:t>0x00</a:t>
            </a:r>
            <a:endParaRPr lang="en-US" altLang="ko-KR" b="1" dirty="0">
              <a:solidFill>
                <a:srgbClr val="FFFF00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833188" y="5660698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rgbClr val="FFFF00"/>
                </a:solidFill>
              </a:rPr>
              <a:t>0x68R</a:t>
            </a:r>
            <a:endParaRPr lang="en-US" altLang="ko-KR" b="1" dirty="0">
              <a:solidFill>
                <a:srgbClr val="FFFF00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917008" y="5655774"/>
            <a:ext cx="1016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rgbClr val="FFFF00"/>
                </a:solidFill>
              </a:rPr>
              <a:t>CH0x53</a:t>
            </a:r>
            <a:endParaRPr lang="en-US" altLang="ko-KR" b="1" dirty="0">
              <a:solidFill>
                <a:srgbClr val="FFFF00"/>
              </a:solidFill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4959257" y="3137911"/>
            <a:ext cx="0" cy="32685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6364807" y="3193093"/>
            <a:ext cx="0" cy="32685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912765" y="3224064"/>
            <a:ext cx="0" cy="32685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9220865" y="3109764"/>
            <a:ext cx="0" cy="32685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1" name="그림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7" y="3444265"/>
            <a:ext cx="2589568" cy="18471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05480" y="1929500"/>
            <a:ext cx="13163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lang="en-US" dirty="0"/>
              <a:t>SCL : Clock</a:t>
            </a:r>
          </a:p>
          <a:p>
            <a:pPr>
              <a:defRPr sz="1100"/>
            </a:pPr>
            <a:r>
              <a:rPr lang="en-US" dirty="0"/>
              <a:t>SDA : Data</a:t>
            </a:r>
          </a:p>
          <a:p>
            <a:pPr>
              <a:defRPr sz="1100"/>
            </a:pPr>
            <a:r>
              <a:rPr lang="en-US" dirty="0"/>
              <a:t>ACK : </a:t>
            </a:r>
            <a:r>
              <a:rPr lang="ko-KR" altLang="en-US" dirty="0"/>
              <a:t>수신 확인</a:t>
            </a:r>
          </a:p>
          <a:p>
            <a:pPr>
              <a:defRPr sz="1100"/>
            </a:pPr>
            <a:r>
              <a:rPr lang="en-US" dirty="0"/>
              <a:t>NACK : </a:t>
            </a:r>
            <a:r>
              <a:rPr lang="ko-KR" altLang="en-US" dirty="0"/>
              <a:t>읽기 종료</a:t>
            </a:r>
            <a:endParaRPr lang="en-US" dirty="0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38" y="5435106"/>
            <a:ext cx="2876418" cy="1343212"/>
          </a:xfrm>
          <a:prstGeom prst="rect">
            <a:avLst/>
          </a:prstGeom>
        </p:spPr>
      </p:pic>
      <p:sp>
        <p:nvSpPr>
          <p:cNvPr id="43" name="직사각형 42"/>
          <p:cNvSpPr/>
          <p:nvPr/>
        </p:nvSpPr>
        <p:spPr>
          <a:xfrm>
            <a:off x="6406701" y="6485733"/>
            <a:ext cx="891073" cy="223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1805440" y="5355216"/>
            <a:ext cx="122711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/>
              <a:t>T = 1 / 200,000</a:t>
            </a:r>
          </a:p>
          <a:p>
            <a:r>
              <a:rPr lang="en-US" altLang="ko-KR" sz="1100" dirty="0"/>
              <a:t>  = 0.000005 s</a:t>
            </a:r>
          </a:p>
          <a:p>
            <a:r>
              <a:rPr lang="en-US" altLang="ko-KR" sz="1100" dirty="0"/>
              <a:t>  = 5 µs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939064" y="5435695"/>
            <a:ext cx="752010" cy="223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ounded Rectangle 13"/>
          <p:cNvSpPr/>
          <p:nvPr/>
        </p:nvSpPr>
        <p:spPr>
          <a:xfrm>
            <a:off x="3032555" y="1121024"/>
            <a:ext cx="8883219" cy="657316"/>
          </a:xfrm>
          <a:prstGeom prst="roundRect">
            <a:avLst/>
          </a:prstGeom>
          <a:solidFill>
            <a:srgbClr val="D6DCE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직사각형 5"/>
          <p:cNvSpPr/>
          <p:nvPr/>
        </p:nvSpPr>
        <p:spPr>
          <a:xfrm>
            <a:off x="3134777" y="1163900"/>
            <a:ext cx="98193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 smtClean="0"/>
              <a:t>• </a:t>
            </a:r>
            <a:r>
              <a:rPr lang="en-US" altLang="ko-KR" sz="1600" b="1" dirty="0"/>
              <a:t>Slave Address : </a:t>
            </a:r>
            <a:r>
              <a:rPr lang="en-US" altLang="ko-KR" sz="1600" b="1" dirty="0" smtClean="0"/>
              <a:t>0x68	• </a:t>
            </a:r>
            <a:r>
              <a:rPr lang="en-US" altLang="ko-KR" sz="1600" b="1" dirty="0"/>
              <a:t>Read Frame  : </a:t>
            </a:r>
            <a:r>
              <a:rPr lang="en-US" altLang="ko-KR" sz="1600" b="1" dirty="0" smtClean="0"/>
              <a:t>0xD1	</a:t>
            </a:r>
            <a:r>
              <a:rPr lang="en-US" altLang="ko-KR" sz="1600" b="1" dirty="0"/>
              <a:t>• </a:t>
            </a:r>
            <a:r>
              <a:rPr lang="ko-KR" altLang="en-US" sz="1600" b="1" dirty="0"/>
              <a:t>설정 모드에서 </a:t>
            </a:r>
            <a:r>
              <a:rPr lang="en-US" altLang="ko-KR" sz="1600" b="1" dirty="0"/>
              <a:t>Register </a:t>
            </a:r>
            <a:r>
              <a:rPr lang="ko-KR" altLang="en-US" sz="1600" b="1" dirty="0" smtClean="0"/>
              <a:t>쓰기</a:t>
            </a:r>
            <a:endParaRPr lang="en-US" altLang="ko-KR" sz="1600" b="1" dirty="0"/>
          </a:p>
          <a:p>
            <a:r>
              <a:rPr lang="en-US" altLang="ko-KR" sz="1600" b="1" dirty="0"/>
              <a:t>• Write Frame : </a:t>
            </a:r>
            <a:r>
              <a:rPr lang="en-US" altLang="ko-KR" sz="1600" b="1" dirty="0" smtClean="0"/>
              <a:t>0xD0	</a:t>
            </a:r>
            <a:r>
              <a:rPr lang="en-US" altLang="ko-KR" sz="1600" b="1" dirty="0"/>
              <a:t>• </a:t>
            </a:r>
            <a:r>
              <a:rPr lang="ko-KR" altLang="en-US" sz="1600" b="1" dirty="0"/>
              <a:t>시간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날짜 </a:t>
            </a:r>
            <a:r>
              <a:rPr lang="en-US" altLang="ko-KR" sz="1600" b="1" dirty="0"/>
              <a:t>Register </a:t>
            </a:r>
            <a:r>
              <a:rPr lang="ko-KR" altLang="en-US" sz="1600" b="1" dirty="0" smtClean="0"/>
              <a:t>읽기</a:t>
            </a:r>
            <a:r>
              <a:rPr lang="en-US" altLang="ko-KR" sz="1600" b="1" dirty="0" smtClean="0"/>
              <a:t>	</a:t>
            </a:r>
            <a:r>
              <a:rPr lang="en-US" altLang="ko-KR" sz="1600" b="1" dirty="0"/>
              <a:t>• BCD ↔ Decimal </a:t>
            </a:r>
            <a:r>
              <a:rPr lang="ko-KR" altLang="en-US" sz="1600" b="1" dirty="0" smtClean="0"/>
              <a:t>변환</a:t>
            </a:r>
            <a:endParaRPr lang="ko-KR" altLang="en-US" sz="120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8938" y="1802252"/>
            <a:ext cx="6001588" cy="137179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3223860"/>
            <a:ext cx="2238687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3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028400" y="272716"/>
            <a:ext cx="5976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Infix -&gt; Postfix Algorithm	/ Stack</a:t>
            </a:r>
            <a:endParaRPr lang="ko-KR" altLang="en-US" sz="2800" spc="-150" dirty="0">
              <a:solidFill>
                <a:schemeClr val="tx1">
                  <a:lumMod val="85000"/>
                  <a:lumOff val="15000"/>
                </a:schemeClr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0A2222-1861-0C93-F3FF-B480F0A8C532}"/>
              </a:ext>
            </a:extLst>
          </p:cNvPr>
          <p:cNvSpPr/>
          <p:nvPr/>
        </p:nvSpPr>
        <p:spPr>
          <a:xfrm>
            <a:off x="233535" y="870698"/>
            <a:ext cx="2041451" cy="1918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86559F-3837-B749-A77F-EE960F0146CE}"/>
              </a:ext>
            </a:extLst>
          </p:cNvPr>
          <p:cNvSpPr/>
          <p:nvPr/>
        </p:nvSpPr>
        <p:spPr>
          <a:xfrm>
            <a:off x="233535" y="870696"/>
            <a:ext cx="2041451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C8C25A-844B-8FFA-1272-6223DD0085C9}"/>
              </a:ext>
            </a:extLst>
          </p:cNvPr>
          <p:cNvSpPr/>
          <p:nvPr/>
        </p:nvSpPr>
        <p:spPr>
          <a:xfrm>
            <a:off x="9466161" y="870696"/>
            <a:ext cx="2326563" cy="1918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F95BF3-A33E-3ED4-D4B8-1B89DC6B1DC5}"/>
              </a:ext>
            </a:extLst>
          </p:cNvPr>
          <p:cNvSpPr/>
          <p:nvPr/>
        </p:nvSpPr>
        <p:spPr>
          <a:xfrm>
            <a:off x="2903191" y="870698"/>
            <a:ext cx="2588824" cy="1918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70CC38-9B93-3086-7155-DB6D495644D4}"/>
              </a:ext>
            </a:extLst>
          </p:cNvPr>
          <p:cNvSpPr/>
          <p:nvPr/>
        </p:nvSpPr>
        <p:spPr>
          <a:xfrm>
            <a:off x="6391194" y="870698"/>
            <a:ext cx="2509234" cy="1918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5BD38-1355-AAE3-2553-362CAFB84745}"/>
              </a:ext>
            </a:extLst>
          </p:cNvPr>
          <p:cNvSpPr txBox="1"/>
          <p:nvPr/>
        </p:nvSpPr>
        <p:spPr>
          <a:xfrm>
            <a:off x="2358000" y="1645142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F86137-706A-7C35-3E7B-48C64B8441B0}"/>
              </a:ext>
            </a:extLst>
          </p:cNvPr>
          <p:cNvSpPr txBox="1"/>
          <p:nvPr/>
        </p:nvSpPr>
        <p:spPr>
          <a:xfrm>
            <a:off x="5716194" y="1642029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2AFCB4-70C9-58E5-F2A7-831DC41BFDD2}"/>
              </a:ext>
            </a:extLst>
          </p:cNvPr>
          <p:cNvSpPr txBox="1"/>
          <p:nvPr/>
        </p:nvSpPr>
        <p:spPr>
          <a:xfrm>
            <a:off x="8969011" y="1645142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B041E-DDEB-6C62-ECA0-3BC0C2E9BA85}"/>
              </a:ext>
            </a:extLst>
          </p:cNvPr>
          <p:cNvSpPr txBox="1"/>
          <p:nvPr/>
        </p:nvSpPr>
        <p:spPr>
          <a:xfrm>
            <a:off x="854630" y="985669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피연산자 처리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1F45B0-605A-3EEB-231C-67A24AD70A01}"/>
              </a:ext>
            </a:extLst>
          </p:cNvPr>
          <p:cNvSpPr/>
          <p:nvPr/>
        </p:nvSpPr>
        <p:spPr>
          <a:xfrm>
            <a:off x="2903190" y="870696"/>
            <a:ext cx="2588824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6FD89-E348-2DE4-1889-54E2ADFDD6B6}"/>
              </a:ext>
            </a:extLst>
          </p:cNvPr>
          <p:cNvSpPr txBox="1"/>
          <p:nvPr/>
        </p:nvSpPr>
        <p:spPr>
          <a:xfrm>
            <a:off x="3820581" y="985669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연산자 처리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1A3D78-ED92-F94F-B0D0-BC15DEBDC75A}"/>
              </a:ext>
            </a:extLst>
          </p:cNvPr>
          <p:cNvSpPr/>
          <p:nvPr/>
        </p:nvSpPr>
        <p:spPr>
          <a:xfrm>
            <a:off x="6391192" y="870696"/>
            <a:ext cx="2509234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09BDDB-F8CF-CC54-B1E4-A028C81111AD}"/>
              </a:ext>
            </a:extLst>
          </p:cNvPr>
          <p:cNvSpPr txBox="1"/>
          <p:nvPr/>
        </p:nvSpPr>
        <p:spPr>
          <a:xfrm>
            <a:off x="7149546" y="985669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괄호 처리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681D37-D302-8C28-4973-B7F299E24EAC}"/>
              </a:ext>
            </a:extLst>
          </p:cNvPr>
          <p:cNvSpPr/>
          <p:nvPr/>
        </p:nvSpPr>
        <p:spPr>
          <a:xfrm>
            <a:off x="9466163" y="870696"/>
            <a:ext cx="2326563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3BEDFB-CD23-0158-3EC2-D039ED625191}"/>
              </a:ext>
            </a:extLst>
          </p:cNvPr>
          <p:cNvSpPr txBox="1"/>
          <p:nvPr/>
        </p:nvSpPr>
        <p:spPr>
          <a:xfrm>
            <a:off x="10234506" y="985669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종료 처리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2E9DD-A907-410C-F125-ADC1C9942C5F}"/>
              </a:ext>
            </a:extLst>
          </p:cNvPr>
          <p:cNvSpPr txBox="1"/>
          <p:nvPr/>
        </p:nvSpPr>
        <p:spPr>
          <a:xfrm>
            <a:off x="403260" y="1589218"/>
            <a:ext cx="1682895" cy="833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숫자 또는 변수를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만나면 즉시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출력 버퍼에 저장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45D7FA-2EDE-736A-9A25-5D557ABCECD3}"/>
              </a:ext>
            </a:extLst>
          </p:cNvPr>
          <p:cNvSpPr txBox="1"/>
          <p:nvPr/>
        </p:nvSpPr>
        <p:spPr>
          <a:xfrm>
            <a:off x="3070861" y="1562996"/>
            <a:ext cx="2230032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스택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top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연산자의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우선순위가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현재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연산자보다 높거나 같으면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POP </a:t>
            </a:r>
            <a:r>
              <a:rPr lang="ko-KR" altLang="en-US" sz="1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출력 이후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현재 연산자를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PUSH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67BD25-5B93-EA6F-5BCB-D6D765DDE32D}"/>
              </a:ext>
            </a:extLst>
          </p:cNvPr>
          <p:cNvSpPr txBox="1"/>
          <p:nvPr/>
        </p:nvSpPr>
        <p:spPr>
          <a:xfrm>
            <a:off x="6487436" y="1528258"/>
            <a:ext cx="2334188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dirty="0"/>
              <a:t>'('</a:t>
            </a:r>
            <a:r>
              <a:rPr lang="ko-KR" altLang="en-US" sz="1400" dirty="0"/>
              <a:t>는 스택에 </a:t>
            </a:r>
            <a:r>
              <a:rPr lang="en-US" altLang="ko-KR" sz="1400" dirty="0"/>
              <a:t>PUSH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dirty="0"/>
              <a:t>')'</a:t>
            </a:r>
            <a:r>
              <a:rPr lang="ko-KR" altLang="en-US" sz="1400" dirty="0"/>
              <a:t>는 </a:t>
            </a:r>
            <a:r>
              <a:rPr lang="en-US" altLang="ko-KR" sz="1400" dirty="0"/>
              <a:t>'('</a:t>
            </a:r>
            <a:r>
              <a:rPr lang="ko-KR" altLang="en-US" sz="1400" dirty="0"/>
              <a:t>가 나올 때까지 </a:t>
            </a:r>
            <a:r>
              <a:rPr lang="en-US" altLang="ko-KR" sz="1400" dirty="0"/>
              <a:t>POP </a:t>
            </a:r>
            <a:r>
              <a:rPr lang="ko-KR" altLang="en-US" sz="1400" dirty="0"/>
              <a:t>출력</a:t>
            </a:r>
          </a:p>
          <a:p>
            <a:pPr algn="just">
              <a:lnSpc>
                <a:spcPct val="120000"/>
              </a:lnSpc>
            </a:pPr>
            <a:r>
              <a:rPr lang="en-US" altLang="ko-KR" sz="1400" dirty="0"/>
              <a:t>'('</a:t>
            </a:r>
            <a:r>
              <a:rPr lang="ko-KR" altLang="en-US" sz="1400" dirty="0"/>
              <a:t>는 출력하지 않고 제거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17F5C0-7DEE-E4FF-F4EC-87DA8045BD02}"/>
              </a:ext>
            </a:extLst>
          </p:cNvPr>
          <p:cNvSpPr txBox="1"/>
          <p:nvPr/>
        </p:nvSpPr>
        <p:spPr>
          <a:xfrm>
            <a:off x="9808473" y="1633518"/>
            <a:ext cx="1760828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dirty="0"/>
              <a:t>입력이 </a:t>
            </a:r>
            <a:r>
              <a:rPr lang="ko-KR" altLang="en-US" sz="1400" dirty="0" smtClean="0"/>
              <a:t>끝나면 스택에 </a:t>
            </a:r>
            <a:r>
              <a:rPr lang="ko-KR" altLang="en-US" sz="1400" dirty="0"/>
              <a:t>남은 모든 연산자를 </a:t>
            </a:r>
            <a:r>
              <a:rPr lang="en-US" altLang="ko-KR" sz="1400" dirty="0"/>
              <a:t>POP </a:t>
            </a:r>
            <a:r>
              <a:rPr lang="ko-KR" altLang="en-US" sz="1400" dirty="0"/>
              <a:t>출력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4016558" y="7173066"/>
            <a:ext cx="5214054" cy="3876101"/>
            <a:chOff x="3934718" y="795936"/>
            <a:chExt cx="7755258" cy="5490902"/>
          </a:xfrm>
        </p:grpSpPr>
        <p:pic>
          <p:nvPicPr>
            <p:cNvPr id="25" name="Picture 2" descr="https://upload.wikimedia.org/wikipedia/commons/thumb/e/e4/Lifo_stack.svg/1280px-Lifo_stack.svg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527" y="1073836"/>
              <a:ext cx="7188507" cy="5026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3BB2C81-2C36-BFAF-F8BF-91BC4B766C18}"/>
                </a:ext>
              </a:extLst>
            </p:cNvPr>
            <p:cNvSpPr/>
            <p:nvPr/>
          </p:nvSpPr>
          <p:spPr>
            <a:xfrm>
              <a:off x="3934718" y="795936"/>
              <a:ext cx="7755258" cy="54909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373445" y="9680254"/>
            <a:ext cx="2489415" cy="455044"/>
            <a:chOff x="6463084" y="6392022"/>
            <a:chExt cx="2489415" cy="455044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533E35D-5D7C-9775-C063-E4161DFEE7C5}"/>
                </a:ext>
              </a:extLst>
            </p:cNvPr>
            <p:cNvSpPr/>
            <p:nvPr/>
          </p:nvSpPr>
          <p:spPr>
            <a:xfrm>
              <a:off x="6463084" y="6392022"/>
              <a:ext cx="2489415" cy="4550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6EE510B-CBB0-C770-7D0F-5E75EBB47954}"/>
                </a:ext>
              </a:extLst>
            </p:cNvPr>
            <p:cNvSpPr txBox="1"/>
            <p:nvPr/>
          </p:nvSpPr>
          <p:spPr>
            <a:xfrm>
              <a:off x="6740827" y="6443638"/>
              <a:ext cx="20679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POP( )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881CF8-446C-F0A6-C23F-73C4527DDE49}"/>
              </a:ext>
            </a:extLst>
          </p:cNvPr>
          <p:cNvSpPr/>
          <p:nvPr/>
        </p:nvSpPr>
        <p:spPr>
          <a:xfrm>
            <a:off x="1371511" y="7366733"/>
            <a:ext cx="2489415" cy="4550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0C095E96-C995-F11E-293F-F485FC4E3223}"/>
              </a:ext>
            </a:extLst>
          </p:cNvPr>
          <p:cNvSpPr/>
          <p:nvPr/>
        </p:nvSpPr>
        <p:spPr>
          <a:xfrm rot="10800000">
            <a:off x="2528222" y="8278266"/>
            <a:ext cx="175985" cy="156335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2" name="그룹 1"/>
          <p:cNvGrpSpPr/>
          <p:nvPr/>
        </p:nvGrpSpPr>
        <p:grpSpPr>
          <a:xfrm>
            <a:off x="1361609" y="8523493"/>
            <a:ext cx="2489415" cy="455044"/>
            <a:chOff x="6463085" y="4633637"/>
            <a:chExt cx="2489415" cy="455044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B4B4394-508A-F880-4605-DC3ED74B1F1F}"/>
                </a:ext>
              </a:extLst>
            </p:cNvPr>
            <p:cNvSpPr/>
            <p:nvPr/>
          </p:nvSpPr>
          <p:spPr>
            <a:xfrm>
              <a:off x="6463085" y="4633637"/>
              <a:ext cx="2489415" cy="4550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EF7AA54-918F-E449-38FE-9DB519BCC48F}"/>
                </a:ext>
              </a:extLst>
            </p:cNvPr>
            <p:cNvSpPr txBox="1"/>
            <p:nvPr/>
          </p:nvSpPr>
          <p:spPr>
            <a:xfrm>
              <a:off x="6620769" y="4672710"/>
              <a:ext cx="2304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PUSH(</a:t>
              </a:r>
              <a:r>
                <a:rPr lang="en-US" altLang="ko-KR" b="1" dirty="0">
                  <a:solidFill>
                    <a:schemeClr val="bg1"/>
                  </a:solidFill>
                </a:rPr>
                <a:t>2</a:t>
              </a:r>
              <a:r>
                <a:rPr lang="ko-KR" altLang="en-US" b="1" dirty="0">
                  <a:solidFill>
                    <a:schemeClr val="bg1"/>
                  </a:solidFill>
                </a:rPr>
                <a:t>)</a:t>
              </a:r>
            </a:p>
          </p:txBody>
        </p:sp>
      </p:grp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8AECA5E6-28CC-9BFF-90A6-0B495ACFC4F9}"/>
              </a:ext>
            </a:extLst>
          </p:cNvPr>
          <p:cNvSpPr/>
          <p:nvPr/>
        </p:nvSpPr>
        <p:spPr>
          <a:xfrm rot="10800000">
            <a:off x="2509631" y="9424343"/>
            <a:ext cx="175985" cy="156335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F7AA54-918F-E449-38FE-9DB519BCC48F}"/>
              </a:ext>
            </a:extLst>
          </p:cNvPr>
          <p:cNvSpPr txBox="1"/>
          <p:nvPr/>
        </p:nvSpPr>
        <p:spPr>
          <a:xfrm>
            <a:off x="1491094" y="7373490"/>
            <a:ext cx="230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[ STACK 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53C824-937A-E110-963F-5F8649640E2E}"/>
              </a:ext>
            </a:extLst>
          </p:cNvPr>
          <p:cNvSpPr txBox="1"/>
          <p:nvPr/>
        </p:nvSpPr>
        <p:spPr>
          <a:xfrm>
            <a:off x="1491094" y="7905201"/>
            <a:ext cx="21236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top = </a:t>
            </a:r>
            <a:r>
              <a:rPr lang="en-US" altLang="ko-KR" sz="1100" dirty="0"/>
              <a:t>0</a:t>
            </a:r>
            <a:r>
              <a:rPr lang="ko-KR" altLang="en-US" sz="1100" dirty="0"/>
              <a:t> (스택에 </a:t>
            </a:r>
            <a:r>
              <a:rPr lang="en-US" altLang="ko-KR" sz="1100" dirty="0"/>
              <a:t>1</a:t>
            </a:r>
            <a:r>
              <a:rPr lang="ko-KR" altLang="en-US" sz="1100" dirty="0"/>
              <a:t>개가 있음)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88B951-445B-EE1A-916B-A8BF6CFE58AC}"/>
              </a:ext>
            </a:extLst>
          </p:cNvPr>
          <p:cNvSpPr txBox="1"/>
          <p:nvPr/>
        </p:nvSpPr>
        <p:spPr>
          <a:xfrm>
            <a:off x="1751936" y="9111117"/>
            <a:ext cx="16432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top++, </a:t>
            </a:r>
            <a:r>
              <a:rPr lang="ko-KR" altLang="en-US" sz="1100" dirty="0" err="1"/>
              <a:t>stack</a:t>
            </a:r>
            <a:r>
              <a:rPr lang="ko-KR" altLang="en-US" sz="1100" dirty="0"/>
              <a:t>[</a:t>
            </a:r>
            <a:r>
              <a:rPr lang="ko-KR" altLang="en-US" sz="1100" dirty="0" err="1"/>
              <a:t>top</a:t>
            </a:r>
            <a:r>
              <a:rPr lang="ko-KR" altLang="en-US" sz="1100" dirty="0"/>
              <a:t>]=</a:t>
            </a:r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CA7F28-1BA9-633D-4F8E-6D730B3B3494}"/>
              </a:ext>
            </a:extLst>
          </p:cNvPr>
          <p:cNvSpPr txBox="1"/>
          <p:nvPr/>
        </p:nvSpPr>
        <p:spPr>
          <a:xfrm>
            <a:off x="1850520" y="10258370"/>
            <a:ext cx="1531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res=stack[top], top--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42" y="2852982"/>
            <a:ext cx="5284153" cy="3963115"/>
          </a:xfrm>
          <a:prstGeom prst="rect">
            <a:avLst/>
          </a:prstGeom>
        </p:spPr>
      </p:pic>
      <p:sp>
        <p:nvSpPr>
          <p:cNvPr id="38" name="AutoShape 2" descr="https://chatgpt.com/backend-api/estuary/content?id=file_00000000ab347209b2ace05cc500bf32&amp;ts=495274&amp;p=fs&amp;cid=1&amp;sig=acd95d009eb3968d27ddf2b449e9691645e5ecec1c88c6bfe9ccb1f5feb0ec40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63" y="2869658"/>
            <a:ext cx="5474484" cy="393448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0F86137-706A-7C35-3E7B-48C64B8441B0}"/>
              </a:ext>
            </a:extLst>
          </p:cNvPr>
          <p:cNvSpPr txBox="1"/>
          <p:nvPr/>
        </p:nvSpPr>
        <p:spPr>
          <a:xfrm>
            <a:off x="5703159" y="4687677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107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914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200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548640"/>
            <a:ext cx="0" cy="566928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" y="9144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" y="2286000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" y="3942607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" y="5314207"/>
            <a:ext cx="11247120" cy="0"/>
          </a:xfrm>
          <a:prstGeom prst="line">
            <a:avLst/>
          </a:prstGeom>
          <a:ln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5652" y="969264"/>
            <a:ext cx="3657600" cy="237744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" y="914400"/>
            <a:ext cx="3657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5760" y="914400"/>
            <a:ext cx="3657600" cy="5943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 smtClean="0"/>
              <a:t>LCD1602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306824" y="969264"/>
            <a:ext cx="3657600" cy="237744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51960" y="914400"/>
            <a:ext cx="3657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51960" y="914400"/>
            <a:ext cx="3657600" cy="594360"/>
          </a:xfrm>
          <a:prstGeom prst="round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 smtClean="0"/>
              <a:t>PUSH BOTTON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8193024" y="969264"/>
            <a:ext cx="3657600" cy="237744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38160" y="914400"/>
            <a:ext cx="3657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38160" y="914400"/>
            <a:ext cx="3657600" cy="594360"/>
          </a:xfrm>
          <a:prstGeom prst="roundRect">
            <a:avLst/>
          </a:prstGeom>
          <a:solidFill>
            <a:srgbClr val="0079BF"/>
          </a:solidFill>
          <a:ln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 smtClean="0"/>
              <a:t>DS 1307 RTC (I2C)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420624" y="3997470"/>
            <a:ext cx="3657600" cy="256032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65760" y="3942607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306824" y="3997470"/>
            <a:ext cx="3657600" cy="256032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51960" y="3942607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251960" y="3942607"/>
            <a:ext cx="3657600" cy="59436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 smtClean="0"/>
              <a:t>CALCULATOR MODULE</a:t>
            </a:r>
            <a:endParaRPr dirty="0"/>
          </a:p>
        </p:txBody>
      </p:sp>
      <p:sp>
        <p:nvSpPr>
          <p:cNvPr id="45" name="Rounded Rectangle 44"/>
          <p:cNvSpPr/>
          <p:nvPr/>
        </p:nvSpPr>
        <p:spPr>
          <a:xfrm>
            <a:off x="8193024" y="3997470"/>
            <a:ext cx="3657600" cy="2560320"/>
          </a:xfrm>
          <a:prstGeom prst="round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138160" y="3942607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138160" y="3942607"/>
            <a:ext cx="3657600" cy="594360"/>
          </a:xfrm>
          <a:prstGeom prst="roundRect">
            <a:avLst/>
          </a:prstGeom>
          <a:solidFill>
            <a:srgbClr val="006064"/>
          </a:solidFill>
          <a:ln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 smtClean="0"/>
              <a:t>SYSTEM CONTROL</a:t>
            </a:r>
            <a:endParaRPr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4777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accent1"/>
                </a:solidFill>
              </a:rPr>
              <a:t>Module Function Structure</a:t>
            </a:r>
            <a:endParaRPr lang="ko-KR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" y="3942607"/>
            <a:ext cx="3657600" cy="594360"/>
          </a:xfrm>
          <a:prstGeom prst="round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 smtClean="0"/>
              <a:t>4*4 KEYPAD</a:t>
            </a:r>
            <a:endParaRPr dirty="0"/>
          </a:p>
        </p:txBody>
      </p:sp>
      <p:sp>
        <p:nvSpPr>
          <p:cNvPr id="57" name="TextBox 56"/>
          <p:cNvSpPr txBox="1"/>
          <p:nvPr/>
        </p:nvSpPr>
        <p:spPr>
          <a:xfrm>
            <a:off x="595397" y="5769530"/>
            <a:ext cx="1534394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lang="en-US" dirty="0" err="1"/>
              <a:t>init_keypad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 err="1"/>
              <a:t>keypad_scan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 err="1"/>
              <a:t>keypad_get_button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4506790" y="5725864"/>
            <a:ext cx="2626040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lang="en-US" dirty="0" err="1"/>
              <a:t>calculator_text_lcd_Synchronization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 err="1"/>
              <a:t>back_display_make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 err="1"/>
              <a:t>back_display_carculate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8682671" y="5700144"/>
            <a:ext cx="222689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lang="en-US" dirty="0"/>
              <a:t>_</a:t>
            </a:r>
            <a:r>
              <a:rPr lang="en-US" dirty="0" err="1"/>
              <a:t>RTC_LCD_calculator_control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/>
              <a:t>init_timer0()</a:t>
            </a:r>
          </a:p>
          <a:p>
            <a:pPr>
              <a:defRPr sz="1100"/>
            </a:pPr>
            <a:r>
              <a:rPr lang="en-US" dirty="0"/>
              <a:t>ISR(TIMER0_OVF_vect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595397" y="2026448"/>
            <a:ext cx="1699504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lang="en-US" dirty="0" err="1"/>
              <a:t>lcd_init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 err="1" smtClean="0"/>
              <a:t>lcd_write_data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 err="1"/>
              <a:t>lcd_goto_xy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 err="1"/>
              <a:t>lcd_clear</a:t>
            </a:r>
            <a:r>
              <a:rPr lang="en-US" dirty="0" smtClean="0"/>
              <a:t>()</a:t>
            </a:r>
          </a:p>
          <a:p>
            <a:pPr>
              <a:defRPr sz="1100"/>
            </a:pPr>
            <a:r>
              <a:rPr lang="en-US" altLang="ko-KR" dirty="0" err="1"/>
              <a:t>lcd_write_command</a:t>
            </a:r>
            <a:r>
              <a:rPr lang="en-US" altLang="ko-KR" dirty="0" smtClean="0"/>
              <a:t>()</a:t>
            </a:r>
            <a:endParaRPr lang="en-US" dirty="0"/>
          </a:p>
          <a:p>
            <a:pPr>
              <a:defRPr sz="1100"/>
            </a:pPr>
            <a:r>
              <a:rPr lang="en-US" dirty="0" err="1"/>
              <a:t>lcd_write_string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 err="1"/>
              <a:t>lcd_create_char</a:t>
            </a:r>
            <a:r>
              <a:rPr lang="en-US" dirty="0"/>
              <a:t>()</a:t>
            </a:r>
          </a:p>
          <a:p>
            <a:pPr>
              <a:defRPr sz="1100"/>
            </a:pPr>
            <a:r>
              <a:rPr lang="en-US" dirty="0" err="1"/>
              <a:t>lcd_write_cal_window</a:t>
            </a:r>
            <a:r>
              <a:rPr lang="en-US" dirty="0"/>
              <a:t>()</a:t>
            </a:r>
            <a:endParaRPr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849" y="1646805"/>
            <a:ext cx="1951040" cy="96604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745" y="4687566"/>
            <a:ext cx="3228736" cy="861577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5208" y="4646376"/>
            <a:ext cx="2030909" cy="85115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505979" y="2231138"/>
            <a:ext cx="2470548" cy="12772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lang="en-US" dirty="0"/>
              <a:t>i2c_init()</a:t>
            </a:r>
          </a:p>
          <a:p>
            <a:pPr>
              <a:defRPr sz="1100"/>
            </a:pPr>
            <a:r>
              <a:rPr lang="en-US" dirty="0"/>
              <a:t>timer_test_2_set()</a:t>
            </a:r>
          </a:p>
          <a:p>
            <a:pPr>
              <a:defRPr sz="1100"/>
            </a:pPr>
            <a:r>
              <a:rPr lang="en-US" dirty="0"/>
              <a:t>timer_test_2_read()</a:t>
            </a:r>
          </a:p>
          <a:p>
            <a:pPr>
              <a:defRPr sz="1100"/>
            </a:pPr>
            <a:r>
              <a:rPr lang="en-US" dirty="0"/>
              <a:t>dec2bcd()</a:t>
            </a:r>
          </a:p>
          <a:p>
            <a:pPr>
              <a:defRPr sz="1100"/>
            </a:pPr>
            <a:r>
              <a:rPr lang="en-US" dirty="0"/>
              <a:t>bcd2dec()</a:t>
            </a:r>
          </a:p>
          <a:p>
            <a:pPr>
              <a:defRPr sz="1100"/>
            </a:pPr>
            <a:r>
              <a:rPr lang="en-US" dirty="0"/>
              <a:t>ds1307_text_lcd_Synchronization()</a:t>
            </a:r>
          </a:p>
          <a:p>
            <a:pPr>
              <a:defRPr sz="1100"/>
            </a:pPr>
            <a:r>
              <a:rPr lang="en-US" dirty="0"/>
              <a:t>ds1307_watch_setting()</a:t>
            </a:r>
            <a:endParaRPr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954" y="1674577"/>
            <a:ext cx="2610686" cy="77452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619848" y="2631317"/>
            <a:ext cx="24567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lang="en-US" dirty="0" err="1"/>
              <a:t>init_button</a:t>
            </a:r>
            <a:r>
              <a:rPr lang="en-US" dirty="0" smtClean="0"/>
              <a:t>()</a:t>
            </a:r>
            <a:endParaRPr lang="en-US" dirty="0"/>
          </a:p>
          <a:p>
            <a:pPr>
              <a:defRPr sz="1100"/>
            </a:pPr>
            <a:r>
              <a:rPr lang="en-US" dirty="0" err="1"/>
              <a:t>get_button</a:t>
            </a:r>
            <a:r>
              <a:rPr lang="en-US" dirty="0"/>
              <a:t>()</a:t>
            </a:r>
          </a:p>
          <a:p>
            <a:pPr>
              <a:defRPr sz="1100"/>
            </a:pPr>
            <a:endParaRPr lang="en-US" dirty="0"/>
          </a:p>
          <a:p>
            <a:pPr>
              <a:defRPr sz="1100"/>
            </a:pPr>
            <a:r>
              <a:rPr lang="en-US" dirty="0" err="1" smtClean="0"/>
              <a:t>Button_flag</a:t>
            </a:r>
            <a:endParaRPr dirty="0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298" y="4682289"/>
            <a:ext cx="2071663" cy="104872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1" y="1616929"/>
            <a:ext cx="2486569" cy="55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4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350" y="270440"/>
            <a:ext cx="4944165" cy="637311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411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 smtClean="0">
                <a:solidFill>
                  <a:schemeClr val="accent1"/>
                </a:solidFill>
              </a:rPr>
              <a:t>SOURCE CODE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20EF9E1-A069-DDDF-05BE-BB721EEE9931}"/>
              </a:ext>
            </a:extLst>
          </p:cNvPr>
          <p:cNvSpPr txBox="1"/>
          <p:nvPr/>
        </p:nvSpPr>
        <p:spPr>
          <a:xfrm>
            <a:off x="11176910" y="5480291"/>
            <a:ext cx="2954664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QR code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2734" y="5800257"/>
            <a:ext cx="848482" cy="85809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78" y="723563"/>
            <a:ext cx="4790697" cy="582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33484" y="1174410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Main.c</a:t>
            </a:r>
            <a:endParaRPr lang="ko-KR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9736228" y="723563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Ｍ</a:t>
            </a:r>
            <a:r>
              <a:rPr lang="en-US" altLang="ko-KR" b="1" dirty="0" err="1" smtClean="0"/>
              <a:t>enu</a:t>
            </a:r>
            <a:r>
              <a:rPr lang="en-US" altLang="ko-KR" b="1" dirty="0"/>
              <a:t>.</a:t>
            </a:r>
            <a:r>
              <a:rPr lang="ko-KR" altLang="en-US" b="1" dirty="0" err="1" smtClean="0"/>
              <a:t>ｃ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4605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664238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61161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smtClean="0">
                  <a:solidFill>
                    <a:schemeClr val="bg1"/>
                  </a:solidFill>
                  <a:latin typeface="+mn-ea"/>
                </a:rPr>
                <a:t>동작 영상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425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3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err="1" smtClean="0">
                <a:solidFill>
                  <a:schemeClr val="accent1"/>
                </a:solidFill>
              </a:rPr>
              <a:t>동작영상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12C0AA0-E39E-C775-D534-63FAF80A8183}"/>
              </a:ext>
            </a:extLst>
          </p:cNvPr>
          <p:cNvCxnSpPr/>
          <p:nvPr/>
        </p:nvCxnSpPr>
        <p:spPr>
          <a:xfrm>
            <a:off x="144378" y="3242667"/>
            <a:ext cx="12060000" cy="0"/>
          </a:xfrm>
          <a:prstGeom prst="line">
            <a:avLst/>
          </a:prstGeom>
          <a:ln w="12700"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75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2736647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9900" b="1" dirty="0">
                  <a:solidFill>
                    <a:schemeClr val="bg1"/>
                  </a:solidFill>
                  <a:latin typeface="+mj-ea"/>
                  <a:ea typeface="+mj-ea"/>
                </a:rPr>
                <a:t>５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47391" y="3350782"/>
              <a:ext cx="274947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spc="-300" dirty="0" err="1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구현후기</a:t>
              </a:r>
              <a:endParaRPr lang="ko-KR" altLang="en-US" sz="5400" b="1" spc="-3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949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CCCA016-C3D2-955F-012A-E18CDC3A14BA}"/>
              </a:ext>
            </a:extLst>
          </p:cNvPr>
          <p:cNvSpPr/>
          <p:nvPr/>
        </p:nvSpPr>
        <p:spPr>
          <a:xfrm>
            <a:off x="1563434" y="830838"/>
            <a:ext cx="9397889" cy="56331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</a:t>
            </a:r>
            <a:r>
              <a:rPr lang="ko-KR" altLang="en-US" sz="1600" dirty="0" smtClean="0">
                <a:solidFill>
                  <a:schemeClr val="accent1"/>
                </a:solidFill>
              </a:rPr>
              <a:t>５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 smtClean="0">
                <a:solidFill>
                  <a:schemeClr val="accent1"/>
                </a:solidFill>
              </a:rPr>
              <a:t>구현 후기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4624" y="671863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7108444" y="7545151"/>
            <a:ext cx="5719940" cy="16485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ATmega128A </a:t>
            </a:r>
            <a:r>
              <a:rPr lang="ko-KR" altLang="en-US" dirty="0">
                <a:solidFill>
                  <a:schemeClr val="tx1"/>
                </a:solidFill>
              </a:rPr>
              <a:t>기반 </a:t>
            </a: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제어 시스템을 구현하며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FSM, </a:t>
            </a:r>
            <a:r>
              <a:rPr lang="ko-KR" altLang="en-US" dirty="0">
                <a:solidFill>
                  <a:schemeClr val="tx1"/>
                </a:solidFill>
              </a:rPr>
              <a:t>인터럽트</a:t>
            </a:r>
            <a:r>
              <a:rPr lang="en-US" altLang="ko-KR" dirty="0">
                <a:solidFill>
                  <a:schemeClr val="tx1"/>
                </a:solidFill>
              </a:rPr>
              <a:t>, UART, PWM</a:t>
            </a:r>
            <a:r>
              <a:rPr lang="ko-KR" altLang="en-US" dirty="0">
                <a:solidFill>
                  <a:schemeClr val="tx1"/>
                </a:solidFill>
              </a:rPr>
              <a:t>의 동작 원리를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실제 프로젝트에 적용하고 시스템 설계 경험을 습득하였다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B75C303-81E5-C6A9-A7BE-944597D1B4BB}"/>
              </a:ext>
            </a:extLst>
          </p:cNvPr>
          <p:cNvSpPr/>
          <p:nvPr/>
        </p:nvSpPr>
        <p:spPr>
          <a:xfrm>
            <a:off x="12857109" y="3082348"/>
            <a:ext cx="6025689" cy="3050281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kern="1100" spc="-100" dirty="0" smtClean="0">
                <a:solidFill>
                  <a:schemeClr val="tx1"/>
                </a:solidFill>
              </a:rPr>
              <a:t>Non-Blocking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구조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현재는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Trigger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생성에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_</a:t>
            </a:r>
            <a:r>
              <a:rPr lang="en-US" altLang="ko-KR" sz="1600" kern="1100" spc="-100" dirty="0" err="1">
                <a:solidFill>
                  <a:schemeClr val="tx1"/>
                </a:solidFill>
              </a:rPr>
              <a:t>delay_us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()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가 사용되고 있으므로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이를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Timer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기반 상태 처리로 바꾸는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것으로 개선 가능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600" kern="1100" spc="-100" dirty="0" smtClean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 smtClean="0">
                <a:solidFill>
                  <a:schemeClr val="tx1"/>
                </a:solidFill>
              </a:rPr>
            </a:br>
            <a:r>
              <a:rPr lang="ko-KR" altLang="en-US" sz="1600" kern="1100" spc="-100" dirty="0" smtClean="0">
                <a:solidFill>
                  <a:schemeClr val="tx1"/>
                </a:solidFill>
              </a:rPr>
              <a:t>높은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결합도</a:t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FND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가 여러 전역 변수를 직접 참조하기보다 </a:t>
            </a:r>
            <a:r>
              <a:rPr lang="en-US" altLang="ko-KR" sz="1600" kern="1100" spc="-100" dirty="0" err="1">
                <a:solidFill>
                  <a:schemeClr val="tx1"/>
                </a:solidFill>
              </a:rPr>
              <a:t>DriveStatus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구조체를 만들어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변수들을 한 곳에 모으는 것으로 개선 가능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.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 smtClean="0">
                <a:solidFill>
                  <a:schemeClr val="tx1"/>
                </a:solidFill>
              </a:rPr>
              <a:t>UART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명령 </a:t>
            </a:r>
            <a:r>
              <a:rPr lang="en-US" altLang="ko-KR" sz="1600" kern="1100" spc="-100" dirty="0" err="1" smtClean="0">
                <a:solidFill>
                  <a:schemeClr val="tx1"/>
                </a:solidFill>
              </a:rPr>
              <a:t>Parcer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확장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/>
            </a:r>
            <a:br>
              <a:rPr lang="ko-KR" altLang="en-US" sz="1600" kern="1100" spc="-100" dirty="0">
                <a:solidFill>
                  <a:schemeClr val="tx1"/>
                </a:solidFill>
              </a:rPr>
            </a:br>
            <a:r>
              <a:rPr lang="en-US" altLang="ko-KR" sz="1600" kern="1100" spc="-100" dirty="0">
                <a:solidFill>
                  <a:schemeClr val="tx1"/>
                </a:solidFill>
              </a:rPr>
              <a:t>-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잘못된 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UART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명령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센서 이상</a:t>
            </a:r>
            <a:r>
              <a:rPr lang="en-US" altLang="ko-KR" sz="1600" kern="1100" spc="-100" dirty="0">
                <a:solidFill>
                  <a:schemeClr val="tx1"/>
                </a:solidFill>
              </a:rPr>
              <a:t>, </a:t>
            </a:r>
            <a:r>
              <a:rPr lang="ko-KR" altLang="en-US" sz="1600" kern="1100" spc="-100" dirty="0">
                <a:solidFill>
                  <a:schemeClr val="tx1"/>
                </a:solidFill>
              </a:rPr>
              <a:t>비상 정지 등의 처리 구조 </a:t>
            </a:r>
            <a:r>
              <a:rPr lang="ko-KR" altLang="en-US" sz="1600" kern="1100" spc="-100" dirty="0" smtClean="0">
                <a:solidFill>
                  <a:schemeClr val="tx1"/>
                </a:solidFill>
              </a:rPr>
              <a:t>미흡 및 문자열 처리할 수 있도록 명령 테이블 방식으로 개선 가능</a:t>
            </a:r>
            <a:r>
              <a:rPr lang="en-US" altLang="ko-KR" sz="1600" kern="1100" spc="-100" dirty="0" smtClean="0">
                <a:solidFill>
                  <a:schemeClr val="tx1"/>
                </a:solidFill>
              </a:rPr>
              <a:t>.</a:t>
            </a:r>
            <a:endParaRPr lang="ko-KR" altLang="en-US" sz="1600" kern="1100" spc="-1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7FD1A94-54C7-314E-1373-FCC29DAAB342}"/>
              </a:ext>
            </a:extLst>
          </p:cNvPr>
          <p:cNvSpPr/>
          <p:nvPr/>
        </p:nvSpPr>
        <p:spPr>
          <a:xfrm>
            <a:off x="393555" y="1292503"/>
            <a:ext cx="5423045" cy="5359559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solidFill>
                  <a:schemeClr val="tx1"/>
                </a:solidFill>
              </a:rPr>
              <a:t>1. </a:t>
            </a:r>
            <a:r>
              <a:rPr lang="ko-KR" altLang="en-US" b="1" dirty="0" smtClean="0">
                <a:solidFill>
                  <a:schemeClr val="tx1"/>
                </a:solidFill>
              </a:rPr>
              <a:t>같은 </a:t>
            </a:r>
            <a:r>
              <a:rPr lang="ko-KR" altLang="en-US" b="1" dirty="0" err="1" smtClean="0">
                <a:solidFill>
                  <a:schemeClr val="tx1"/>
                </a:solidFill>
              </a:rPr>
              <a:t>포트라인</a:t>
            </a:r>
            <a:r>
              <a:rPr lang="ko-KR" altLang="en-US" b="1" dirty="0" smtClean="0">
                <a:solidFill>
                  <a:schemeClr val="tx1"/>
                </a:solidFill>
              </a:rPr>
              <a:t> 사용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 함께 수정해야 </a:t>
            </a:r>
            <a:r>
              <a:rPr lang="en-US" altLang="ko-KR" sz="1600" dirty="0" smtClean="0">
                <a:solidFill>
                  <a:schemeClr val="tx1"/>
                </a:solidFill>
              </a:rPr>
              <a:t>ds1307</a:t>
            </a:r>
            <a:r>
              <a:rPr lang="ko-KR" altLang="en-US" sz="1600" dirty="0" smtClean="0">
                <a:solidFill>
                  <a:schemeClr val="tx1"/>
                </a:solidFill>
              </a:rPr>
              <a:t>과 </a:t>
            </a:r>
            <a:r>
              <a:rPr lang="en-US" altLang="ko-KR" sz="1600" dirty="0" smtClean="0">
                <a:solidFill>
                  <a:schemeClr val="tx1"/>
                </a:solidFill>
              </a:rPr>
              <a:t>lcd1602</a:t>
            </a:r>
            <a:r>
              <a:rPr lang="ko-KR" altLang="en-US" sz="1600" dirty="0" smtClean="0">
                <a:solidFill>
                  <a:schemeClr val="tx1"/>
                </a:solidFill>
              </a:rPr>
              <a:t>가 같은 </a:t>
            </a:r>
            <a:r>
              <a:rPr lang="en-US" altLang="ko-KR" sz="1600" dirty="0" smtClean="0">
                <a:solidFill>
                  <a:schemeClr val="tx1"/>
                </a:solidFill>
              </a:rPr>
              <a:t>PD</a:t>
            </a:r>
            <a:r>
              <a:rPr lang="ko-KR" altLang="en-US" sz="1600" dirty="0" smtClean="0">
                <a:solidFill>
                  <a:schemeClr val="tx1"/>
                </a:solidFill>
              </a:rPr>
              <a:t>라인을 사용해서 개별 구현 간 문제가 없었으나 모듈 결합 시 문제 발생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b="1" dirty="0" smtClean="0">
                <a:solidFill>
                  <a:schemeClr val="tx1"/>
                </a:solidFill>
              </a:rPr>
              <a:t>2. _delay 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사용으로 인한 버튼 제어 오류</a:t>
            </a:r>
            <a:endParaRPr lang="en-US" altLang="ko-KR" sz="1600" b="1" dirty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 LCD1602</a:t>
            </a:r>
            <a:r>
              <a:rPr lang="ko-KR" altLang="en-US" sz="1600" dirty="0" smtClean="0">
                <a:solidFill>
                  <a:schemeClr val="tx1"/>
                </a:solidFill>
              </a:rPr>
              <a:t>에서 </a:t>
            </a:r>
            <a:r>
              <a:rPr lang="en-US" altLang="ko-KR" sz="1600" dirty="0" smtClean="0">
                <a:solidFill>
                  <a:schemeClr val="tx1"/>
                </a:solidFill>
              </a:rPr>
              <a:t>_delay </a:t>
            </a:r>
            <a:r>
              <a:rPr lang="ko-KR" altLang="en-US" sz="1600" dirty="0" smtClean="0">
                <a:solidFill>
                  <a:schemeClr val="tx1"/>
                </a:solidFill>
              </a:rPr>
              <a:t>함수를 사용함에 따라 쓰기를 하는 순간에 버튼의 입력을 받지 못하는 상황이 발생</a:t>
            </a:r>
            <a:r>
              <a:rPr lang="en-US" altLang="ko-KR" sz="1600" dirty="0" smtClean="0">
                <a:solidFill>
                  <a:schemeClr val="tx1"/>
                </a:solidFill>
              </a:rPr>
              <a:t>, _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delay_us</a:t>
            </a:r>
            <a:r>
              <a:rPr lang="ko-KR" altLang="en-US" sz="1600" dirty="0" smtClean="0">
                <a:solidFill>
                  <a:schemeClr val="tx1"/>
                </a:solidFill>
              </a:rPr>
              <a:t>를 사용해도 제약이 생겨 </a:t>
            </a:r>
            <a:r>
              <a:rPr lang="en-US" altLang="ko-KR" sz="1600" dirty="0" smtClean="0">
                <a:solidFill>
                  <a:schemeClr val="tx1"/>
                </a:solidFill>
              </a:rPr>
              <a:t>Flag </a:t>
            </a:r>
            <a:r>
              <a:rPr lang="ko-KR" altLang="en-US" sz="1600" dirty="0" smtClean="0">
                <a:solidFill>
                  <a:schemeClr val="tx1"/>
                </a:solidFill>
              </a:rPr>
              <a:t>방식으로 </a:t>
            </a:r>
            <a:r>
              <a:rPr lang="en-US" altLang="ko-KR" sz="1600" dirty="0" smtClean="0">
                <a:solidFill>
                  <a:schemeClr val="tx1"/>
                </a:solidFill>
              </a:rPr>
              <a:t>TIMER0_OVF_vect</a:t>
            </a:r>
            <a:r>
              <a:rPr lang="ko-KR" altLang="en-US" sz="1600" dirty="0" smtClean="0">
                <a:solidFill>
                  <a:schemeClr val="tx1"/>
                </a:solidFill>
              </a:rPr>
              <a:t>를 사용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b="1" dirty="0" smtClean="0">
                <a:solidFill>
                  <a:schemeClr val="tx1"/>
                </a:solidFill>
              </a:rPr>
              <a:t>3. </a:t>
            </a:r>
            <a:r>
              <a:rPr lang="ko-KR" altLang="en-US" sz="1600" b="1" dirty="0" err="1" smtClean="0">
                <a:solidFill>
                  <a:schemeClr val="tx1"/>
                </a:solidFill>
              </a:rPr>
              <a:t>수정발진기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(32.768kHz Crystal)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의 고장</a:t>
            </a:r>
            <a:endParaRPr lang="en-US" altLang="ko-KR" sz="1600" b="1" dirty="0" smtClean="0">
              <a:solidFill>
                <a:schemeClr val="tx1"/>
              </a:solidFill>
            </a:endParaRPr>
          </a:p>
          <a:p>
            <a:r>
              <a:rPr lang="ko-KR" altLang="en-US" sz="1600" b="1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Clock </a:t>
            </a:r>
            <a:r>
              <a:rPr lang="en-US" altLang="ko-KR" sz="1600" dirty="0">
                <a:solidFill>
                  <a:schemeClr val="tx1"/>
                </a:solidFill>
              </a:rPr>
              <a:t>Halt (CH) </a:t>
            </a:r>
            <a:r>
              <a:rPr lang="en-US" altLang="ko-KR" sz="1600" dirty="0" smtClean="0">
                <a:solidFill>
                  <a:schemeClr val="tx1"/>
                </a:solidFill>
              </a:rPr>
              <a:t>bit</a:t>
            </a:r>
            <a:r>
              <a:rPr lang="ko-KR" altLang="en-US" sz="1600" dirty="0" smtClean="0">
                <a:solidFill>
                  <a:schemeClr val="tx1"/>
                </a:solidFill>
              </a:rPr>
              <a:t>를 </a:t>
            </a:r>
            <a:r>
              <a:rPr lang="en-US" altLang="ko-KR" sz="1600" dirty="0" smtClean="0">
                <a:solidFill>
                  <a:schemeClr val="tx1"/>
                </a:solidFill>
              </a:rPr>
              <a:t>0</a:t>
            </a:r>
            <a:r>
              <a:rPr lang="ko-KR" altLang="en-US" sz="1600" dirty="0" smtClean="0">
                <a:solidFill>
                  <a:schemeClr val="tx1"/>
                </a:solidFill>
              </a:rPr>
              <a:t>으로 </a:t>
            </a:r>
            <a:r>
              <a:rPr lang="en-US" altLang="ko-KR" sz="1600" dirty="0" smtClean="0">
                <a:solidFill>
                  <a:schemeClr val="tx1"/>
                </a:solidFill>
              </a:rPr>
              <a:t>write </a:t>
            </a:r>
            <a:r>
              <a:rPr lang="ko-KR" altLang="en-US" sz="1600" dirty="0" smtClean="0">
                <a:solidFill>
                  <a:schemeClr val="tx1"/>
                </a:solidFill>
              </a:rPr>
              <a:t>하여도 시간이 흐르지 않아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오실로스코프로</a:t>
            </a:r>
            <a:r>
              <a:rPr lang="ko-KR" altLang="en-US" sz="1600" dirty="0" smtClean="0">
                <a:solidFill>
                  <a:schemeClr val="tx1"/>
                </a:solidFill>
              </a:rPr>
              <a:t> 확인 결과 클럭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미발생을</a:t>
            </a:r>
            <a:r>
              <a:rPr lang="ko-KR" altLang="en-US" sz="1600" dirty="0" smtClean="0">
                <a:solidFill>
                  <a:schemeClr val="tx1"/>
                </a:solidFill>
              </a:rPr>
              <a:t> 발견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DS1307 </a:t>
            </a:r>
            <a:r>
              <a:rPr lang="en-US" altLang="ko-KR" sz="1600" dirty="0">
                <a:solidFill>
                  <a:schemeClr val="tx1"/>
                </a:solidFill>
              </a:rPr>
              <a:t>SQWE = 1 → SQW/OUT </a:t>
            </a:r>
            <a:r>
              <a:rPr lang="ko-KR" altLang="en-US" sz="1600" dirty="0">
                <a:solidFill>
                  <a:schemeClr val="tx1"/>
                </a:solidFill>
              </a:rPr>
              <a:t>핀에서 </a:t>
            </a:r>
            <a:r>
              <a:rPr lang="ko-KR" altLang="en-US" sz="1600" dirty="0" err="1">
                <a:solidFill>
                  <a:schemeClr val="tx1"/>
                </a:solidFill>
              </a:rPr>
              <a:t>사각파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smtClean="0">
                <a:solidFill>
                  <a:schemeClr val="tx1"/>
                </a:solidFill>
              </a:rPr>
              <a:t>출력 확인 가능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  <a:r>
              <a:rPr lang="ko-KR" altLang="en-US" sz="1600" dirty="0">
                <a:solidFill>
                  <a:schemeClr val="tx1"/>
                </a:solidFill>
              </a:rPr>
              <a:t/>
            </a:r>
            <a:br>
              <a:rPr lang="ko-KR" altLang="en-US" sz="1600" dirty="0">
                <a:solidFill>
                  <a:schemeClr val="tx1"/>
                </a:solidFill>
              </a:rPr>
            </a:b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1F3E0B-13AF-3324-EB69-85A207AF6982}"/>
              </a:ext>
            </a:extLst>
          </p:cNvPr>
          <p:cNvSpPr/>
          <p:nvPr/>
        </p:nvSpPr>
        <p:spPr>
          <a:xfrm>
            <a:off x="-3437598" y="7539713"/>
            <a:ext cx="9880670" cy="16394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이번 프로젝트를 통해 단순히 주변장치를 제어하는 수준을 넘어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FSM</a:t>
            </a:r>
            <a:r>
              <a:rPr lang="ko-KR" altLang="en-US" dirty="0">
                <a:solidFill>
                  <a:schemeClr val="tx1"/>
                </a:solidFill>
              </a:rPr>
              <a:t>을 이용한 상태 관리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인터럽트 기반 시간 제어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UART </a:t>
            </a:r>
            <a:r>
              <a:rPr lang="ko-KR" altLang="en-US" dirty="0">
                <a:solidFill>
                  <a:schemeClr val="tx1"/>
                </a:solidFill>
              </a:rPr>
              <a:t>명령 </a:t>
            </a:r>
            <a:r>
              <a:rPr lang="ko-KR" altLang="en-US" dirty="0" err="1">
                <a:solidFill>
                  <a:schemeClr val="tx1"/>
                </a:solidFill>
              </a:rPr>
              <a:t>파싱</a:t>
            </a:r>
            <a:r>
              <a:rPr lang="ko-KR" altLang="en-US" dirty="0">
                <a:solidFill>
                  <a:schemeClr val="tx1"/>
                </a:solidFill>
              </a:rPr>
              <a:t> 및 </a:t>
            </a:r>
            <a:r>
              <a:rPr lang="en-US" altLang="ko-KR" dirty="0">
                <a:solidFill>
                  <a:schemeClr val="tx1"/>
                </a:solidFill>
              </a:rPr>
              <a:t>PWM </a:t>
            </a:r>
            <a:r>
              <a:rPr lang="ko-KR" altLang="en-US" dirty="0">
                <a:solidFill>
                  <a:schemeClr val="tx1"/>
                </a:solidFill>
              </a:rPr>
              <a:t>모터 제어를 통합적으로 설계하는 </a:t>
            </a:r>
            <a:r>
              <a:rPr lang="ko-KR" altLang="en-US" dirty="0" smtClean="0">
                <a:solidFill>
                  <a:schemeClr val="tx1"/>
                </a:solidFill>
              </a:rPr>
              <a:t>경험</a:t>
            </a:r>
            <a:r>
              <a:rPr lang="en-US" altLang="ko-KR" dirty="0">
                <a:solidFill>
                  <a:schemeClr val="tx1"/>
                </a:solidFill>
              </a:rPr>
              <a:t/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특히 각 기능을 </a:t>
            </a:r>
            <a:r>
              <a:rPr lang="ko-KR" altLang="en-US" dirty="0" err="1">
                <a:solidFill>
                  <a:schemeClr val="tx1"/>
                </a:solidFill>
              </a:rPr>
              <a:t>모듈화하여</a:t>
            </a:r>
            <a:r>
              <a:rPr lang="ko-KR" altLang="en-US" dirty="0">
                <a:solidFill>
                  <a:schemeClr val="tx1"/>
                </a:solidFill>
              </a:rPr>
              <a:t> 연동하는 과정에서</a:t>
            </a:r>
            <a:br>
              <a:rPr lang="ko-KR" altLang="en-US" dirty="0">
                <a:solidFill>
                  <a:schemeClr val="tx1"/>
                </a:solidFill>
              </a:rPr>
            </a:br>
            <a:r>
              <a:rPr lang="ko-KR" altLang="en-US" dirty="0" err="1">
                <a:solidFill>
                  <a:schemeClr val="tx1"/>
                </a:solidFill>
              </a:rPr>
              <a:t>임베디드</a:t>
            </a:r>
            <a:r>
              <a:rPr lang="ko-KR" altLang="en-US" dirty="0">
                <a:solidFill>
                  <a:schemeClr val="tx1"/>
                </a:solidFill>
              </a:rPr>
              <a:t> 소프트웨어 설계의 중요성과 확장성을 고려한 구조 설계의 필요성을 배울 수 있었다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1163052" y="1061670"/>
            <a:ext cx="300179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구현 간 발생한 이슈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13091103" y="2796609"/>
            <a:ext cx="1415773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개선방안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5125374" y="7375971"/>
            <a:ext cx="1818501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느낀점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0" name="위로 굽은 화살표 39"/>
          <p:cNvSpPr/>
          <p:nvPr/>
        </p:nvSpPr>
        <p:spPr>
          <a:xfrm>
            <a:off x="-5122426" y="795936"/>
            <a:ext cx="2604743" cy="1758990"/>
          </a:xfrm>
          <a:prstGeom prst="bentUpArrow">
            <a:avLst>
              <a:gd name="adj1" fmla="val 9211"/>
              <a:gd name="adj2" fmla="val 13889"/>
              <a:gd name="adj3" fmla="val 16813"/>
            </a:avLst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12">
            <a:extLst>
              <a:ext uri="{FF2B5EF4-FFF2-40B4-BE49-F238E27FC236}">
                <a16:creationId xmlns:a16="http://schemas.microsoft.com/office/drawing/2014/main" id="{4B75C303-81E5-C6A9-A7BE-944597D1B4BB}"/>
              </a:ext>
            </a:extLst>
          </p:cNvPr>
          <p:cNvSpPr/>
          <p:nvPr/>
        </p:nvSpPr>
        <p:spPr>
          <a:xfrm>
            <a:off x="6060628" y="1292503"/>
            <a:ext cx="5660736" cy="2298214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sz="1600" b="1" dirty="0" smtClean="0">
                <a:solidFill>
                  <a:schemeClr val="tx1"/>
                </a:solidFill>
              </a:rPr>
              <a:t>_delay 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미사용</a:t>
            </a:r>
            <a:endParaRPr lang="en-US" altLang="ko-KR" sz="1600" b="1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altLang="ko-KR" sz="1600" b="1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 err="1" smtClean="0">
                <a:solidFill>
                  <a:schemeClr val="tx1"/>
                </a:solidFill>
              </a:rPr>
              <a:t>전역변수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 사용 줄이기</a:t>
            </a:r>
            <a:endParaRPr lang="en-US" altLang="ko-KR" sz="1600" b="1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altLang="ko-KR" sz="1600" b="1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b="1" dirty="0" smtClean="0">
                <a:solidFill>
                  <a:schemeClr val="tx1"/>
                </a:solidFill>
              </a:rPr>
              <a:t>코드 상의 매직넘버들을 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#define 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하기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6555378" y="1061669"/>
            <a:ext cx="1415773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보완사항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8" name="사각형: 둥근 모서리 12">
            <a:extLst>
              <a:ext uri="{FF2B5EF4-FFF2-40B4-BE49-F238E27FC236}">
                <a16:creationId xmlns:a16="http://schemas.microsoft.com/office/drawing/2014/main" id="{4B75C303-81E5-C6A9-A7BE-944597D1B4BB}"/>
              </a:ext>
            </a:extLst>
          </p:cNvPr>
          <p:cNvSpPr/>
          <p:nvPr/>
        </p:nvSpPr>
        <p:spPr>
          <a:xfrm>
            <a:off x="6060628" y="4022323"/>
            <a:ext cx="5660736" cy="2454367"/>
          </a:xfrm>
          <a:prstGeom prst="roundRect">
            <a:avLst>
              <a:gd name="adj" fmla="val 2238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600" b="1" dirty="0" smtClean="0">
                <a:solidFill>
                  <a:schemeClr val="tx1"/>
                </a:solidFill>
              </a:rPr>
              <a:t>가능한 오류는 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Runtime 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보다 </a:t>
            </a:r>
            <a:r>
              <a:rPr lang="en-US" altLang="ko-KR" sz="1600" b="1" dirty="0" err="1" smtClean="0">
                <a:solidFill>
                  <a:schemeClr val="tx1"/>
                </a:solidFill>
              </a:rPr>
              <a:t>Complie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단계에서 검출할 수 있도록 설계가 필요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b="1" dirty="0" smtClean="0">
                <a:solidFill>
                  <a:schemeClr val="tx1"/>
                </a:solidFill>
              </a:rPr>
              <a:t>데이터시트를 </a:t>
            </a:r>
            <a:r>
              <a:rPr lang="ko-KR" altLang="en-US" sz="1600" b="1" dirty="0">
                <a:solidFill>
                  <a:schemeClr val="tx1"/>
                </a:solidFill>
              </a:rPr>
              <a:t>분석하여 </a:t>
            </a:r>
            <a:r>
              <a:rPr lang="en-US" altLang="ko-KR" sz="1600" b="1" dirty="0">
                <a:solidFill>
                  <a:schemeClr val="tx1"/>
                </a:solidFill>
              </a:rPr>
              <a:t>MCU</a:t>
            </a:r>
            <a:r>
              <a:rPr lang="ko-KR" altLang="en-US" sz="1600" b="1" dirty="0">
                <a:solidFill>
                  <a:schemeClr val="tx1"/>
                </a:solidFill>
              </a:rPr>
              <a:t>와 </a:t>
            </a:r>
            <a:r>
              <a:rPr lang="en-US" altLang="ko-KR" sz="1600" b="1" dirty="0">
                <a:solidFill>
                  <a:schemeClr val="tx1"/>
                </a:solidFill>
              </a:rPr>
              <a:t>DS1307 RTC </a:t>
            </a:r>
            <a:r>
              <a:rPr lang="ko-KR" altLang="en-US" sz="1600" b="1" dirty="0" err="1">
                <a:solidFill>
                  <a:schemeClr val="tx1"/>
                </a:solidFill>
              </a:rPr>
              <a:t>칩간의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</a:rPr>
              <a:t>I2C </a:t>
            </a:r>
            <a:r>
              <a:rPr lang="ko-KR" altLang="en-US" sz="1600" b="1" dirty="0">
                <a:solidFill>
                  <a:schemeClr val="tx1"/>
                </a:solidFill>
              </a:rPr>
              <a:t>동기식 통신을 직접 제어하는 과정을 통해서 통신 프로토콜의 흐름에 대해 깊이 있게 이해할 수 있게 되었다</a:t>
            </a:r>
            <a:r>
              <a:rPr lang="en-US" altLang="ko-KR" sz="1600" b="1" dirty="0">
                <a:solidFill>
                  <a:schemeClr val="tx1"/>
                </a:solidFill>
              </a:rPr>
              <a:t>.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br>
              <a:rPr lang="ko-KR" altLang="en-US" sz="1600" b="1" dirty="0">
                <a:solidFill>
                  <a:schemeClr val="tx1"/>
                </a:solidFill>
              </a:rPr>
            </a:b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A656FD-999E-0038-08E8-BDA20E801E0D}"/>
              </a:ext>
            </a:extLst>
          </p:cNvPr>
          <p:cNvSpPr txBox="1"/>
          <p:nvPr/>
        </p:nvSpPr>
        <p:spPr>
          <a:xfrm>
            <a:off x="6709267" y="3778789"/>
            <a:ext cx="1107996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느낀점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5564291" y="3004873"/>
            <a:ext cx="6157073" cy="3466432"/>
            <a:chOff x="5497616" y="2874272"/>
            <a:chExt cx="6157073" cy="3466432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616" y="2874272"/>
              <a:ext cx="6157073" cy="3466432"/>
            </a:xfrm>
            <a:prstGeom prst="rect">
              <a:avLst/>
            </a:prstGeom>
          </p:spPr>
        </p:pic>
        <p:sp>
          <p:nvSpPr>
            <p:cNvPr id="20" name="직사각형 19"/>
            <p:cNvSpPr/>
            <p:nvPr/>
          </p:nvSpPr>
          <p:spPr>
            <a:xfrm>
              <a:off x="6034624" y="5377106"/>
              <a:ext cx="537174" cy="44128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481499" y="3907904"/>
              <a:ext cx="1183380" cy="70047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79463" y="1485600"/>
            <a:ext cx="5307269" cy="5279250"/>
            <a:chOff x="279463" y="1485600"/>
            <a:chExt cx="5307269" cy="5279250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632" y="5340253"/>
              <a:ext cx="3426097" cy="1424597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0168" y="1485600"/>
              <a:ext cx="4593152" cy="2454960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9463" y="3943991"/>
              <a:ext cx="3510026" cy="1442477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76729" y="3966652"/>
              <a:ext cx="1810003" cy="22291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564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8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228">
            <a:extLst>
              <a:ext uri="{FF2B5EF4-FFF2-40B4-BE49-F238E27FC236}">
                <a16:creationId xmlns:a16="http://schemas.microsoft.com/office/drawing/2014/main" id="{82E972E3-5A9F-5EC8-8519-037C335D1561}"/>
              </a:ext>
            </a:extLst>
          </p:cNvPr>
          <p:cNvSpPr txBox="1"/>
          <p:nvPr/>
        </p:nvSpPr>
        <p:spPr>
          <a:xfrm flipH="1">
            <a:off x="566418" y="2388295"/>
            <a:ext cx="4996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chemeClr val="bg1"/>
                </a:solidFill>
              </a:rPr>
              <a:t>Ｑ＆Ａ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193" y="225322"/>
            <a:ext cx="4323232" cy="648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4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1126</TotalTime>
  <Words>2074</Words>
  <Application>Microsoft Office PowerPoint</Application>
  <PresentationFormat>와이드스크린</PresentationFormat>
  <Paragraphs>553</Paragraphs>
  <Slides>25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5" baseType="lpstr">
      <vt:lpstr>Arial Unicode MS</vt:lpstr>
      <vt:lpstr>HY견고딕</vt:lpstr>
      <vt:lpstr>Pretendard</vt:lpstr>
      <vt:lpstr>Pretendard Black</vt:lpstr>
      <vt:lpstr>돋움</vt:lpstr>
      <vt:lpstr>맑은 고딕</vt:lpstr>
      <vt:lpstr>함초롬바탕</vt:lpstr>
      <vt:lpstr>Arial</vt:lpstr>
      <vt:lpstr>Arial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kccistc</cp:lastModifiedBy>
  <cp:revision>185</cp:revision>
  <dcterms:created xsi:type="dcterms:W3CDTF">2022-08-03T01:14:38Z</dcterms:created>
  <dcterms:modified xsi:type="dcterms:W3CDTF">2026-07-03T00:21:53Z</dcterms:modified>
</cp:coreProperties>
</file>