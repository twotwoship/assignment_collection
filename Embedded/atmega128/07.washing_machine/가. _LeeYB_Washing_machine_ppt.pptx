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1" r:id="rId2"/>
    <p:sldId id="272" r:id="rId3"/>
    <p:sldId id="273" r:id="rId4"/>
    <p:sldId id="264" r:id="rId5"/>
    <p:sldId id="279" r:id="rId6"/>
    <p:sldId id="278" r:id="rId7"/>
    <p:sldId id="280" r:id="rId8"/>
    <p:sldId id="295" r:id="rId9"/>
    <p:sldId id="283" r:id="rId10"/>
    <p:sldId id="284" r:id="rId11"/>
    <p:sldId id="287" r:id="rId12"/>
    <p:sldId id="291" r:id="rId13"/>
    <p:sldId id="296" r:id="rId14"/>
    <p:sldId id="292" r:id="rId15"/>
    <p:sldId id="294" r:id="rId16"/>
    <p:sldId id="265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4D60"/>
    <a:srgbClr val="D6DCE5"/>
    <a:srgbClr val="718EA0"/>
    <a:srgbClr val="6C899B"/>
    <a:srgbClr val="F3F9FB"/>
    <a:srgbClr val="F9FCFD"/>
    <a:srgbClr val="23B0C3"/>
    <a:srgbClr val="146772"/>
    <a:srgbClr val="95E2EC"/>
    <a:srgbClr val="D0C6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13" autoAdjust="0"/>
  </p:normalViewPr>
  <p:slideViewPr>
    <p:cSldViewPr snapToGrid="0" showGuides="1">
      <p:cViewPr>
        <p:scale>
          <a:sx n="150" d="100"/>
          <a:sy n="150" d="100"/>
        </p:scale>
        <p:origin x="702" y="19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44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CD294-35C4-43B3-BAB9-A643608059C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D5FC6-8D3F-4D84-BCFB-00C2009A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96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Constraints – Quality </a:t>
            </a:r>
            <a:r>
              <a:rPr lang="ko-KR" altLang="en-US" dirty="0" smtClean="0"/>
              <a:t>제약 조건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품질  </a:t>
            </a:r>
            <a:r>
              <a:rPr lang="en-US" altLang="ko-KR" dirty="0" smtClean="0"/>
              <a:t>Deliverables </a:t>
            </a:r>
            <a:r>
              <a:rPr lang="ko-KR" altLang="en-US" dirty="0" smtClean="0"/>
              <a:t>산출물 </a:t>
            </a:r>
            <a:r>
              <a:rPr lang="en-US" altLang="ko-KR" sz="1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Description</a:t>
            </a:r>
            <a:r>
              <a:rPr lang="en-US" altLang="ko-KR" sz="1200" baseline="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&amp; Goals </a:t>
            </a:r>
            <a:r>
              <a:rPr lang="ko-KR" altLang="en-US" sz="1200" baseline="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설명 및 목표</a:t>
            </a:r>
            <a:endParaRPr lang="ko-KR" altLang="en-US" sz="1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02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Finite state</a:t>
            </a:r>
            <a:r>
              <a:rPr lang="en-US" altLang="ko-KR" baseline="0" dirty="0" smtClean="0"/>
              <a:t> machine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80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현재 구조는 동작 구현에는 성공했지만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상태 함수 내부에 </a:t>
            </a:r>
            <a:r>
              <a:rPr lang="en-US" altLang="ko-KR" dirty="0" smtClean="0"/>
              <a:t>while</a:t>
            </a:r>
            <a:r>
              <a:rPr lang="ko-KR" altLang="en-US" dirty="0" smtClean="0"/>
              <a:t>문과 하드웨어 제어 코드가 집중되어 확장성과 예외 처리 측면에서 한계가 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향후에는 </a:t>
            </a:r>
            <a:r>
              <a:rPr lang="en-US" altLang="ko-KR" dirty="0" smtClean="0"/>
              <a:t>Non-blocking FSM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Event </a:t>
            </a:r>
            <a:r>
              <a:rPr lang="ko-KR" altLang="en-US" dirty="0" smtClean="0"/>
              <a:t>기반 스케줄링을 적용하여 모든 상태가 짧게 실행되고</a:t>
            </a:r>
            <a:r>
              <a:rPr lang="en-US" altLang="ko-KR" dirty="0" smtClean="0"/>
              <a:t>, UART·</a:t>
            </a:r>
            <a:r>
              <a:rPr lang="ko-KR" altLang="en-US" dirty="0" smtClean="0"/>
              <a:t>버튼</a:t>
            </a:r>
            <a:r>
              <a:rPr lang="en-US" altLang="ko-KR" dirty="0" smtClean="0"/>
              <a:t>·</a:t>
            </a:r>
            <a:r>
              <a:rPr lang="ko-KR" altLang="en-US" dirty="0" smtClean="0"/>
              <a:t>센서</a:t>
            </a:r>
            <a:r>
              <a:rPr lang="en-US" altLang="ko-KR" dirty="0" smtClean="0"/>
              <a:t>·</a:t>
            </a:r>
            <a:r>
              <a:rPr lang="ko-KR" altLang="en-US" dirty="0" smtClean="0"/>
              <a:t>오류 이벤트를 공통적으로 처리하는 구조로 개선할 수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925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5193-41CD-4063-B0C7-05E32D5C3CCF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6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956878-ABEC-AF9A-D2CE-3CA826B6E387}"/>
              </a:ext>
            </a:extLst>
          </p:cNvPr>
          <p:cNvSpPr txBox="1"/>
          <p:nvPr/>
        </p:nvSpPr>
        <p:spPr>
          <a:xfrm>
            <a:off x="465221" y="320841"/>
            <a:ext cx="769569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spc="-15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AVR Project</a:t>
            </a:r>
          </a:p>
          <a:p>
            <a:r>
              <a:rPr lang="en-US" altLang="ko-KR" sz="6000" spc="-15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- Washing Machine</a:t>
            </a:r>
            <a:endParaRPr lang="ko-KR" altLang="en-US" sz="6000" spc="-15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EB93D-E860-DD72-63D2-BA2ACD126D65}"/>
              </a:ext>
            </a:extLst>
          </p:cNvPr>
          <p:cNvSpPr txBox="1"/>
          <p:nvPr/>
        </p:nvSpPr>
        <p:spPr>
          <a:xfrm>
            <a:off x="513347" y="290362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이양배</a:t>
            </a:r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48DE9C-B5AD-BAA4-4EBD-53FA1916E9A2}"/>
              </a:ext>
            </a:extLst>
          </p:cNvPr>
          <p:cNvSpPr txBox="1"/>
          <p:nvPr/>
        </p:nvSpPr>
        <p:spPr>
          <a:xfrm>
            <a:off x="1229707" y="72189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accent1"/>
                </a:solidFill>
                <a:latin typeface="Arial Black" panose="020B0A04020102020204" pitchFamily="34" charset="0"/>
                <a:ea typeface="+mj-ea"/>
              </a:rPr>
              <a:t>목차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08183-DB54-F711-9B69-C8C5752AF7AF}"/>
              </a:ext>
            </a:extLst>
          </p:cNvPr>
          <p:cNvSpPr txBox="1"/>
          <p:nvPr/>
        </p:nvSpPr>
        <p:spPr>
          <a:xfrm>
            <a:off x="1856247" y="1795038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1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F8E78-68AC-B048-5336-EE835D4169E6}"/>
              </a:ext>
            </a:extLst>
          </p:cNvPr>
          <p:cNvSpPr txBox="1"/>
          <p:nvPr/>
        </p:nvSpPr>
        <p:spPr>
          <a:xfrm>
            <a:off x="2585007" y="1733483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개요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F5BEB-A29E-EC98-4681-67E53CB0B3C2}"/>
              </a:ext>
            </a:extLst>
          </p:cNvPr>
          <p:cNvSpPr txBox="1"/>
          <p:nvPr/>
        </p:nvSpPr>
        <p:spPr>
          <a:xfrm>
            <a:off x="1856247" y="2871256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2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F1453-BC33-8329-E803-35808F5E93AA}"/>
              </a:ext>
            </a:extLst>
          </p:cNvPr>
          <p:cNvSpPr txBox="1"/>
          <p:nvPr/>
        </p:nvSpPr>
        <p:spPr>
          <a:xfrm>
            <a:off x="2585007" y="2809701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FSM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FBC02-6717-E326-10F3-EED37C2CE102}"/>
              </a:ext>
            </a:extLst>
          </p:cNvPr>
          <p:cNvSpPr txBox="1"/>
          <p:nvPr/>
        </p:nvSpPr>
        <p:spPr>
          <a:xfrm>
            <a:off x="1856247" y="3947474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3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A99F0-E26F-49EF-19FA-5DA225DF25D0}"/>
              </a:ext>
            </a:extLst>
          </p:cNvPr>
          <p:cNvSpPr txBox="1"/>
          <p:nvPr/>
        </p:nvSpPr>
        <p:spPr>
          <a:xfrm>
            <a:off x="2585007" y="3885919"/>
            <a:ext cx="1992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작동 영상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C5CD14-4594-1730-18CF-710701846C6F}"/>
              </a:ext>
            </a:extLst>
          </p:cNvPr>
          <p:cNvSpPr txBox="1"/>
          <p:nvPr/>
        </p:nvSpPr>
        <p:spPr>
          <a:xfrm>
            <a:off x="1856247" y="4965817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4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BB9965-4F0D-8E0C-4C5A-019C795529F3}"/>
              </a:ext>
            </a:extLst>
          </p:cNvPr>
          <p:cNvSpPr txBox="1"/>
          <p:nvPr/>
        </p:nvSpPr>
        <p:spPr>
          <a:xfrm>
            <a:off x="2585007" y="4904262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S/W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B173C-BF4B-5D6B-514A-71779E736CDB}"/>
              </a:ext>
            </a:extLst>
          </p:cNvPr>
          <p:cNvSpPr txBox="1"/>
          <p:nvPr/>
        </p:nvSpPr>
        <p:spPr>
          <a:xfrm>
            <a:off x="2585007" y="1035957"/>
            <a:ext cx="2354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Arial Black" panose="020B0A04020102020204" pitchFamily="34" charset="0"/>
              </a:rPr>
              <a:t>table of contents</a:t>
            </a:r>
            <a:endParaRPr lang="ko-KR" altLang="en-US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258E78-E0A3-AE12-64E5-C4481F9EEFE4}"/>
              </a:ext>
            </a:extLst>
          </p:cNvPr>
          <p:cNvSpPr txBox="1"/>
          <p:nvPr/>
        </p:nvSpPr>
        <p:spPr>
          <a:xfrm>
            <a:off x="9987228" y="6437787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C5CD14-4594-1730-18CF-710701846C6F}"/>
              </a:ext>
            </a:extLst>
          </p:cNvPr>
          <p:cNvSpPr txBox="1"/>
          <p:nvPr/>
        </p:nvSpPr>
        <p:spPr>
          <a:xfrm>
            <a:off x="1856247" y="5975839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5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BB9965-4F0D-8E0C-4C5A-019C795529F3}"/>
              </a:ext>
            </a:extLst>
          </p:cNvPr>
          <p:cNvSpPr txBox="1"/>
          <p:nvPr/>
        </p:nvSpPr>
        <p:spPr>
          <a:xfrm>
            <a:off x="2585007" y="5914284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결론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 descr="https://upload.wikimedia.org/wikipedia/commons/thumb/0/08/LGwashingmachine.jpg/250px-LGwashingmachi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820" y="214599"/>
            <a:ext cx="4859241" cy="647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31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3020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47391" y="3350782"/>
              <a:ext cx="430117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프로젝트 개요</a:t>
              </a:r>
              <a:endParaRPr lang="ko-KR" altLang="en-US" sz="54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744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13B2B03-9958-7080-A8FA-B021EDFEB92B}"/>
              </a:ext>
            </a:extLst>
          </p:cNvPr>
          <p:cNvSpPr/>
          <p:nvPr/>
        </p:nvSpPr>
        <p:spPr>
          <a:xfrm>
            <a:off x="15315542" y="1572255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993AD8-5CEA-2D1B-82AC-2D89F5B58074}"/>
              </a:ext>
            </a:extLst>
          </p:cNvPr>
          <p:cNvGrpSpPr/>
          <p:nvPr/>
        </p:nvGrpSpPr>
        <p:grpSpPr>
          <a:xfrm>
            <a:off x="16297717" y="1836751"/>
            <a:ext cx="3874975" cy="1491414"/>
            <a:chOff x="5071677" y="598302"/>
            <a:chExt cx="5322767" cy="2048645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917425D-F03B-F354-FEC0-11250975C51C}"/>
                </a:ext>
              </a:extLst>
            </p:cNvPr>
            <p:cNvSpPr/>
            <p:nvPr/>
          </p:nvSpPr>
          <p:spPr>
            <a:xfrm>
              <a:off x="5071677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2D86A9D-39F0-778D-7C2D-6B2967ABF872}"/>
                </a:ext>
              </a:extLst>
            </p:cNvPr>
            <p:cNvSpPr/>
            <p:nvPr/>
          </p:nvSpPr>
          <p:spPr>
            <a:xfrm>
              <a:off x="8345799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49E913F-178D-7981-553C-769FFE1B1252}"/>
                </a:ext>
              </a:extLst>
            </p:cNvPr>
            <p:cNvSpPr/>
            <p:nvPr/>
          </p:nvSpPr>
          <p:spPr>
            <a:xfrm>
              <a:off x="6708666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15315488" y="4090478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4B8AE79-A306-A46A-EEF1-06F4CEFAEB92}"/>
              </a:ext>
            </a:extLst>
          </p:cNvPr>
          <p:cNvSpPr/>
          <p:nvPr/>
        </p:nvSpPr>
        <p:spPr>
          <a:xfrm>
            <a:off x="16297663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B7E96AE-48A6-A34C-EFD2-3F9F934109DD}"/>
              </a:ext>
            </a:extLst>
          </p:cNvPr>
          <p:cNvSpPr/>
          <p:nvPr/>
        </p:nvSpPr>
        <p:spPr>
          <a:xfrm>
            <a:off x="18681224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685C743-667E-953C-9424-2457F2A44BBC}"/>
              </a:ext>
            </a:extLst>
          </p:cNvPr>
          <p:cNvSpPr/>
          <p:nvPr/>
        </p:nvSpPr>
        <p:spPr>
          <a:xfrm>
            <a:off x="17489392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53D032-5499-0641-D904-7324D054E01F}"/>
              </a:ext>
            </a:extLst>
          </p:cNvPr>
          <p:cNvSpPr txBox="1"/>
          <p:nvPr/>
        </p:nvSpPr>
        <p:spPr>
          <a:xfrm flipH="1">
            <a:off x="16509677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1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6E3A30-AC1B-F0AA-579F-425170F442B5}"/>
              </a:ext>
            </a:extLst>
          </p:cNvPr>
          <p:cNvSpPr txBox="1"/>
          <p:nvPr/>
        </p:nvSpPr>
        <p:spPr>
          <a:xfrm flipH="1">
            <a:off x="17720654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2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47853B-477E-91A6-7476-B9DE24370803}"/>
              </a:ext>
            </a:extLst>
          </p:cNvPr>
          <p:cNvSpPr txBox="1"/>
          <p:nvPr/>
        </p:nvSpPr>
        <p:spPr>
          <a:xfrm flipH="1">
            <a:off x="18931631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3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6834E9-F8C4-A144-81C2-01D4A963F72A}"/>
              </a:ext>
            </a:extLst>
          </p:cNvPr>
          <p:cNvSpPr txBox="1"/>
          <p:nvPr/>
        </p:nvSpPr>
        <p:spPr>
          <a:xfrm flipH="1">
            <a:off x="16516693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516656-473D-938C-C42F-7CEC57624741}"/>
              </a:ext>
            </a:extLst>
          </p:cNvPr>
          <p:cNvSpPr txBox="1"/>
          <p:nvPr/>
        </p:nvSpPr>
        <p:spPr>
          <a:xfrm flipH="1">
            <a:off x="17727670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10E921-C951-E3EE-3892-18B32D1CCC90}"/>
              </a:ext>
            </a:extLst>
          </p:cNvPr>
          <p:cNvSpPr txBox="1"/>
          <p:nvPr/>
        </p:nvSpPr>
        <p:spPr>
          <a:xfrm flipH="1">
            <a:off x="18938647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3F2EE1-E72C-4DD3-0605-83467FBC130B}"/>
              </a:ext>
            </a:extLst>
          </p:cNvPr>
          <p:cNvCxnSpPr/>
          <p:nvPr/>
        </p:nvCxnSpPr>
        <p:spPr>
          <a:xfrm flipV="1">
            <a:off x="18169833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FA96696-4197-AB01-41F5-C2A0B82632DA}"/>
              </a:ext>
            </a:extLst>
          </p:cNvPr>
          <p:cNvCxnSpPr>
            <a:cxnSpLocks/>
          </p:cNvCxnSpPr>
          <p:nvPr/>
        </p:nvCxnSpPr>
        <p:spPr>
          <a:xfrm>
            <a:off x="18354515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073507"/>
              </p:ext>
            </p:extLst>
          </p:nvPr>
        </p:nvGraphicFramePr>
        <p:xfrm>
          <a:off x="443376" y="795936"/>
          <a:ext cx="10826604" cy="5757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8775">
                  <a:extLst>
                    <a:ext uri="{9D8B030D-6E8A-4147-A177-3AD203B41FA5}">
                      <a16:colId xmlns:a16="http://schemas.microsoft.com/office/drawing/2014/main" val="106595958"/>
                    </a:ext>
                  </a:extLst>
                </a:gridCol>
                <a:gridCol w="7087829">
                  <a:extLst>
                    <a:ext uri="{9D8B030D-6E8A-4147-A177-3AD203B41FA5}">
                      <a16:colId xmlns:a16="http://schemas.microsoft.com/office/drawing/2014/main" val="4031561553"/>
                    </a:ext>
                  </a:extLst>
                </a:gridCol>
              </a:tblGrid>
              <a:tr h="444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Name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Washing_Machine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4511995"/>
                  </a:ext>
                </a:extLst>
              </a:tr>
              <a:tr h="7618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Description</a:t>
                      </a:r>
                      <a:r>
                        <a:rPr lang="en-US" altLang="ko-KR" sz="2000" baseline="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 &amp; Goals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• ATmega128A </a:t>
                      </a:r>
                      <a:r>
                        <a:rPr lang="ko-KR" altLang="en-US" sz="1600" dirty="0" smtClean="0"/>
                        <a:t>기반의 세탁기 제어 시스템 구현</a:t>
                      </a:r>
                      <a:br>
                        <a:rPr lang="ko-KR" altLang="en-US" sz="1600" dirty="0" smtClean="0"/>
                      </a:br>
                      <a:r>
                        <a:rPr lang="en-US" altLang="ko-KR" sz="1600" dirty="0" smtClean="0"/>
                        <a:t>• FSM </a:t>
                      </a:r>
                      <a:r>
                        <a:rPr lang="ko-KR" altLang="en-US" sz="1600" dirty="0" smtClean="0"/>
                        <a:t>기반 세탁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헹굼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탈수 자동 운전 및 </a:t>
                      </a:r>
                      <a:r>
                        <a:rPr lang="en-US" altLang="ko-KR" sz="1600" dirty="0" smtClean="0"/>
                        <a:t>UART </a:t>
                      </a:r>
                      <a:r>
                        <a:rPr lang="ko-KR" altLang="en-US" sz="1600" dirty="0" smtClean="0"/>
                        <a:t>원격 제어 기능 제공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0250089"/>
                  </a:ext>
                </a:extLst>
              </a:tr>
              <a:tr h="14716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Scope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/>
                        <a:t>   • </a:t>
                      </a:r>
                      <a:r>
                        <a:rPr lang="ko-KR" altLang="en-US" sz="1600" dirty="0" smtClean="0"/>
                        <a:t>버튼을 이용한 세탁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헹굼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탈수 시간 설정</a:t>
                      </a:r>
                      <a:br>
                        <a:rPr lang="ko-KR" altLang="en-US" sz="1600" dirty="0" smtClean="0"/>
                      </a:br>
                      <a:r>
                        <a:rPr lang="ko-KR" altLang="en-US" sz="1600" dirty="0" smtClean="0"/>
                        <a:t>   </a:t>
                      </a:r>
                      <a:r>
                        <a:rPr lang="en-US" altLang="ko-KR" sz="1600" dirty="0" smtClean="0"/>
                        <a:t>• PWM </a:t>
                      </a:r>
                      <a:r>
                        <a:rPr lang="ko-KR" altLang="en-US" sz="1600" dirty="0" smtClean="0"/>
                        <a:t>기반 </a:t>
                      </a:r>
                      <a:r>
                        <a:rPr lang="en-US" altLang="ko-KR" sz="1600" dirty="0" smtClean="0"/>
                        <a:t>DC </a:t>
                      </a:r>
                      <a:r>
                        <a:rPr lang="ko-KR" altLang="en-US" sz="1600" dirty="0" smtClean="0"/>
                        <a:t>모터 속도 및 방향 제어</a:t>
                      </a:r>
                      <a:br>
                        <a:rPr lang="ko-KR" altLang="en-US" sz="1600" dirty="0" smtClean="0"/>
                      </a:br>
                      <a:r>
                        <a:rPr lang="ko-KR" altLang="en-US" sz="1600" dirty="0" smtClean="0"/>
                        <a:t>   </a:t>
                      </a:r>
                      <a:r>
                        <a:rPr lang="en-US" altLang="ko-KR" sz="1600" dirty="0" smtClean="0"/>
                        <a:t>• UART Start/Stop </a:t>
                      </a:r>
                      <a:r>
                        <a:rPr lang="ko-KR" altLang="en-US" sz="1600" dirty="0" smtClean="0"/>
                        <a:t>명령 처리</a:t>
                      </a:r>
                      <a:br>
                        <a:rPr lang="ko-KR" altLang="en-US" sz="1600" dirty="0" smtClean="0"/>
                      </a:br>
                      <a:r>
                        <a:rPr lang="ko-KR" altLang="en-US" sz="1600" dirty="0" smtClean="0"/>
                        <a:t>   </a:t>
                      </a:r>
                      <a:r>
                        <a:rPr lang="en-US" altLang="ko-KR" sz="1600" dirty="0" smtClean="0"/>
                        <a:t>• FND</a:t>
                      </a:r>
                      <a:r>
                        <a:rPr lang="ko-KR" altLang="en-US" sz="1600" dirty="0" smtClean="0"/>
                        <a:t>를 이용한 남은 시간 표시</a:t>
                      </a:r>
                      <a:br>
                        <a:rPr lang="ko-KR" altLang="en-US" sz="1600" dirty="0" smtClean="0"/>
                      </a:br>
                      <a:r>
                        <a:rPr lang="ko-KR" altLang="en-US" sz="1600" dirty="0" smtClean="0"/>
                        <a:t>   </a:t>
                      </a:r>
                      <a:r>
                        <a:rPr lang="en-US" altLang="ko-KR" sz="1600" dirty="0" smtClean="0"/>
                        <a:t>• Timer Interrupt </a:t>
                      </a:r>
                      <a:r>
                        <a:rPr lang="ko-KR" altLang="en-US" sz="1600" dirty="0" smtClean="0"/>
                        <a:t>기반 실시간 제어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2711061"/>
                  </a:ext>
                </a:extLst>
              </a:tr>
              <a:tr h="11978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Constraints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• MCU : ATmega128A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Timer0(1ms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 </a:t>
                      </a:r>
                      <a:r>
                        <a:rPr lang="ko-KR" altLang="en-US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틱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Timer3(PWM)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</a:t>
                      </a:r>
                      <a:b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실시간 인터럽트 기반 동작 요구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2730901"/>
                  </a:ext>
                </a:extLst>
              </a:tr>
              <a:tr h="11978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Deliberables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세탁기 상태 제어 프로그램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FSM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UART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명령 파서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Command Parser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PWM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모터 제어 모듈</a:t>
                      </a:r>
                      <a:b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FND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 및 버튼 입력 모듈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0036677"/>
                  </a:ext>
                </a:extLst>
              </a:tr>
              <a:tr h="6829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Key Components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ATmega128A, DC Motor, Motor Driver, FND(7-Segment), Push Button, UART Serial Interface, Timer/Counter, PWM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281261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83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</a:t>
            </a:r>
            <a:r>
              <a:rPr lang="ko-KR" altLang="en-US" sz="1600" dirty="0" smtClean="0">
                <a:solidFill>
                  <a:schemeClr val="accent1"/>
                </a:solidFill>
              </a:rPr>
              <a:t>１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383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프로젝트　개요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16112" y="156603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9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78286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921133" y="3277039"/>
              <a:ext cx="186461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FSM</a:t>
              </a:r>
              <a:endParaRPr lang="ko-KR" altLang="en-US" sz="60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416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22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유한 상태 기계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251394" y="3351898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standby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9562159" y="1546739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Washing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251394" y="482519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Rinse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163052" y="1567634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Dry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104890" y="4518262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Washing</a:t>
            </a:r>
            <a:b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setting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320854" y="5814990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Rinse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setting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9562158" y="4659324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Dry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setting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6787717" y="2747824"/>
            <a:ext cx="2774442" cy="348104"/>
            <a:chOff x="6866802" y="2763512"/>
            <a:chExt cx="2774442" cy="348104"/>
          </a:xfrm>
        </p:grpSpPr>
        <p:sp>
          <p:nvSpPr>
            <p:cNvPr id="7" name="오른쪽 화살표 6"/>
            <p:cNvSpPr/>
            <p:nvPr/>
          </p:nvSpPr>
          <p:spPr>
            <a:xfrm rot="20160853">
              <a:off x="7001283" y="2939910"/>
              <a:ext cx="2639961" cy="171706"/>
            </a:xfrm>
            <a:prstGeom prst="rightArrow">
              <a:avLst>
                <a:gd name="adj1" fmla="val 22968"/>
                <a:gd name="adj2" fmla="val 1575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오른쪽 화살표 25"/>
            <p:cNvSpPr/>
            <p:nvPr/>
          </p:nvSpPr>
          <p:spPr>
            <a:xfrm rot="9345486">
              <a:off x="6866802" y="2763512"/>
              <a:ext cx="2639961" cy="171706"/>
            </a:xfrm>
            <a:prstGeom prst="rightArrow">
              <a:avLst>
                <a:gd name="adj1" fmla="val 22968"/>
                <a:gd name="adj2" fmla="val 1575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오른쪽 화살표 28"/>
          <p:cNvSpPr/>
          <p:nvPr/>
        </p:nvSpPr>
        <p:spPr>
          <a:xfrm rot="1652819">
            <a:off x="2467289" y="3011465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화살표 29"/>
          <p:cNvSpPr/>
          <p:nvPr/>
        </p:nvSpPr>
        <p:spPr>
          <a:xfrm rot="11672855">
            <a:off x="6891798" y="1285294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오른쪽 화살표 30"/>
          <p:cNvSpPr/>
          <p:nvPr/>
        </p:nvSpPr>
        <p:spPr>
          <a:xfrm rot="10183330">
            <a:off x="2474405" y="1260666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오른쪽 화살표 31"/>
          <p:cNvSpPr/>
          <p:nvPr/>
        </p:nvSpPr>
        <p:spPr>
          <a:xfrm rot="5400000">
            <a:off x="5200490" y="2289652"/>
            <a:ext cx="1616107" cy="190150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8010698" y="2794858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start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276346" y="2057802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stop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832820" y="656818"/>
            <a:ext cx="1798860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Time_out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908299" y="624158"/>
            <a:ext cx="1798860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Time_out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404464" y="2819476"/>
            <a:ext cx="1798860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Time_out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806104" y="1733802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stop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3330597" y="2395050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stop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0" name="오른쪽 화살표 39"/>
          <p:cNvSpPr/>
          <p:nvPr/>
        </p:nvSpPr>
        <p:spPr>
          <a:xfrm rot="9510049">
            <a:off x="2467289" y="4327928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오른쪽 화살표 40"/>
          <p:cNvSpPr/>
          <p:nvPr/>
        </p:nvSpPr>
        <p:spPr>
          <a:xfrm rot="1139151">
            <a:off x="2533351" y="5642613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오른쪽 화살표 41"/>
          <p:cNvSpPr/>
          <p:nvPr/>
        </p:nvSpPr>
        <p:spPr>
          <a:xfrm rot="20732633">
            <a:off x="6787717" y="5657504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오른쪽 화살표 42"/>
          <p:cNvSpPr/>
          <p:nvPr/>
        </p:nvSpPr>
        <p:spPr>
          <a:xfrm rot="12143997">
            <a:off x="6891796" y="4296236"/>
            <a:ext cx="2639961" cy="171706"/>
          </a:xfrm>
          <a:prstGeom prst="rightArrow">
            <a:avLst>
              <a:gd name="adj1" fmla="val 22968"/>
              <a:gd name="adj2" fmla="val 157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827947" y="3712194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889566" y="5485410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524087" y="5501873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674841" y="3765951"/>
            <a:ext cx="1375377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원형 화살표 8"/>
          <p:cNvSpPr/>
          <p:nvPr/>
        </p:nvSpPr>
        <p:spPr>
          <a:xfrm rot="17632570">
            <a:off x="287226" y="5059544"/>
            <a:ext cx="1292458" cy="1347065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원형 화살표 51"/>
          <p:cNvSpPr/>
          <p:nvPr/>
        </p:nvSpPr>
        <p:spPr>
          <a:xfrm rot="4637075">
            <a:off x="5551613" y="4665190"/>
            <a:ext cx="1198893" cy="1231719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8002" y="5289960"/>
            <a:ext cx="1798860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Time_up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255053" y="4807004"/>
            <a:ext cx="1798860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Time_up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6" name="원형 화살표 55"/>
          <p:cNvSpPr/>
          <p:nvPr/>
        </p:nvSpPr>
        <p:spPr>
          <a:xfrm rot="12680276">
            <a:off x="10702642" y="5148146"/>
            <a:ext cx="1198893" cy="1231719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0406082" y="5289960"/>
            <a:ext cx="1798860" cy="86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Time_up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32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519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세부 기능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0A2222-1861-0C93-F3FF-B480F0A8C532}"/>
              </a:ext>
            </a:extLst>
          </p:cNvPr>
          <p:cNvSpPr/>
          <p:nvPr/>
        </p:nvSpPr>
        <p:spPr>
          <a:xfrm>
            <a:off x="907547" y="1755666"/>
            <a:ext cx="2818633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86559F-3837-B749-A77F-EE960F0146CE}"/>
              </a:ext>
            </a:extLst>
          </p:cNvPr>
          <p:cNvSpPr/>
          <p:nvPr/>
        </p:nvSpPr>
        <p:spPr>
          <a:xfrm>
            <a:off x="907547" y="1755664"/>
            <a:ext cx="2818633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Arial Black" panose="020B0A04020102020204" pitchFamily="34" charset="0"/>
              </a:rPr>
              <a:t>LED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4275037" y="1755666"/>
            <a:ext cx="3464885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70CC38-9B93-3086-7155-DB6D495644D4}"/>
              </a:ext>
            </a:extLst>
          </p:cNvPr>
          <p:cNvSpPr/>
          <p:nvPr/>
        </p:nvSpPr>
        <p:spPr>
          <a:xfrm>
            <a:off x="896930" y="4297139"/>
            <a:ext cx="2829250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4281019" y="1755664"/>
            <a:ext cx="3452923" cy="6848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Arial Black" panose="020B0A04020102020204" pitchFamily="34" charset="0"/>
              </a:rPr>
              <a:t>BUTTON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1A3D78-ED92-F94F-B0D0-BC15DEBDC75A}"/>
              </a:ext>
            </a:extLst>
          </p:cNvPr>
          <p:cNvSpPr/>
          <p:nvPr/>
        </p:nvSpPr>
        <p:spPr>
          <a:xfrm>
            <a:off x="907547" y="4265851"/>
            <a:ext cx="2818633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FND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E2E9DD-A907-410C-F125-ADC1C9942C5F}"/>
              </a:ext>
            </a:extLst>
          </p:cNvPr>
          <p:cNvSpPr txBox="1"/>
          <p:nvPr/>
        </p:nvSpPr>
        <p:spPr>
          <a:xfrm>
            <a:off x="1002465" y="2484440"/>
            <a:ext cx="2704665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대기상태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LED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left run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세탁 시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: LED 01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헹굼 시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LED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02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건조 시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LED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03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910389" y="4981595"/>
            <a:ext cx="27557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현재 남은 시간 표시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분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</a:p>
          <a:p>
            <a:pPr marL="285750" lvl="0" indent="-285750">
              <a:buFontTx/>
              <a:buChar char="-"/>
            </a:pP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분 미만으로 남으면 초 표시</a:t>
            </a:r>
          </a:p>
          <a:p>
            <a:pPr marL="285750" lvl="0" indent="-285750">
              <a:buFontTx/>
              <a:buChar char="-"/>
            </a:pP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모터 방향 표시 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역방향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C8C25A-844B-8FFA-1272-6223DD0085C9}"/>
              </a:ext>
            </a:extLst>
          </p:cNvPr>
          <p:cNvSpPr/>
          <p:nvPr/>
        </p:nvSpPr>
        <p:spPr>
          <a:xfrm>
            <a:off x="4218279" y="4247825"/>
            <a:ext cx="3466383" cy="20074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D681D37-D302-8C28-4973-B7F299E24EAC}"/>
              </a:ext>
            </a:extLst>
          </p:cNvPr>
          <p:cNvSpPr/>
          <p:nvPr/>
        </p:nvSpPr>
        <p:spPr>
          <a:xfrm>
            <a:off x="4230241" y="4255371"/>
            <a:ext cx="3452924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rial Black" panose="020B0A04020102020204" pitchFamily="34" charset="0"/>
              </a:rPr>
              <a:t>DATA STRUCTURE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7F5C0-7DEE-E4FF-F4EC-87DA8045BD02}"/>
              </a:ext>
            </a:extLst>
          </p:cNvPr>
          <p:cNvSpPr txBox="1"/>
          <p:nvPr/>
        </p:nvSpPr>
        <p:spPr>
          <a:xfrm>
            <a:off x="4379495" y="5046743"/>
            <a:ext cx="2960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Circular 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Queue :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명령문 저장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4491483" y="2632815"/>
            <a:ext cx="1682895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BTN0 :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시작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정지</a:t>
            </a:r>
            <a:endParaRPr lang="en-US" altLang="ko-KR" sz="14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BTN1 :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모드 변경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BTN2 : 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시간 설정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8376940" y="1755665"/>
            <a:ext cx="2755879" cy="1933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8376940" y="1755664"/>
            <a:ext cx="2755879" cy="6848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PWN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8521520" y="2623966"/>
            <a:ext cx="1682895" cy="32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모터 속도 제어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8376940" y="4228840"/>
            <a:ext cx="2755879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8376940" y="4261617"/>
            <a:ext cx="2755880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UART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8521520" y="5064334"/>
            <a:ext cx="2611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Tx/>
              <a:buChar char="-"/>
            </a:pP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현재 모드 및 남은 시간 출력</a:t>
            </a:r>
          </a:p>
          <a:p>
            <a:pPr marL="171450" lvl="0" indent="-171450">
              <a:buFontTx/>
              <a:buChar char="-"/>
            </a:pP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시작 및 정지 명령</a:t>
            </a:r>
          </a:p>
        </p:txBody>
      </p:sp>
    </p:spTree>
    <p:extLst>
      <p:ext uri="{BB962C8B-B14F-4D97-AF65-F5344CB8AC3E}">
        <p14:creationId xmlns:p14="http://schemas.microsoft.com/office/powerpoint/2010/main" val="150566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도면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876" y="317462"/>
            <a:ext cx="9930124" cy="642022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70" y="1473051"/>
            <a:ext cx="1739015" cy="104154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42" y="3468456"/>
            <a:ext cx="2777257" cy="262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6704" y="4255340"/>
            <a:ext cx="436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PF6</a:t>
            </a:r>
            <a:endParaRPr lang="ko-KR" altLang="en-US" sz="600" dirty="0"/>
          </a:p>
        </p:txBody>
      </p:sp>
      <p:sp>
        <p:nvSpPr>
          <p:cNvPr id="10" name="TextBox 9"/>
          <p:cNvSpPr txBox="1"/>
          <p:nvPr/>
        </p:nvSpPr>
        <p:spPr>
          <a:xfrm>
            <a:off x="229557" y="4163007"/>
            <a:ext cx="436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PF7</a:t>
            </a:r>
            <a:endParaRPr lang="ko-KR" altLang="en-US" sz="600" dirty="0"/>
          </a:p>
        </p:txBody>
      </p:sp>
      <p:sp>
        <p:nvSpPr>
          <p:cNvPr id="11" name="TextBox 10"/>
          <p:cNvSpPr txBox="1"/>
          <p:nvPr/>
        </p:nvSpPr>
        <p:spPr>
          <a:xfrm>
            <a:off x="220981" y="4405632"/>
            <a:ext cx="436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PE5</a:t>
            </a:r>
            <a:endParaRPr lang="ko-KR" altLang="en-US" sz="600" dirty="0"/>
          </a:p>
        </p:txBody>
      </p:sp>
      <p:sp>
        <p:nvSpPr>
          <p:cNvPr id="12" name="TextBox 11"/>
          <p:cNvSpPr txBox="1"/>
          <p:nvPr/>
        </p:nvSpPr>
        <p:spPr>
          <a:xfrm>
            <a:off x="3696657" y="5402039"/>
            <a:ext cx="436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PF5</a:t>
            </a:r>
            <a:endParaRPr lang="ko-KR" altLang="en-US" sz="600" dirty="0"/>
          </a:p>
        </p:txBody>
      </p:sp>
      <p:sp>
        <p:nvSpPr>
          <p:cNvPr id="15" name="TextBox 14"/>
          <p:cNvSpPr txBox="1"/>
          <p:nvPr/>
        </p:nvSpPr>
        <p:spPr>
          <a:xfrm>
            <a:off x="3696657" y="4730864"/>
            <a:ext cx="436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PF7</a:t>
            </a:r>
            <a:endParaRPr lang="ko-KR" altLang="en-US" sz="600" dirty="0"/>
          </a:p>
        </p:txBody>
      </p:sp>
      <p:sp>
        <p:nvSpPr>
          <p:cNvPr id="16" name="TextBox 15"/>
          <p:cNvSpPr txBox="1"/>
          <p:nvPr/>
        </p:nvSpPr>
        <p:spPr>
          <a:xfrm>
            <a:off x="3696657" y="4638530"/>
            <a:ext cx="436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PF6</a:t>
            </a:r>
            <a:endParaRPr lang="ko-KR" altLang="en-US" sz="600" dirty="0"/>
          </a:p>
        </p:txBody>
      </p:sp>
      <p:sp>
        <p:nvSpPr>
          <p:cNvPr id="17" name="TextBox 16"/>
          <p:cNvSpPr txBox="1"/>
          <p:nvPr/>
        </p:nvSpPr>
        <p:spPr>
          <a:xfrm>
            <a:off x="2611755" y="983517"/>
            <a:ext cx="436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MO1</a:t>
            </a:r>
            <a:endParaRPr lang="ko-KR" altLang="en-US" sz="600" dirty="0"/>
          </a:p>
        </p:txBody>
      </p:sp>
      <p:sp>
        <p:nvSpPr>
          <p:cNvPr id="18" name="TextBox 17"/>
          <p:cNvSpPr txBox="1"/>
          <p:nvPr/>
        </p:nvSpPr>
        <p:spPr>
          <a:xfrm>
            <a:off x="2650283" y="321395"/>
            <a:ext cx="436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MO2</a:t>
            </a:r>
            <a:endParaRPr lang="ko-KR" altLang="en-US" sz="600" dirty="0"/>
          </a:p>
        </p:txBody>
      </p:sp>
      <p:sp>
        <p:nvSpPr>
          <p:cNvPr id="19" name="TextBox 18"/>
          <p:cNvSpPr txBox="1"/>
          <p:nvPr/>
        </p:nvSpPr>
        <p:spPr>
          <a:xfrm>
            <a:off x="2866610" y="4134511"/>
            <a:ext cx="436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MO1</a:t>
            </a:r>
            <a:endParaRPr lang="ko-KR" altLang="en-US" sz="600" dirty="0"/>
          </a:p>
        </p:txBody>
      </p:sp>
      <p:sp>
        <p:nvSpPr>
          <p:cNvPr id="20" name="TextBox 19"/>
          <p:cNvSpPr txBox="1"/>
          <p:nvPr/>
        </p:nvSpPr>
        <p:spPr>
          <a:xfrm>
            <a:off x="2854232" y="4255340"/>
            <a:ext cx="436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MO2</a:t>
            </a:r>
            <a:endParaRPr lang="ko-KR" altLang="en-US" sz="600" dirty="0"/>
          </a:p>
        </p:txBody>
      </p:sp>
      <p:sp>
        <p:nvSpPr>
          <p:cNvPr id="21" name="TextBox 20"/>
          <p:cNvSpPr txBox="1"/>
          <p:nvPr/>
        </p:nvSpPr>
        <p:spPr>
          <a:xfrm>
            <a:off x="3696657" y="5306353"/>
            <a:ext cx="436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PF4</a:t>
            </a:r>
            <a:endParaRPr lang="ko-KR" altLang="en-US" sz="600" dirty="0"/>
          </a:p>
        </p:txBody>
      </p:sp>
      <p:sp>
        <p:nvSpPr>
          <p:cNvPr id="22" name="TextBox 21"/>
          <p:cNvSpPr txBox="1"/>
          <p:nvPr/>
        </p:nvSpPr>
        <p:spPr>
          <a:xfrm>
            <a:off x="1226433" y="2466063"/>
            <a:ext cx="132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PF4</a:t>
            </a:r>
            <a:endParaRPr lang="ko-KR" altLang="en-US" sz="600" dirty="0"/>
          </a:p>
        </p:txBody>
      </p:sp>
      <p:sp>
        <p:nvSpPr>
          <p:cNvPr id="23" name="TextBox 22"/>
          <p:cNvSpPr txBox="1"/>
          <p:nvPr/>
        </p:nvSpPr>
        <p:spPr>
          <a:xfrm>
            <a:off x="1156205" y="2467051"/>
            <a:ext cx="70228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600" dirty="0" smtClean="0"/>
              <a:t>PG4</a:t>
            </a:r>
            <a:endParaRPr lang="ko-KR" altLang="en-US" sz="600" dirty="0"/>
          </a:p>
        </p:txBody>
      </p:sp>
      <p:sp>
        <p:nvSpPr>
          <p:cNvPr id="24" name="TextBox 23"/>
          <p:cNvSpPr txBox="1"/>
          <p:nvPr/>
        </p:nvSpPr>
        <p:spPr>
          <a:xfrm>
            <a:off x="1059423" y="2466063"/>
            <a:ext cx="70228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600" dirty="0" smtClean="0"/>
              <a:t>VCC</a:t>
            </a:r>
            <a:endParaRPr lang="ko-KR" altLang="en-US" sz="600" dirty="0"/>
          </a:p>
        </p:txBody>
      </p:sp>
      <p:sp>
        <p:nvSpPr>
          <p:cNvPr id="25" name="TextBox 24"/>
          <p:cNvSpPr txBox="1"/>
          <p:nvPr/>
        </p:nvSpPr>
        <p:spPr>
          <a:xfrm>
            <a:off x="1335297" y="2459122"/>
            <a:ext cx="70228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600" dirty="0" smtClean="0"/>
              <a:t>GND</a:t>
            </a:r>
            <a:endParaRPr lang="ko-KR" altLang="en-US" sz="600" dirty="0"/>
          </a:p>
        </p:txBody>
      </p:sp>
      <p:sp>
        <p:nvSpPr>
          <p:cNvPr id="26" name="TextBox 25"/>
          <p:cNvSpPr txBox="1"/>
          <p:nvPr/>
        </p:nvSpPr>
        <p:spPr>
          <a:xfrm>
            <a:off x="3719921" y="3674937"/>
            <a:ext cx="436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PG4</a:t>
            </a:r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290752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854995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261161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 smtClean="0">
                  <a:solidFill>
                    <a:schemeClr val="bg1"/>
                  </a:solidFill>
                  <a:latin typeface="+mn-ea"/>
                </a:rPr>
                <a:t>작동 영상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425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3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err="1" smtClean="0">
                <a:solidFill>
                  <a:schemeClr val="accent1"/>
                </a:solidFill>
              </a:rPr>
              <a:t>작동영상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12C0AA0-E39E-C775-D534-63FAF80A8183}"/>
              </a:ext>
            </a:extLst>
          </p:cNvPr>
          <p:cNvCxnSpPr/>
          <p:nvPr/>
        </p:nvCxnSpPr>
        <p:spPr>
          <a:xfrm>
            <a:off x="144378" y="3242667"/>
            <a:ext cx="12060000" cy="0"/>
          </a:xfrm>
          <a:prstGeom prst="line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wasing_machine_final_var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59953" y="441993"/>
            <a:ext cx="4774329" cy="597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917513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188224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 smtClean="0">
                  <a:solidFill>
                    <a:schemeClr val="bg1"/>
                  </a:solidFill>
                  <a:latin typeface="+mn-ea"/>
                </a:rPr>
                <a:t>Ｓ／Ｗ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193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127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Ｓ</a:t>
            </a:r>
            <a:r>
              <a:rPr lang="ko-KR" altLang="en-US" sz="2800" b="1" spc="-300" dirty="0" smtClean="0">
                <a:solidFill>
                  <a:schemeClr val="accent1"/>
                </a:solidFill>
              </a:rPr>
              <a:t>／Ｗ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7BAD30-9FBB-F60C-C45E-BD43DE1FF872}"/>
              </a:ext>
            </a:extLst>
          </p:cNvPr>
          <p:cNvSpPr>
            <a:spLocks/>
          </p:cNvSpPr>
          <p:nvPr/>
        </p:nvSpPr>
        <p:spPr>
          <a:xfrm>
            <a:off x="1056909" y="1307921"/>
            <a:ext cx="5040000" cy="2268000"/>
          </a:xfrm>
          <a:prstGeom prst="rect">
            <a:avLst/>
          </a:prstGeom>
          <a:solidFill>
            <a:schemeClr val="accent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2622A98D-EE2C-E33C-7F26-6BAB35BB0896}"/>
              </a:ext>
            </a:extLst>
          </p:cNvPr>
          <p:cNvSpPr>
            <a:spLocks/>
          </p:cNvSpPr>
          <p:nvPr/>
        </p:nvSpPr>
        <p:spPr>
          <a:xfrm>
            <a:off x="6092950" y="1307921"/>
            <a:ext cx="5040000" cy="2268000"/>
          </a:xfrm>
          <a:prstGeom prst="rect">
            <a:avLst/>
          </a:prstGeom>
          <a:solidFill>
            <a:schemeClr val="accent4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99240460-DE28-0B18-0AEA-5EE9C09F33BF}"/>
              </a:ext>
            </a:extLst>
          </p:cNvPr>
          <p:cNvSpPr>
            <a:spLocks/>
          </p:cNvSpPr>
          <p:nvPr/>
        </p:nvSpPr>
        <p:spPr>
          <a:xfrm>
            <a:off x="1056910" y="3575013"/>
            <a:ext cx="5040000" cy="2268000"/>
          </a:xfrm>
          <a:prstGeom prst="rect">
            <a:avLst/>
          </a:prstGeom>
          <a:solidFill>
            <a:schemeClr val="accent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EE76A9AB-43AF-7608-E148-C74A8A5498F1}"/>
              </a:ext>
            </a:extLst>
          </p:cNvPr>
          <p:cNvSpPr>
            <a:spLocks/>
          </p:cNvSpPr>
          <p:nvPr/>
        </p:nvSpPr>
        <p:spPr>
          <a:xfrm>
            <a:off x="6095090" y="3575013"/>
            <a:ext cx="5040000" cy="226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4880217" y="2987388"/>
            <a:ext cx="110799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ＦＮＤ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D0194574-FB3C-1D70-31D3-415D53E03985}"/>
              </a:ext>
            </a:extLst>
          </p:cNvPr>
          <p:cNvSpPr txBox="1"/>
          <p:nvPr/>
        </p:nvSpPr>
        <p:spPr>
          <a:xfrm>
            <a:off x="1309360" y="1600224"/>
            <a:ext cx="3089470" cy="858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pc="-15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f</a:t>
            </a:r>
            <a:r>
              <a:rPr lang="en-US" altLang="ko-KR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nd_washing_machine</a:t>
            </a:r>
            <a:endParaRPr lang="en-US" altLang="ko-KR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fnd_washing_work</a:t>
            </a:r>
            <a:endParaRPr lang="en-US" altLang="ko-KR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8114910" y="1496835"/>
            <a:ext cx="2954664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led_shift_left_on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2583BD6D-4004-DE6D-80A0-7806E3DBC9E6}"/>
              </a:ext>
            </a:extLst>
          </p:cNvPr>
          <p:cNvSpPr txBox="1"/>
          <p:nvPr/>
        </p:nvSpPr>
        <p:spPr>
          <a:xfrm>
            <a:off x="1184486" y="3684129"/>
            <a:ext cx="48452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washing_mode_func</a:t>
            </a:r>
            <a:endParaRPr lang="en-US" altLang="ko-KR" sz="1600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rinse_mode_func</a:t>
            </a:r>
            <a:endParaRPr lang="en-US" altLang="ko-KR" sz="1600" spc="-150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dehydration_mode_func</a:t>
            </a:r>
            <a:endParaRPr lang="en-US" altLang="ko-KR" sz="1600" spc="-150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washing_setting_mode_func</a:t>
            </a:r>
            <a:endParaRPr lang="en-US" altLang="ko-KR" sz="1600" spc="-150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rinse_setting_mode_func</a:t>
            </a:r>
            <a:endParaRPr lang="en-US" altLang="ko-KR" sz="1600" spc="-150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spc="-15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dehydration_setting_mode_func</a:t>
            </a:r>
            <a:endParaRPr lang="en-US" altLang="ko-KR" sz="1600" spc="-150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en-US" altLang="ko-KR" sz="160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washing_machine_standby_mode_main</a:t>
            </a:r>
            <a:endParaRPr lang="en-US" altLang="ko-KR" sz="1600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pc="-15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Start_on</a:t>
            </a:r>
            <a:r>
              <a:rPr lang="en-US" altLang="ko-KR" sz="1600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en-US" altLang="ko-KR" sz="1600" spc="-15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stop_on</a:t>
            </a:r>
            <a:endParaRPr lang="en-US" altLang="ko-KR" sz="1600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sz="1600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8C8C12D1-5727-67EA-B55C-C2B5453626CC}"/>
              </a:ext>
            </a:extLst>
          </p:cNvPr>
          <p:cNvSpPr txBox="1"/>
          <p:nvPr/>
        </p:nvSpPr>
        <p:spPr>
          <a:xfrm>
            <a:off x="6842760" y="4191871"/>
            <a:ext cx="416585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washing_comman</a:t>
            </a:r>
            <a:endParaRPr lang="en-US" altLang="ko-KR" dirty="0" smtClean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UART0_print_string</a:t>
            </a: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UART0_print_1_byte_number</a:t>
            </a:r>
            <a:endParaRPr lang="en-US" altLang="ko-KR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6201646" y="3005065"/>
            <a:ext cx="110799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ＬＥＤ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4883604" y="3730206"/>
            <a:ext cx="110799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ＰＷＭ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6188823" y="3736108"/>
            <a:ext cx="1133644" cy="46800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 anchorCtr="0">
            <a:spAutoFit/>
          </a:bodyPr>
          <a:lstStyle/>
          <a:p>
            <a:pPr algn="ctr"/>
            <a:r>
              <a:rPr lang="ko-KR" altLang="en-US" sz="2000" spc="-15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ＵＡＲＴ</a:t>
            </a:r>
            <a:endParaRPr lang="ko-KR" altLang="en-US" sz="2400" spc="-1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509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411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 smtClean="0">
                <a:solidFill>
                  <a:schemeClr val="accent1"/>
                </a:solidFill>
              </a:rPr>
              <a:t>SOURCE CODE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10" y="1659371"/>
            <a:ext cx="6211167" cy="35437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228210" y="1111105"/>
            <a:ext cx="2954664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m</a:t>
            </a: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ain.c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237" y="272716"/>
            <a:ext cx="5487166" cy="631710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9158850" y="649741"/>
            <a:ext cx="2954664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pwm.c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2309" y="5805169"/>
            <a:ext cx="836187" cy="84956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11164686" y="5517727"/>
            <a:ext cx="2954664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QR code</a:t>
            </a:r>
          </a:p>
        </p:txBody>
      </p:sp>
    </p:spTree>
    <p:extLst>
      <p:ext uri="{BB962C8B-B14F-4D97-AF65-F5344CB8AC3E}">
        <p14:creationId xmlns:p14="http://schemas.microsoft.com/office/powerpoint/2010/main" val="244605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2736647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9900" b="1" dirty="0">
                  <a:solidFill>
                    <a:schemeClr val="bg1"/>
                  </a:solidFill>
                  <a:latin typeface="+mj-ea"/>
                  <a:ea typeface="+mj-ea"/>
                </a:rPr>
                <a:t>５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47391" y="3350782"/>
              <a:ext cx="146706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결론</a:t>
              </a:r>
              <a:endParaRPr lang="ko-KR" altLang="en-US" sz="54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949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83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</a:t>
            </a:r>
            <a:r>
              <a:rPr lang="ko-KR" altLang="en-US" sz="1600" dirty="0" smtClean="0">
                <a:solidFill>
                  <a:schemeClr val="accent1"/>
                </a:solidFill>
              </a:rPr>
              <a:t>５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결론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4624" y="671863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CCA016-C3D2-955F-012A-E18CDC3A14BA}"/>
              </a:ext>
            </a:extLst>
          </p:cNvPr>
          <p:cNvSpPr/>
          <p:nvPr/>
        </p:nvSpPr>
        <p:spPr>
          <a:xfrm>
            <a:off x="1976095" y="534326"/>
            <a:ext cx="9397889" cy="56331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1F3E0B-13AF-3324-EB69-85A207AF6982}"/>
              </a:ext>
            </a:extLst>
          </p:cNvPr>
          <p:cNvSpPr/>
          <p:nvPr/>
        </p:nvSpPr>
        <p:spPr>
          <a:xfrm>
            <a:off x="7108444" y="7545151"/>
            <a:ext cx="5719940" cy="16485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ATmega128A </a:t>
            </a:r>
            <a:r>
              <a:rPr lang="ko-KR" altLang="en-US" dirty="0">
                <a:solidFill>
                  <a:schemeClr val="tx1"/>
                </a:solidFill>
              </a:rPr>
              <a:t>기반 </a:t>
            </a:r>
            <a:r>
              <a:rPr lang="ko-KR" altLang="en-US" dirty="0" err="1">
                <a:solidFill>
                  <a:schemeClr val="tx1"/>
                </a:solidFill>
              </a:rPr>
              <a:t>임베디드</a:t>
            </a:r>
            <a:r>
              <a:rPr lang="ko-KR" altLang="en-US" dirty="0">
                <a:solidFill>
                  <a:schemeClr val="tx1"/>
                </a:solidFill>
              </a:rPr>
              <a:t> 제어 시스템을 구현하며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FSM, </a:t>
            </a:r>
            <a:r>
              <a:rPr lang="ko-KR" altLang="en-US" dirty="0">
                <a:solidFill>
                  <a:schemeClr val="tx1"/>
                </a:solidFill>
              </a:rPr>
              <a:t>인터럽트</a:t>
            </a:r>
            <a:r>
              <a:rPr lang="en-US" altLang="ko-KR" dirty="0">
                <a:solidFill>
                  <a:schemeClr val="tx1"/>
                </a:solidFill>
              </a:rPr>
              <a:t>, UART, PWM</a:t>
            </a:r>
            <a:r>
              <a:rPr lang="ko-KR" altLang="en-US" dirty="0">
                <a:solidFill>
                  <a:schemeClr val="tx1"/>
                </a:solidFill>
              </a:rPr>
              <a:t>의 동작 원리를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실제 프로젝트에 적용하고 시스템 설계 경험을 습득하였다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609054" y="1272565"/>
            <a:ext cx="4265771" cy="1546227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FSM </a:t>
            </a:r>
            <a:r>
              <a:rPr lang="ko-KR" altLang="en-US" dirty="0">
                <a:solidFill>
                  <a:schemeClr val="tx1"/>
                </a:solidFill>
              </a:rPr>
              <a:t>기반 세탁기 제어 시스템 구현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세탁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헹굼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탈수 상태 자동 전이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버튼 및 </a:t>
            </a:r>
            <a:r>
              <a:rPr lang="en-US" altLang="ko-KR" dirty="0">
                <a:solidFill>
                  <a:schemeClr val="tx1"/>
                </a:solidFill>
              </a:rPr>
              <a:t>UART </a:t>
            </a:r>
            <a:r>
              <a:rPr lang="ko-KR" altLang="en-US" dirty="0">
                <a:solidFill>
                  <a:schemeClr val="tx1"/>
                </a:solidFill>
              </a:rPr>
              <a:t>명령 제어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- PWM </a:t>
            </a:r>
            <a:r>
              <a:rPr lang="ko-KR" altLang="en-US" dirty="0">
                <a:solidFill>
                  <a:schemeClr val="tx1"/>
                </a:solidFill>
              </a:rPr>
              <a:t>기반 </a:t>
            </a:r>
            <a:r>
              <a:rPr lang="en-US" altLang="ko-KR" dirty="0">
                <a:solidFill>
                  <a:schemeClr val="tx1"/>
                </a:solidFill>
              </a:rPr>
              <a:t>DC </a:t>
            </a:r>
            <a:r>
              <a:rPr lang="ko-KR" altLang="en-US" dirty="0">
                <a:solidFill>
                  <a:schemeClr val="tx1"/>
                </a:solidFill>
              </a:rPr>
              <a:t>모터 구동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B75C303-81E5-C6A9-A7BE-944597D1B4BB}"/>
              </a:ext>
            </a:extLst>
          </p:cNvPr>
          <p:cNvSpPr/>
          <p:nvPr/>
        </p:nvSpPr>
        <p:spPr>
          <a:xfrm>
            <a:off x="5624826" y="761802"/>
            <a:ext cx="6379487" cy="2661014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altLang="ko-KR" sz="1600" kern="1100" spc="-100" dirty="0">
                <a:solidFill>
                  <a:schemeClr val="tx1"/>
                </a:solidFill>
              </a:rPr>
              <a:t>Blocking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구조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각 상태 함수 내부의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while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문으로 인해 메인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FSM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복귀가 지연됨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공통 이벤트 및 예외 처리 확장이 어려움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ko-KR" altLang="en-US" sz="1600" kern="1100" spc="-100" dirty="0">
                <a:solidFill>
                  <a:schemeClr val="tx1"/>
                </a:solidFill>
              </a:rPr>
              <a:t>높은 결합도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상태 제어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FND, UART, PWM,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버튼 처리가 하나의 함수에 혼재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기능 수정 시 다른 모듈에 영향을 줄 가능성 증가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ko-KR" altLang="en-US" sz="1600" kern="1100" spc="-100" dirty="0">
                <a:solidFill>
                  <a:schemeClr val="tx1"/>
                </a:solidFill>
              </a:rPr>
              <a:t>예외 처리 </a:t>
            </a:r>
            <a:r>
              <a:rPr lang="ko-KR" altLang="en-US" sz="1600" kern="1100" spc="-100" dirty="0" err="1" smtClean="0">
                <a:solidFill>
                  <a:schemeClr val="tx1"/>
                </a:solidFill>
              </a:rPr>
              <a:t>미작성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잘못된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UART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명령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센서 이상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비상 정지 등의 처리 구조 미흡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7FD1A94-54C7-314E-1373-FCC29DAAB342}"/>
              </a:ext>
            </a:extLst>
          </p:cNvPr>
          <p:cNvSpPr/>
          <p:nvPr/>
        </p:nvSpPr>
        <p:spPr>
          <a:xfrm>
            <a:off x="415727" y="3555821"/>
            <a:ext cx="9171165" cy="3028751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Non-blocking </a:t>
            </a:r>
            <a:r>
              <a:rPr lang="en-US" altLang="ko-KR" sz="1600" dirty="0">
                <a:solidFill>
                  <a:schemeClr val="tx1"/>
                </a:solidFill>
              </a:rPr>
              <a:t>FSM </a:t>
            </a:r>
            <a:r>
              <a:rPr lang="ko-KR" altLang="en-US" sz="1600" dirty="0">
                <a:solidFill>
                  <a:schemeClr val="tx1"/>
                </a:solidFill>
              </a:rPr>
              <a:t>적용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 </a:t>
            </a:r>
            <a:r>
              <a:rPr lang="ko-KR" altLang="en-US" sz="1600" dirty="0">
                <a:solidFill>
                  <a:schemeClr val="tx1"/>
                </a:solidFill>
              </a:rPr>
              <a:t>각 상태 함수는 </a:t>
            </a:r>
            <a:r>
              <a:rPr lang="en-US" altLang="ko-KR" sz="1600" dirty="0">
                <a:solidFill>
                  <a:schemeClr val="tx1"/>
                </a:solidFill>
              </a:rPr>
              <a:t>1</a:t>
            </a:r>
            <a:r>
              <a:rPr lang="ko-KR" altLang="en-US" sz="1600" dirty="0">
                <a:solidFill>
                  <a:schemeClr val="tx1"/>
                </a:solidFill>
              </a:rPr>
              <a:t>회 처리 후 메인 루프로 복귀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 smtClean="0">
                <a:solidFill>
                  <a:schemeClr val="tx1"/>
                </a:solidFill>
              </a:rPr>
              <a:t>모든 </a:t>
            </a:r>
            <a:r>
              <a:rPr lang="ko-KR" altLang="en-US" sz="1600" dirty="0">
                <a:solidFill>
                  <a:schemeClr val="tx1"/>
                </a:solidFill>
              </a:rPr>
              <a:t>입력과 이벤트를 주기적으로 </a:t>
            </a:r>
            <a:r>
              <a:rPr lang="ko-KR" altLang="en-US" sz="1600" dirty="0" smtClean="0">
                <a:solidFill>
                  <a:schemeClr val="tx1"/>
                </a:solidFill>
              </a:rPr>
              <a:t>확인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ko-KR" altLang="en-US" sz="1600" dirty="0">
              <a:solidFill>
                <a:schemeClr val="tx1"/>
              </a:solidFill>
            </a:endParaRPr>
          </a:p>
          <a:p>
            <a:r>
              <a:rPr lang="ko-KR" altLang="en-US" sz="1600" dirty="0">
                <a:solidFill>
                  <a:schemeClr val="tx1"/>
                </a:solidFill>
              </a:rPr>
              <a:t>모듈 분리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 FSM, Motor, Display, Command, Button </a:t>
            </a:r>
            <a:r>
              <a:rPr lang="ko-KR" altLang="en-US" sz="1600" dirty="0">
                <a:solidFill>
                  <a:schemeClr val="tx1"/>
                </a:solidFill>
              </a:rPr>
              <a:t>모듈의 역할 </a:t>
            </a:r>
            <a:r>
              <a:rPr lang="ko-KR" altLang="en-US" sz="1600" dirty="0" smtClean="0">
                <a:solidFill>
                  <a:schemeClr val="tx1"/>
                </a:solidFill>
              </a:rPr>
              <a:t>분리 </a:t>
            </a:r>
            <a:r>
              <a:rPr lang="en-US" altLang="ko-KR" sz="1600" dirty="0" smtClean="0">
                <a:solidFill>
                  <a:schemeClr val="tx1"/>
                </a:solidFill>
              </a:rPr>
              <a:t>// </a:t>
            </a:r>
            <a:r>
              <a:rPr lang="ko-KR" altLang="en-US" sz="1600" dirty="0" smtClean="0">
                <a:solidFill>
                  <a:schemeClr val="tx1"/>
                </a:solidFill>
              </a:rPr>
              <a:t>現 세탁함수에서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동작중</a:t>
            </a:r>
            <a:endParaRPr lang="ko-KR" altLang="en-US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- </a:t>
            </a:r>
            <a:r>
              <a:rPr lang="ko-KR" altLang="en-US" sz="1600" dirty="0">
                <a:solidFill>
                  <a:schemeClr val="tx1"/>
                </a:solidFill>
              </a:rPr>
              <a:t>하드웨어 제어 코드를 추상화하여 유지보수성 </a:t>
            </a:r>
            <a:r>
              <a:rPr lang="ko-KR" altLang="en-US" sz="1600" dirty="0" smtClean="0">
                <a:solidFill>
                  <a:schemeClr val="tx1"/>
                </a:solidFill>
              </a:rPr>
              <a:t>향상 </a:t>
            </a:r>
            <a:r>
              <a:rPr lang="en-US" altLang="ko-KR" sz="1600" dirty="0" smtClean="0">
                <a:solidFill>
                  <a:schemeClr val="tx1"/>
                </a:solidFill>
              </a:rPr>
              <a:t>// ex) OCR3C = 250</a:t>
            </a:r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Event </a:t>
            </a:r>
            <a:r>
              <a:rPr lang="ko-KR" altLang="en-US" sz="1600" dirty="0">
                <a:solidFill>
                  <a:schemeClr val="tx1"/>
                </a:solidFill>
              </a:rPr>
              <a:t>기반 구조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- Timer0 </a:t>
            </a:r>
            <a:r>
              <a:rPr lang="ko-KR" altLang="en-US" sz="1600" dirty="0">
                <a:solidFill>
                  <a:schemeClr val="tx1"/>
                </a:solidFill>
              </a:rPr>
              <a:t>기반 </a:t>
            </a:r>
            <a:r>
              <a:rPr lang="en-US" altLang="ko-KR" sz="1600" dirty="0">
                <a:solidFill>
                  <a:schemeClr val="tx1"/>
                </a:solidFill>
              </a:rPr>
              <a:t>1ms tick</a:t>
            </a:r>
            <a:r>
              <a:rPr lang="ko-KR" altLang="en-US" sz="1600" dirty="0">
                <a:solidFill>
                  <a:schemeClr val="tx1"/>
                </a:solidFill>
              </a:rPr>
              <a:t>에서 공통 이벤트 </a:t>
            </a:r>
            <a:r>
              <a:rPr lang="ko-KR" altLang="en-US" sz="1600" dirty="0" smtClean="0">
                <a:solidFill>
                  <a:schemeClr val="tx1"/>
                </a:solidFill>
              </a:rPr>
              <a:t>생성</a:t>
            </a:r>
            <a:endParaRPr lang="ko-KR" altLang="en-US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- 1</a:t>
            </a:r>
            <a:r>
              <a:rPr lang="ko-KR" altLang="en-US" sz="1600" dirty="0">
                <a:solidFill>
                  <a:schemeClr val="tx1"/>
                </a:solidFill>
              </a:rPr>
              <a:t>초 이벤트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버튼 이벤트</a:t>
            </a:r>
            <a:r>
              <a:rPr lang="en-US" altLang="ko-KR" sz="1600" dirty="0">
                <a:solidFill>
                  <a:schemeClr val="tx1"/>
                </a:solidFill>
              </a:rPr>
              <a:t>, UART </a:t>
            </a:r>
            <a:r>
              <a:rPr lang="ko-KR" altLang="en-US" sz="1600" dirty="0">
                <a:solidFill>
                  <a:schemeClr val="tx1"/>
                </a:solidFill>
              </a:rPr>
              <a:t>이벤트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오류 이벤트로 상태 전이 처리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1F3E0B-13AF-3324-EB69-85A207AF6982}"/>
              </a:ext>
            </a:extLst>
          </p:cNvPr>
          <p:cNvSpPr/>
          <p:nvPr/>
        </p:nvSpPr>
        <p:spPr>
          <a:xfrm>
            <a:off x="-3437598" y="7539713"/>
            <a:ext cx="9880670" cy="16394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이번 프로젝트를 통해 단순히 주변장치를 제어하는 수준을 넘어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FSM</a:t>
            </a:r>
            <a:r>
              <a:rPr lang="ko-KR" altLang="en-US" dirty="0">
                <a:solidFill>
                  <a:schemeClr val="tx1"/>
                </a:solidFill>
              </a:rPr>
              <a:t>을 이용한 상태 관리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인터럽트 기반 시간 제어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UART </a:t>
            </a:r>
            <a:r>
              <a:rPr lang="ko-KR" altLang="en-US" dirty="0">
                <a:solidFill>
                  <a:schemeClr val="tx1"/>
                </a:solidFill>
              </a:rPr>
              <a:t>명령 </a:t>
            </a:r>
            <a:r>
              <a:rPr lang="ko-KR" altLang="en-US" dirty="0" err="1">
                <a:solidFill>
                  <a:schemeClr val="tx1"/>
                </a:solidFill>
              </a:rPr>
              <a:t>파싱</a:t>
            </a:r>
            <a:r>
              <a:rPr lang="ko-KR" altLang="en-US" dirty="0">
                <a:solidFill>
                  <a:schemeClr val="tx1"/>
                </a:solidFill>
              </a:rPr>
              <a:t> 및 </a:t>
            </a:r>
            <a:r>
              <a:rPr lang="en-US" altLang="ko-KR" dirty="0">
                <a:solidFill>
                  <a:schemeClr val="tx1"/>
                </a:solidFill>
              </a:rPr>
              <a:t>PWM </a:t>
            </a:r>
            <a:r>
              <a:rPr lang="ko-KR" altLang="en-US" dirty="0">
                <a:solidFill>
                  <a:schemeClr val="tx1"/>
                </a:solidFill>
              </a:rPr>
              <a:t>모터 제어를 통합적으로 설계하는 </a:t>
            </a:r>
            <a:r>
              <a:rPr lang="ko-KR" altLang="en-US" dirty="0" smtClean="0">
                <a:solidFill>
                  <a:schemeClr val="tx1"/>
                </a:solidFill>
              </a:rPr>
              <a:t>경험</a:t>
            </a:r>
            <a:r>
              <a:rPr lang="en-US" altLang="ko-KR" dirty="0">
                <a:solidFill>
                  <a:schemeClr val="tx1"/>
                </a:solidFill>
              </a:rPr>
              <a:t/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특히 각 기능을 </a:t>
            </a:r>
            <a:r>
              <a:rPr lang="ko-KR" altLang="en-US" dirty="0" err="1">
                <a:solidFill>
                  <a:schemeClr val="tx1"/>
                </a:solidFill>
              </a:rPr>
              <a:t>모듈화하여</a:t>
            </a:r>
            <a:r>
              <a:rPr lang="ko-KR" altLang="en-US" dirty="0">
                <a:solidFill>
                  <a:schemeClr val="tx1"/>
                </a:solidFill>
              </a:rPr>
              <a:t> 연동하는 과정에서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 err="1">
                <a:solidFill>
                  <a:schemeClr val="tx1"/>
                </a:solidFill>
              </a:rPr>
              <a:t>임베디드</a:t>
            </a:r>
            <a:r>
              <a:rPr lang="ko-KR" altLang="en-US" dirty="0">
                <a:solidFill>
                  <a:schemeClr val="tx1"/>
                </a:solidFill>
              </a:rPr>
              <a:t> 소프트웨어 설계의 중요성과 확장성을 고려한 구조 설계의 필요성을 배울 수 있었다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1358653" y="994977"/>
            <a:ext cx="151836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구현 성과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920824" y="3308383"/>
            <a:ext cx="1107996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문제점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5887696" y="418534"/>
            <a:ext cx="1415773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개선방안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5125374" y="7375971"/>
            <a:ext cx="1818501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느낀점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0" name="위로 굽은 화살표 39"/>
          <p:cNvSpPr/>
          <p:nvPr/>
        </p:nvSpPr>
        <p:spPr>
          <a:xfrm>
            <a:off x="9692413" y="3555821"/>
            <a:ext cx="1628775" cy="1695450"/>
          </a:xfrm>
          <a:prstGeom prst="bentUpArrow">
            <a:avLst>
              <a:gd name="adj1" fmla="val 9211"/>
              <a:gd name="adj2" fmla="val 13889"/>
              <a:gd name="adj3" fmla="val 1681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아래쪽 화살표 40"/>
          <p:cNvSpPr/>
          <p:nvPr/>
        </p:nvSpPr>
        <p:spPr>
          <a:xfrm>
            <a:off x="2371725" y="2924175"/>
            <a:ext cx="327262" cy="555912"/>
          </a:xfrm>
          <a:prstGeom prst="downArrow">
            <a:avLst>
              <a:gd name="adj1" fmla="val 33992"/>
              <a:gd name="adj2" fmla="val 3690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64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8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228">
            <a:extLst>
              <a:ext uri="{FF2B5EF4-FFF2-40B4-BE49-F238E27FC236}">
                <a16:creationId xmlns:a16="http://schemas.microsoft.com/office/drawing/2014/main" id="{82E972E3-5A9F-5EC8-8519-037C335D1561}"/>
              </a:ext>
            </a:extLst>
          </p:cNvPr>
          <p:cNvSpPr txBox="1"/>
          <p:nvPr/>
        </p:nvSpPr>
        <p:spPr>
          <a:xfrm flipH="1">
            <a:off x="566418" y="2388295"/>
            <a:ext cx="4996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chemeClr val="bg1"/>
                </a:solidFill>
              </a:rPr>
              <a:t>Ｑ＆Ａ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pic>
        <p:nvPicPr>
          <p:cNvPr id="5" name="Picture 2" descr="https://upload.wikimedia.org/wikipedia/commons/thumb/0/08/LGwashingmachine.jpg/250px-LGwashingmachi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820" y="214599"/>
            <a:ext cx="4859241" cy="647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34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459</TotalTime>
  <Words>482</Words>
  <Application>Microsoft Office PowerPoint</Application>
  <PresentationFormat>와이드스크린</PresentationFormat>
  <Paragraphs>168</Paragraphs>
  <Slides>16</Slides>
  <Notes>3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HY견고딕</vt:lpstr>
      <vt:lpstr>Pretendard</vt:lpstr>
      <vt:lpstr>Pretendard Black</vt:lpstr>
      <vt:lpstr>맑은 고딕</vt:lpstr>
      <vt:lpstr>함초롬바탕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kccistc</cp:lastModifiedBy>
  <cp:revision>77</cp:revision>
  <dcterms:created xsi:type="dcterms:W3CDTF">2022-08-03T01:14:38Z</dcterms:created>
  <dcterms:modified xsi:type="dcterms:W3CDTF">2026-06-19T03:53:51Z</dcterms:modified>
</cp:coreProperties>
</file>