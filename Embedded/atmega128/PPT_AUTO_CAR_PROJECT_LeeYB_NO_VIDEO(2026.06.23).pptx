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1" r:id="rId2"/>
    <p:sldId id="272" r:id="rId3"/>
    <p:sldId id="273" r:id="rId4"/>
    <p:sldId id="264" r:id="rId5"/>
    <p:sldId id="279" r:id="rId6"/>
    <p:sldId id="299" r:id="rId7"/>
    <p:sldId id="280" r:id="rId8"/>
    <p:sldId id="295" r:id="rId9"/>
    <p:sldId id="283" r:id="rId10"/>
    <p:sldId id="284" r:id="rId11"/>
    <p:sldId id="287" r:id="rId12"/>
    <p:sldId id="300" r:id="rId13"/>
    <p:sldId id="301" r:id="rId14"/>
    <p:sldId id="298" r:id="rId15"/>
    <p:sldId id="296" r:id="rId16"/>
    <p:sldId id="292" r:id="rId17"/>
    <p:sldId id="294" r:id="rId18"/>
    <p:sldId id="265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  <a:srgbClr val="224D60"/>
    <a:srgbClr val="718EA0"/>
    <a:srgbClr val="6C899B"/>
    <a:srgbClr val="F3F9FB"/>
    <a:srgbClr val="F9FCFD"/>
    <a:srgbClr val="23B0C3"/>
    <a:srgbClr val="146772"/>
    <a:srgbClr val="95E2EC"/>
    <a:srgbClr val="D0C6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655" autoAdjust="0"/>
  </p:normalViewPr>
  <p:slideViewPr>
    <p:cSldViewPr snapToGrid="0" showGuides="1">
      <p:cViewPr varScale="1">
        <p:scale>
          <a:sx n="139" d="100"/>
          <a:sy n="139" d="100"/>
        </p:scale>
        <p:origin x="1146" y="12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44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CD294-35C4-43B3-BAB9-A643608059C1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D5FC6-8D3F-4D84-BCFB-00C2009A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96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Constraints – Quality </a:t>
            </a:r>
            <a:r>
              <a:rPr lang="ko-KR" altLang="en-US" dirty="0" smtClean="0"/>
              <a:t>제약 조건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품질  </a:t>
            </a:r>
            <a:r>
              <a:rPr lang="en-US" altLang="ko-KR" dirty="0" smtClean="0"/>
              <a:t>Deliverables </a:t>
            </a:r>
            <a:r>
              <a:rPr lang="ko-KR" altLang="en-US" dirty="0" smtClean="0"/>
              <a:t>산출물 </a:t>
            </a:r>
            <a:r>
              <a:rPr lang="en-US" altLang="ko-KR" sz="1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Description</a:t>
            </a:r>
            <a:r>
              <a:rPr lang="en-US" altLang="ko-KR" sz="1200" baseline="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&amp; Goals </a:t>
            </a:r>
            <a:r>
              <a:rPr lang="ko-KR" altLang="en-US" sz="1200" baseline="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설명 및 목표</a:t>
            </a:r>
            <a:endParaRPr lang="ko-KR" altLang="en-US" sz="12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02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구현 기술</a:t>
            </a:r>
            <a:endParaRPr lang="en-US" altLang="ko-KR" dirty="0" smtClean="0"/>
          </a:p>
          <a:p>
            <a:r>
              <a:rPr lang="en-US" altLang="ko-KR" dirty="0" err="1" smtClean="0"/>
              <a:t>Pwm</a:t>
            </a:r>
            <a:r>
              <a:rPr lang="en-US" altLang="ko-KR" dirty="0" smtClean="0"/>
              <a:t> / pam</a:t>
            </a:r>
          </a:p>
          <a:p>
            <a:r>
              <a:rPr lang="en-US" altLang="ko-KR" dirty="0" err="1" smtClean="0"/>
              <a:t>Pwm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이론</a:t>
            </a:r>
            <a:endParaRPr lang="en-US" altLang="ko-KR" dirty="0" smtClean="0"/>
          </a:p>
          <a:p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이론</a:t>
            </a:r>
            <a:endParaRPr lang="en-US" altLang="ko-KR" dirty="0" smtClean="0"/>
          </a:p>
          <a:p>
            <a:r>
              <a:rPr lang="ko-KR" altLang="en-US" dirty="0" err="1" smtClean="0"/>
              <a:t>초음파센서</a:t>
            </a:r>
            <a:r>
              <a:rPr lang="ko-KR" altLang="en-US" dirty="0" smtClean="0"/>
              <a:t> 이론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805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구현 기술</a:t>
            </a:r>
            <a:endParaRPr lang="en-US" altLang="ko-KR" dirty="0" smtClean="0"/>
          </a:p>
          <a:p>
            <a:r>
              <a:rPr lang="en-US" altLang="ko-KR" dirty="0" err="1" smtClean="0"/>
              <a:t>Pwm</a:t>
            </a:r>
            <a:r>
              <a:rPr lang="en-US" altLang="ko-KR" dirty="0" smtClean="0"/>
              <a:t> / pam</a:t>
            </a:r>
          </a:p>
          <a:p>
            <a:r>
              <a:rPr lang="en-US" altLang="ko-KR" dirty="0" err="1" smtClean="0"/>
              <a:t>Pwm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이론</a:t>
            </a:r>
            <a:endParaRPr lang="en-US" altLang="ko-KR" dirty="0" smtClean="0"/>
          </a:p>
          <a:p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이론</a:t>
            </a:r>
            <a:endParaRPr lang="en-US" altLang="ko-KR" dirty="0" smtClean="0"/>
          </a:p>
          <a:p>
            <a:r>
              <a:rPr lang="ko-KR" altLang="en-US" dirty="0" err="1" smtClean="0"/>
              <a:t>초음파센서</a:t>
            </a:r>
            <a:r>
              <a:rPr lang="ko-KR" altLang="en-US" dirty="0" smtClean="0"/>
              <a:t> 이론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601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026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 smtClean="0"/>
              <a:t>자율주행 차량 프로젝트 결론</a:t>
            </a:r>
          </a:p>
          <a:p>
            <a:r>
              <a:rPr lang="en-US" altLang="ko-KR" b="1" dirty="0" smtClean="0"/>
              <a:t>1. </a:t>
            </a:r>
            <a:r>
              <a:rPr lang="ko-KR" altLang="en-US" b="1" dirty="0" smtClean="0"/>
              <a:t>구현 성과</a:t>
            </a:r>
          </a:p>
          <a:p>
            <a:r>
              <a:rPr lang="ko-KR" altLang="en-US" dirty="0" smtClean="0"/>
              <a:t>본 프로젝트는 </a:t>
            </a:r>
            <a:r>
              <a:rPr lang="en-US" altLang="ko-KR" b="1" dirty="0" smtClean="0"/>
              <a:t>ATmega128A </a:t>
            </a:r>
            <a:r>
              <a:rPr lang="ko-KR" altLang="en-US" b="1" dirty="0" smtClean="0"/>
              <a:t>기반의 자율주행 차량 제어 시스템</a:t>
            </a:r>
            <a:r>
              <a:rPr lang="ko-KR" altLang="en-US" dirty="0" smtClean="0"/>
              <a:t>을 구현한 것이다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전체 구조는 </a:t>
            </a:r>
            <a:r>
              <a:rPr lang="en-US" altLang="ko-KR" dirty="0" smtClean="0"/>
              <a:t>main()</a:t>
            </a:r>
            <a:r>
              <a:rPr lang="ko-KR" altLang="en-US" dirty="0" smtClean="0"/>
              <a:t>에서 버튼</a:t>
            </a:r>
            <a:r>
              <a:rPr lang="en-US" altLang="ko-KR" dirty="0" smtClean="0"/>
              <a:t>, LED, FND, Timer0, Timer1, Timer2, Timer3, DC </a:t>
            </a:r>
            <a:r>
              <a:rPr lang="ko-KR" altLang="en-US" dirty="0" smtClean="0"/>
              <a:t>모터</a:t>
            </a:r>
            <a:r>
              <a:rPr lang="en-US" altLang="ko-KR" dirty="0" smtClean="0"/>
              <a:t>, UART0, UART1, </a:t>
            </a:r>
            <a:r>
              <a:rPr lang="ko-KR" altLang="en-US" dirty="0" smtClean="0"/>
              <a:t>초음파 센서를 초기화한 뒤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메인 루프에서 </a:t>
            </a:r>
            <a:r>
              <a:rPr lang="en-US" altLang="ko-KR" dirty="0" err="1" smtClean="0"/>
              <a:t>pfunc</a:t>
            </a:r>
            <a:r>
              <a:rPr lang="en-US" altLang="ko-KR" dirty="0" smtClean="0"/>
              <a:t>[</a:t>
            </a:r>
            <a:r>
              <a:rPr lang="en-US" altLang="ko-KR" dirty="0" err="1" smtClean="0"/>
              <a:t>func_state</a:t>
            </a:r>
            <a:r>
              <a:rPr lang="en-US" altLang="ko-KR" dirty="0" smtClean="0"/>
              <a:t>]()</a:t>
            </a:r>
            <a:r>
              <a:rPr lang="ko-KR" altLang="en-US" dirty="0" smtClean="0"/>
              <a:t>를 호출하여 현재 모드에 해당하는 함수를 반복 실행하는 방식으로 구성되어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즉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단순한 단일 기능 프로그램이 아니라 여러 하드웨어 모듈을 통합한 </a:t>
            </a:r>
            <a:r>
              <a:rPr lang="ko-KR" altLang="en-US" dirty="0" err="1" smtClean="0"/>
              <a:t>임베디드</a:t>
            </a:r>
            <a:r>
              <a:rPr lang="ko-KR" altLang="en-US" dirty="0" smtClean="0"/>
              <a:t> 제어 시스템 형태로 구현되었다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가장 핵심적인 성과는 </a:t>
            </a:r>
            <a:r>
              <a:rPr lang="ko-KR" altLang="en-US" b="1" dirty="0" smtClean="0"/>
              <a:t>수동 주행 모드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자동 주행 모드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자동 주행 결과 확인 모드</a:t>
            </a:r>
            <a:r>
              <a:rPr lang="ko-KR" altLang="en-US" dirty="0" smtClean="0"/>
              <a:t>를 함수 포인터 배열 </a:t>
            </a:r>
            <a:r>
              <a:rPr lang="en-US" altLang="ko-KR" dirty="0" err="1" smtClean="0"/>
              <a:t>pfunc</a:t>
            </a:r>
            <a:r>
              <a:rPr lang="en-US" altLang="ko-KR" dirty="0" smtClean="0"/>
              <a:t>[]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func_state</a:t>
            </a:r>
            <a:r>
              <a:rPr lang="ko-KR" altLang="en-US" dirty="0" smtClean="0"/>
              <a:t>를 이용해 전환하도록 만든 점이다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manual_mode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auto_mode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auto_mode_check</a:t>
            </a:r>
            <a:r>
              <a:rPr lang="ko-KR" altLang="en-US" dirty="0" smtClean="0"/>
              <a:t>가 각각 독립된 상태 함수로 구성되어 있어 </a:t>
            </a:r>
            <a:r>
              <a:rPr lang="en-US" altLang="ko-KR" dirty="0" smtClean="0"/>
              <a:t>FSM </a:t>
            </a:r>
            <a:r>
              <a:rPr lang="ko-KR" altLang="en-US" dirty="0" smtClean="0"/>
              <a:t>구조의 기본 형태를 갖추고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수동 모드에서는 </a:t>
            </a:r>
            <a:r>
              <a:rPr lang="en-US" altLang="ko-KR" dirty="0" smtClean="0"/>
              <a:t>Bluetooth/UART</a:t>
            </a:r>
            <a:r>
              <a:rPr lang="ko-KR" altLang="en-US" dirty="0" smtClean="0"/>
              <a:t>로 입력된 </a:t>
            </a:r>
            <a:r>
              <a:rPr lang="en-US" altLang="ko-KR" dirty="0" smtClean="0"/>
              <a:t>f, b, l, r, s </a:t>
            </a:r>
            <a:r>
              <a:rPr lang="ko-KR" altLang="en-US" dirty="0" smtClean="0"/>
              <a:t>명령에 따라 전진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후진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좌회전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우회전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정지 동작을 수행한다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자동 모드에서는 초음파 센서의 좌</a:t>
            </a:r>
            <a:r>
              <a:rPr lang="en-US" altLang="ko-KR" dirty="0" smtClean="0"/>
              <a:t>·</a:t>
            </a:r>
            <a:r>
              <a:rPr lang="ko-KR" altLang="en-US" dirty="0" smtClean="0"/>
              <a:t>중앙</a:t>
            </a:r>
            <a:r>
              <a:rPr lang="en-US" altLang="ko-KR" dirty="0" smtClean="0"/>
              <a:t>·</a:t>
            </a:r>
            <a:r>
              <a:rPr lang="ko-KR" altLang="en-US" dirty="0" smtClean="0"/>
              <a:t>우 거리 값을 이용해 장애물을 판단하고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중앙 거리가 </a:t>
            </a:r>
            <a:r>
              <a:rPr lang="ko-KR" altLang="en-US" dirty="0" err="1" smtClean="0"/>
              <a:t>기준값보다</a:t>
            </a:r>
            <a:r>
              <a:rPr lang="ko-KR" altLang="en-US" dirty="0" smtClean="0"/>
              <a:t> 크면 전진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장애물이 가까우면 좌우 거리 비교를 통해 회피 방향을 결정한다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또한 </a:t>
            </a:r>
            <a:r>
              <a:rPr lang="en-US" altLang="ko-KR" b="1" dirty="0" smtClean="0"/>
              <a:t>PWM </a:t>
            </a:r>
            <a:r>
              <a:rPr lang="ko-KR" altLang="en-US" b="1" dirty="0" smtClean="0"/>
              <a:t>기반 </a:t>
            </a:r>
            <a:r>
              <a:rPr lang="en-US" altLang="ko-KR" b="1" dirty="0" smtClean="0"/>
              <a:t>DC </a:t>
            </a:r>
            <a:r>
              <a:rPr lang="ko-KR" altLang="en-US" b="1" dirty="0" smtClean="0"/>
              <a:t>모터 속도 제어</a:t>
            </a:r>
            <a:r>
              <a:rPr lang="ko-KR" altLang="en-US" dirty="0" smtClean="0"/>
              <a:t>가 구현되어 있다</a:t>
            </a:r>
            <a:r>
              <a:rPr lang="en-US" altLang="ko-KR" dirty="0" smtClean="0"/>
              <a:t>. Timer1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Fast PWM </a:t>
            </a:r>
            <a:r>
              <a:rPr lang="ko-KR" altLang="en-US" dirty="0" smtClean="0"/>
              <a:t>모드로 설정되어 있으며</a:t>
            </a:r>
            <a:r>
              <a:rPr lang="en-US" altLang="ko-KR" dirty="0" smtClean="0"/>
              <a:t>, ICR1 = 0x3ff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TOP </a:t>
            </a:r>
            <a:r>
              <a:rPr lang="ko-KR" altLang="en-US" dirty="0" smtClean="0"/>
              <a:t>값으로 사용하고 </a:t>
            </a:r>
            <a:r>
              <a:rPr lang="en-US" altLang="ko-KR" dirty="0" smtClean="0"/>
              <a:t>OCR1A, OCR1B</a:t>
            </a:r>
            <a:r>
              <a:rPr lang="ko-KR" altLang="en-US" dirty="0" smtClean="0"/>
              <a:t>를 통해 좌우 모터의 </a:t>
            </a:r>
            <a:r>
              <a:rPr lang="en-US" altLang="ko-KR" dirty="0" smtClean="0"/>
              <a:t>PWM </a:t>
            </a:r>
            <a:r>
              <a:rPr lang="ko-KR" altLang="en-US" dirty="0" err="1" smtClean="0"/>
              <a:t>듀티를</a:t>
            </a:r>
            <a:r>
              <a:rPr lang="ko-KR" altLang="en-US" dirty="0" smtClean="0"/>
              <a:t> 제어하는 구조이다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이를 통해 단순 </a:t>
            </a:r>
            <a:r>
              <a:rPr lang="en-US" altLang="ko-KR" dirty="0" smtClean="0"/>
              <a:t>ON/OFF </a:t>
            </a:r>
            <a:r>
              <a:rPr lang="ko-KR" altLang="en-US" dirty="0" smtClean="0"/>
              <a:t>방식이 아니라 속도 제어가 가능한 모터 구동 구조를 만들었다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센서 측면에서는 </a:t>
            </a:r>
            <a:r>
              <a:rPr lang="ko-KR" altLang="en-US" b="1" dirty="0" smtClean="0"/>
              <a:t>좌측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중앙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우측 </a:t>
            </a:r>
            <a:r>
              <a:rPr lang="en-US" altLang="ko-KR" b="1" dirty="0" smtClean="0"/>
              <a:t>3</a:t>
            </a:r>
            <a:r>
              <a:rPr lang="ko-KR" altLang="en-US" b="1" dirty="0" smtClean="0"/>
              <a:t>개의 초음파 센서</a:t>
            </a:r>
            <a:r>
              <a:rPr lang="ko-KR" altLang="en-US" dirty="0" smtClean="0"/>
              <a:t>를 사용한다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각 센서의 </a:t>
            </a:r>
            <a:r>
              <a:rPr lang="en-US" altLang="ko-KR" dirty="0" smtClean="0"/>
              <a:t>Trigger </a:t>
            </a:r>
            <a:r>
              <a:rPr lang="ko-KR" altLang="en-US" dirty="0" smtClean="0"/>
              <a:t>핀은 출력</a:t>
            </a:r>
            <a:r>
              <a:rPr lang="en-US" altLang="ko-KR" dirty="0" smtClean="0"/>
              <a:t>, Echo </a:t>
            </a:r>
            <a:r>
              <a:rPr lang="ko-KR" altLang="en-US" dirty="0" smtClean="0"/>
              <a:t>핀은 입력으로 설정하고</a:t>
            </a:r>
            <a:r>
              <a:rPr lang="en-US" altLang="ko-KR" dirty="0" smtClean="0"/>
              <a:t>, INT4, INT5, INT6 </a:t>
            </a:r>
            <a:r>
              <a:rPr lang="ko-KR" altLang="en-US" dirty="0" smtClean="0"/>
              <a:t>외부 인터럽트를 활성화하여 </a:t>
            </a:r>
            <a:r>
              <a:rPr lang="en-US" altLang="ko-KR" dirty="0" smtClean="0"/>
              <a:t>Echo </a:t>
            </a:r>
            <a:r>
              <a:rPr lang="ko-KR" altLang="en-US" dirty="0" smtClean="0"/>
              <a:t>신호를 감지하도록 구성되어 있다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ultrasonic_task</a:t>
            </a:r>
            <a:r>
              <a:rPr lang="en-US" altLang="ko-KR" dirty="0" smtClean="0"/>
              <a:t>()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sensor_step</a:t>
            </a:r>
            <a:r>
              <a:rPr lang="ko-KR" altLang="en-US" dirty="0" smtClean="0"/>
              <a:t>을 이용해 좌</a:t>
            </a:r>
            <a:r>
              <a:rPr lang="en-US" altLang="ko-KR" dirty="0" smtClean="0"/>
              <a:t>·</a:t>
            </a:r>
            <a:r>
              <a:rPr lang="ko-KR" altLang="en-US" dirty="0" smtClean="0"/>
              <a:t>중앙</a:t>
            </a:r>
            <a:r>
              <a:rPr lang="en-US" altLang="ko-KR" dirty="0" smtClean="0"/>
              <a:t>·</a:t>
            </a:r>
            <a:r>
              <a:rPr lang="ko-KR" altLang="en-US" dirty="0" smtClean="0"/>
              <a:t>우 센서를 순차적으로 동작시키는 구조를 가지고 있어 다중 초음파 센서 제어의 기본 형태를 갖추었다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입출력 측면에서는 </a:t>
            </a:r>
            <a:r>
              <a:rPr lang="en-US" altLang="ko-KR" b="1" dirty="0" smtClean="0"/>
              <a:t>UART0</a:t>
            </a:r>
            <a:r>
              <a:rPr lang="ko-KR" altLang="en-US" b="1" dirty="0" smtClean="0"/>
              <a:t>과 </a:t>
            </a:r>
            <a:r>
              <a:rPr lang="en-US" altLang="ko-KR" b="1" dirty="0" smtClean="0"/>
              <a:t>UART1</a:t>
            </a:r>
            <a:r>
              <a:rPr lang="ko-KR" altLang="en-US" b="1" dirty="0" smtClean="0"/>
              <a:t>을 동시에 사용</a:t>
            </a:r>
            <a:r>
              <a:rPr lang="ko-KR" altLang="en-US" dirty="0" smtClean="0"/>
              <a:t>한다</a:t>
            </a:r>
            <a:r>
              <a:rPr lang="en-US" altLang="ko-KR" dirty="0" smtClean="0"/>
              <a:t>. UART0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PC</a:t>
            </a:r>
            <a:r>
              <a:rPr lang="ko-KR" altLang="en-US" dirty="0" smtClean="0"/>
              <a:t>와의 통신 또는 디버깅 출력에 사용되고</a:t>
            </a:r>
            <a:r>
              <a:rPr lang="en-US" altLang="ko-KR" dirty="0" smtClean="0"/>
              <a:t>, UART1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Bluetooth </a:t>
            </a:r>
            <a:r>
              <a:rPr lang="ko-KR" altLang="en-US" dirty="0" err="1" smtClean="0"/>
              <a:t>수신용으로</a:t>
            </a:r>
            <a:r>
              <a:rPr lang="ko-KR" altLang="en-US" dirty="0" smtClean="0"/>
              <a:t> 사용된다</a:t>
            </a:r>
            <a:r>
              <a:rPr lang="en-US" altLang="ko-KR" dirty="0" smtClean="0"/>
              <a:t>. UART1 </a:t>
            </a:r>
            <a:r>
              <a:rPr lang="ko-KR" altLang="en-US" dirty="0" smtClean="0"/>
              <a:t>수신 인터럽트에서 받은 데이터를 </a:t>
            </a:r>
            <a:r>
              <a:rPr lang="en-US" altLang="ko-KR" dirty="0" err="1" smtClean="0"/>
              <a:t>bt_data</a:t>
            </a:r>
            <a:r>
              <a:rPr lang="ko-KR" altLang="en-US" dirty="0" smtClean="0"/>
              <a:t>에 저장하고 </a:t>
            </a:r>
            <a:r>
              <a:rPr lang="en-US" altLang="ko-KR" dirty="0" smtClean="0"/>
              <a:t>UART0</a:t>
            </a:r>
            <a:r>
              <a:rPr lang="ko-KR" altLang="en-US" dirty="0" smtClean="0"/>
              <a:t>으로 다시 출력하여 </a:t>
            </a:r>
            <a:r>
              <a:rPr lang="en-US" altLang="ko-KR" dirty="0" smtClean="0"/>
              <a:t>Bluetooth </a:t>
            </a:r>
            <a:r>
              <a:rPr lang="ko-KR" altLang="en-US" dirty="0" smtClean="0"/>
              <a:t>입력을 확인할 수 있도록 구성되어 있다</a:t>
            </a:r>
            <a:r>
              <a:rPr lang="en-US" altLang="ko-KR" dirty="0" smtClean="0"/>
              <a:t>. FND</a:t>
            </a:r>
            <a:r>
              <a:rPr lang="ko-KR" altLang="en-US" dirty="0" smtClean="0"/>
              <a:t>는 주행 중 모터 상태 표시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주행 시간 표시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좌회전</a:t>
            </a:r>
            <a:r>
              <a:rPr lang="en-US" altLang="ko-KR" dirty="0" smtClean="0"/>
              <a:t>/</a:t>
            </a:r>
            <a:r>
              <a:rPr lang="ko-KR" altLang="en-US" dirty="0" smtClean="0"/>
              <a:t>우회전 횟수 표시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초음파 거리 표시 기능을 포함하고 있어 차량의 동작 상태를 시각적으로 확인할 수 있다</a:t>
            </a:r>
            <a:r>
              <a:rPr lang="en-US" altLang="ko-KR" dirty="0" smtClean="0"/>
              <a:t>. </a:t>
            </a:r>
          </a:p>
          <a:p>
            <a:r>
              <a:rPr lang="en-US" altLang="ko-KR" b="1" dirty="0" smtClean="0"/>
              <a:t>2. </a:t>
            </a:r>
            <a:r>
              <a:rPr lang="ko-KR" altLang="en-US" b="1" dirty="0" smtClean="0"/>
              <a:t>문제점</a:t>
            </a:r>
          </a:p>
          <a:p>
            <a:r>
              <a:rPr lang="ko-KR" altLang="en-US" dirty="0" smtClean="0"/>
              <a:t>첫번째 문제는 </a:t>
            </a:r>
            <a:r>
              <a:rPr lang="ko-KR" altLang="en-US" b="1" dirty="0" smtClean="0"/>
              <a:t>초음파 센서 처리 구조의 불완전성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코드상으로는 </a:t>
            </a:r>
            <a:r>
              <a:rPr lang="en-US" altLang="ko-KR" dirty="0" err="1" smtClean="0"/>
              <a:t>ultrasonic_task</a:t>
            </a:r>
            <a:r>
              <a:rPr lang="en-US" altLang="ko-KR" dirty="0" smtClean="0"/>
              <a:t>()</a:t>
            </a:r>
            <a:r>
              <a:rPr lang="ko-KR" altLang="en-US" dirty="0" smtClean="0"/>
              <a:t>가 좌</a:t>
            </a:r>
            <a:r>
              <a:rPr lang="en-US" altLang="ko-KR" dirty="0" smtClean="0"/>
              <a:t>·</a:t>
            </a:r>
            <a:r>
              <a:rPr lang="ko-KR" altLang="en-US" dirty="0" smtClean="0"/>
              <a:t>중앙</a:t>
            </a:r>
            <a:r>
              <a:rPr lang="en-US" altLang="ko-KR" dirty="0" smtClean="0"/>
              <a:t>·</a:t>
            </a:r>
            <a:r>
              <a:rPr lang="ko-KR" altLang="en-US" dirty="0" smtClean="0"/>
              <a:t>우 센서를 순차적으로 트리거하도록 설계되어 있지만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실제 </a:t>
            </a:r>
            <a:r>
              <a:rPr lang="en-US" altLang="ko-KR" dirty="0" err="1" smtClean="0"/>
              <a:t>manual_mode</a:t>
            </a:r>
            <a:r>
              <a:rPr lang="en-US" altLang="ko-KR" dirty="0" smtClean="0"/>
              <a:t>()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auto_mode</a:t>
            </a:r>
            <a:r>
              <a:rPr lang="en-US" altLang="ko-KR" dirty="0" smtClean="0"/>
              <a:t>()</a:t>
            </a:r>
            <a:r>
              <a:rPr lang="ko-KR" altLang="en-US" dirty="0" smtClean="0"/>
              <a:t>에서는 </a:t>
            </a:r>
            <a:r>
              <a:rPr lang="en-US" altLang="ko-KR" dirty="0" err="1" smtClean="0"/>
              <a:t>left_make_trigger</a:t>
            </a:r>
            <a:r>
              <a:rPr lang="en-US" altLang="ko-KR" dirty="0" smtClean="0"/>
              <a:t>(), </a:t>
            </a:r>
            <a:r>
              <a:rPr lang="en-US" altLang="ko-KR" dirty="0" err="1" smtClean="0"/>
              <a:t>mid_make_trigger</a:t>
            </a:r>
            <a:r>
              <a:rPr lang="en-US" altLang="ko-KR" dirty="0" smtClean="0"/>
              <a:t>(), </a:t>
            </a:r>
            <a:r>
              <a:rPr lang="en-US" altLang="ko-KR" dirty="0" err="1" smtClean="0"/>
              <a:t>right_make_trigger</a:t>
            </a:r>
            <a:r>
              <a:rPr lang="en-US" altLang="ko-KR" dirty="0" smtClean="0"/>
              <a:t>()</a:t>
            </a:r>
            <a:r>
              <a:rPr lang="ko-KR" altLang="en-US" dirty="0" smtClean="0"/>
              <a:t>를 직접 호출하고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함수들은 내부에서 </a:t>
            </a:r>
            <a:r>
              <a:rPr lang="en-US" altLang="ko-KR" dirty="0" smtClean="0"/>
              <a:t>_</a:t>
            </a:r>
            <a:r>
              <a:rPr lang="en-US" altLang="ko-KR" dirty="0" err="1" smtClean="0"/>
              <a:t>delay_us</a:t>
            </a:r>
            <a:r>
              <a:rPr lang="en-US" altLang="ko-KR" dirty="0" smtClean="0"/>
              <a:t>(1), _</a:t>
            </a:r>
            <a:r>
              <a:rPr lang="en-US" altLang="ko-KR" dirty="0" err="1" smtClean="0"/>
              <a:t>delay_us</a:t>
            </a:r>
            <a:r>
              <a:rPr lang="en-US" altLang="ko-KR" dirty="0" smtClean="0"/>
              <a:t>(15)</a:t>
            </a:r>
            <a:r>
              <a:rPr lang="ko-KR" altLang="en-US" dirty="0" smtClean="0"/>
              <a:t>를 사용하므로 짧지만 </a:t>
            </a:r>
            <a:r>
              <a:rPr lang="en-US" altLang="ko-KR" dirty="0" smtClean="0"/>
              <a:t>blocking delay</a:t>
            </a:r>
            <a:r>
              <a:rPr lang="ko-KR" altLang="en-US" dirty="0" smtClean="0"/>
              <a:t>가 발생한다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또한 </a:t>
            </a:r>
            <a:r>
              <a:rPr lang="en-US" altLang="ko-KR" dirty="0" err="1" smtClean="0"/>
              <a:t>trigger_doing_left</a:t>
            </a:r>
            <a:r>
              <a:rPr lang="en-US" altLang="ko-KR" dirty="0" smtClean="0"/>
              <a:t> = 0</a:t>
            </a:r>
            <a:r>
              <a:rPr lang="ko-KR" altLang="en-US" dirty="0" smtClean="0"/>
              <a:t>처럼 트리거 수행 중 상태를 </a:t>
            </a:r>
            <a:r>
              <a:rPr lang="en-US" altLang="ko-KR" dirty="0" smtClean="0"/>
              <a:t>1</a:t>
            </a:r>
            <a:r>
              <a:rPr lang="ko-KR" altLang="en-US" dirty="0" smtClean="0"/>
              <a:t>로 바꾸지 않고 다시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설정하는 부분이 있어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센서 동작 중복 방지 플래그의 의도가 완전히 반영되지 않았다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두 번째 문제는 </a:t>
            </a:r>
            <a:r>
              <a:rPr lang="ko-KR" altLang="en-US" b="1" dirty="0" smtClean="0"/>
              <a:t>모듈 간 결합도가 높다</a:t>
            </a:r>
            <a:r>
              <a:rPr lang="ko-KR" altLang="en-US" dirty="0" smtClean="0"/>
              <a:t>는 점이다</a:t>
            </a:r>
            <a:r>
              <a:rPr lang="en-US" altLang="ko-KR" dirty="0" smtClean="0"/>
              <a:t>. FND </a:t>
            </a:r>
            <a:r>
              <a:rPr lang="ko-KR" altLang="en-US" dirty="0" smtClean="0"/>
              <a:t>모듈은 </a:t>
            </a:r>
            <a:r>
              <a:rPr lang="en-US" altLang="ko-KR" dirty="0" err="1" smtClean="0"/>
              <a:t>motor_state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run_record_count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trun_left_count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trun_right_count</a:t>
            </a:r>
            <a:r>
              <a:rPr lang="en-US" altLang="ko-KR" dirty="0" smtClean="0"/>
              <a:t>, </a:t>
            </a:r>
            <a:r>
              <a:rPr lang="ko-KR" altLang="en-US" dirty="0" smtClean="0"/>
              <a:t>초음파 거리 변수 등을 </a:t>
            </a:r>
            <a:r>
              <a:rPr lang="en-US" altLang="ko-KR" dirty="0" smtClean="0"/>
              <a:t>extern</a:t>
            </a:r>
            <a:r>
              <a:rPr lang="ko-KR" altLang="en-US" dirty="0" smtClean="0"/>
              <a:t>으로 직접 참조한다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방식은 구현은 빠르지만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한 모듈의 전역 변수가 바뀌면 다른 모듈도 함께 수정해야 하므로 유지보수가 어려워진다</a:t>
            </a:r>
            <a:r>
              <a:rPr lang="en-US" altLang="ko-KR" dirty="0" smtClean="0"/>
              <a:t>. </a:t>
            </a:r>
          </a:p>
          <a:p>
            <a:r>
              <a:rPr lang="en-US" altLang="ko-KR" b="1" dirty="0" smtClean="0"/>
              <a:t>3. </a:t>
            </a:r>
            <a:r>
              <a:rPr lang="ko-KR" altLang="en-US" b="1" dirty="0" smtClean="0"/>
              <a:t>개선방안</a:t>
            </a:r>
          </a:p>
          <a:p>
            <a:r>
              <a:rPr lang="ko-KR" altLang="en-US" dirty="0" smtClean="0"/>
              <a:t>첫 번째는 </a:t>
            </a:r>
            <a:r>
              <a:rPr lang="ko-KR" altLang="en-US" b="1" dirty="0" smtClean="0"/>
              <a:t>초음파 센서 처리를 </a:t>
            </a:r>
            <a:r>
              <a:rPr lang="en-US" altLang="ko-KR" b="1" dirty="0" smtClean="0"/>
              <a:t>non-blocking </a:t>
            </a:r>
            <a:r>
              <a:rPr lang="ko-KR" altLang="en-US" b="1" dirty="0" smtClean="0"/>
              <a:t>구조로 바꾸는 것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현재는 </a:t>
            </a:r>
            <a:r>
              <a:rPr lang="en-US" altLang="ko-KR" dirty="0" smtClean="0"/>
              <a:t>Trigger </a:t>
            </a:r>
            <a:r>
              <a:rPr lang="ko-KR" altLang="en-US" dirty="0" smtClean="0"/>
              <a:t>생성에 </a:t>
            </a:r>
            <a:r>
              <a:rPr lang="en-US" altLang="ko-KR" dirty="0" smtClean="0"/>
              <a:t>_</a:t>
            </a:r>
            <a:r>
              <a:rPr lang="en-US" altLang="ko-KR" dirty="0" err="1" smtClean="0"/>
              <a:t>delay_us</a:t>
            </a:r>
            <a:r>
              <a:rPr lang="en-US" altLang="ko-KR" dirty="0" smtClean="0"/>
              <a:t>()</a:t>
            </a:r>
            <a:r>
              <a:rPr lang="ko-KR" altLang="en-US" dirty="0" smtClean="0"/>
              <a:t>가 사용되고 있으므로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이를 </a:t>
            </a:r>
            <a:r>
              <a:rPr lang="en-US" altLang="ko-KR" dirty="0" smtClean="0"/>
              <a:t>Timer </a:t>
            </a:r>
            <a:r>
              <a:rPr lang="ko-KR" altLang="en-US" dirty="0" smtClean="0"/>
              <a:t>기반 상태 처리로 바꾸는 것이 좋다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예를 들어 </a:t>
            </a:r>
            <a:r>
              <a:rPr lang="en-US" altLang="ko-KR" dirty="0" smtClean="0"/>
              <a:t>TRIG_LOW, TRIG_HIGH, WAIT_ECHO, ECHO_DONE, TIMEOUT </a:t>
            </a:r>
            <a:r>
              <a:rPr lang="ko-KR" altLang="en-US" dirty="0" smtClean="0"/>
              <a:t>같은 센서 내부 </a:t>
            </a:r>
            <a:r>
              <a:rPr lang="en-US" altLang="ko-KR" dirty="0" smtClean="0"/>
              <a:t>FSM</a:t>
            </a:r>
            <a:r>
              <a:rPr lang="ko-KR" altLang="en-US" dirty="0" smtClean="0"/>
              <a:t>을 만들고</a:t>
            </a:r>
            <a:r>
              <a:rPr lang="en-US" altLang="ko-KR" dirty="0" smtClean="0"/>
              <a:t>, Timer2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_</a:t>
            </a:r>
            <a:r>
              <a:rPr lang="en-US" altLang="ko-KR" dirty="0" err="1" smtClean="0"/>
              <a:t>us_count</a:t>
            </a:r>
            <a:r>
              <a:rPr lang="ko-KR" altLang="en-US" dirty="0" smtClean="0"/>
              <a:t>를 기준으로 </a:t>
            </a:r>
            <a:r>
              <a:rPr lang="en-US" altLang="ko-KR" dirty="0" smtClean="0"/>
              <a:t>Trigger HIGH </a:t>
            </a:r>
            <a:r>
              <a:rPr lang="ko-KR" altLang="en-US" dirty="0" smtClean="0"/>
              <a:t>유지 시간을 관리하면 메인 루프가 멈추지 않는다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이미 주석 처리된 코드에 </a:t>
            </a:r>
            <a:r>
              <a:rPr lang="en-US" altLang="ko-KR" dirty="0" smtClean="0"/>
              <a:t>_</a:t>
            </a:r>
            <a:r>
              <a:rPr lang="en-US" altLang="ko-KR" dirty="0" err="1" smtClean="0"/>
              <a:t>us_count</a:t>
            </a:r>
            <a:r>
              <a:rPr lang="ko-KR" altLang="en-US" dirty="0" smtClean="0"/>
              <a:t>를 이용해 </a:t>
            </a:r>
            <a:r>
              <a:rPr lang="en-US" altLang="ko-KR" dirty="0" smtClean="0"/>
              <a:t>delay </a:t>
            </a:r>
            <a:r>
              <a:rPr lang="ko-KR" altLang="en-US" dirty="0" smtClean="0"/>
              <a:t>없이 트리거를 만들려는 흔적이 있으므로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 방향으로 정리하면 구조가 더 좋아진다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두 번째는 </a:t>
            </a:r>
            <a:r>
              <a:rPr lang="ko-KR" altLang="en-US" b="1" dirty="0" smtClean="0"/>
              <a:t>모듈 간 데이터 전달 방식을 정리하는 것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 FND</a:t>
            </a:r>
            <a:r>
              <a:rPr lang="ko-KR" altLang="en-US" dirty="0" smtClean="0"/>
              <a:t>가 여러 전역 변수를 직접 참조하기보다 </a:t>
            </a:r>
            <a:r>
              <a:rPr lang="en-US" altLang="ko-KR" dirty="0" err="1" smtClean="0"/>
              <a:t>DriveStatus</a:t>
            </a:r>
            <a:r>
              <a:rPr lang="en-US" altLang="ko-KR" dirty="0" smtClean="0"/>
              <a:t> </a:t>
            </a:r>
            <a:r>
              <a:rPr lang="ko-KR" altLang="en-US" dirty="0" smtClean="0"/>
              <a:t>구조체를 만들어 </a:t>
            </a:r>
            <a:r>
              <a:rPr lang="en-US" altLang="ko-KR" dirty="0" err="1" smtClean="0"/>
              <a:t>motor_state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run_time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left_turn_count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right_turn_count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left_distance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mid_distance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right_distance</a:t>
            </a:r>
            <a:r>
              <a:rPr lang="ko-KR" altLang="en-US" dirty="0" smtClean="0"/>
              <a:t>를 한 곳에 모으는 것이 좋다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그러면 </a:t>
            </a:r>
            <a:r>
              <a:rPr lang="en-US" altLang="ko-KR" dirty="0" smtClean="0"/>
              <a:t>Display </a:t>
            </a:r>
            <a:r>
              <a:rPr lang="ko-KR" altLang="en-US" dirty="0" smtClean="0"/>
              <a:t>모듈은 이 구조체만 읽고</a:t>
            </a:r>
            <a:r>
              <a:rPr lang="en-US" altLang="ko-KR" dirty="0" smtClean="0"/>
              <a:t>, Motor</a:t>
            </a:r>
            <a:r>
              <a:rPr lang="ko-KR" altLang="en-US" dirty="0" smtClean="0"/>
              <a:t>나 </a:t>
            </a:r>
            <a:r>
              <a:rPr lang="en-US" altLang="ko-KR" dirty="0" smtClean="0"/>
              <a:t>Ultrasonic </a:t>
            </a:r>
            <a:r>
              <a:rPr lang="ko-KR" altLang="en-US" dirty="0" smtClean="0"/>
              <a:t>내부 구현에는 직접 의존하지 않게 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세번째는 </a:t>
            </a:r>
            <a:r>
              <a:rPr lang="en-US" altLang="ko-KR" b="1" dirty="0" smtClean="0"/>
              <a:t>UART </a:t>
            </a:r>
            <a:r>
              <a:rPr lang="ko-KR" altLang="en-US" b="1" dirty="0" smtClean="0"/>
              <a:t>명령 </a:t>
            </a:r>
            <a:r>
              <a:rPr lang="ko-KR" altLang="en-US" b="1" dirty="0" err="1" smtClean="0"/>
              <a:t>파서를</a:t>
            </a:r>
            <a:r>
              <a:rPr lang="ko-KR" altLang="en-US" b="1" dirty="0" smtClean="0"/>
              <a:t> 차량 프로젝트에 맞게 </a:t>
            </a:r>
            <a:r>
              <a:rPr lang="ko-KR" altLang="en-US" b="1" dirty="0" err="1" smtClean="0"/>
              <a:t>재작성하는</a:t>
            </a:r>
            <a:r>
              <a:rPr lang="ko-KR" altLang="en-US" b="1" dirty="0" smtClean="0"/>
              <a:t> 것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현재 </a:t>
            </a:r>
            <a:r>
              <a:rPr lang="en-US" altLang="ko-KR" dirty="0" smtClean="0"/>
              <a:t>Bluetooth </a:t>
            </a:r>
            <a:r>
              <a:rPr lang="ko-KR" altLang="en-US" dirty="0" smtClean="0"/>
              <a:t>명령은 단일 문자 기반으로 동작하므로 빠르고 단순하다는 장점이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다만 확장성을 위해 </a:t>
            </a:r>
            <a:r>
              <a:rPr lang="en-US" altLang="ko-KR" dirty="0" smtClean="0"/>
              <a:t>f, b, l, r, s, n </a:t>
            </a:r>
            <a:r>
              <a:rPr lang="ko-KR" altLang="en-US" dirty="0" smtClean="0"/>
              <a:t>외에도 </a:t>
            </a:r>
            <a:r>
              <a:rPr lang="en-US" altLang="ko-KR" dirty="0" smtClean="0"/>
              <a:t>auto, manual, status, speed=500 </a:t>
            </a:r>
            <a:r>
              <a:rPr lang="ko-KR" altLang="en-US" dirty="0" smtClean="0"/>
              <a:t>같은 문자열 명령을 처리할 수 있도록 명령 테이블 방식으로 바꾸면 좋다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잘못된 명령이 들어오면 무시하지 말고 </a:t>
            </a:r>
            <a:r>
              <a:rPr lang="en-US" altLang="ko-KR" dirty="0" smtClean="0"/>
              <a:t>ERROR: UNKNOWN COMMAND </a:t>
            </a:r>
            <a:r>
              <a:rPr lang="ko-KR" altLang="en-US" dirty="0" smtClean="0"/>
              <a:t>같은 응답을 </a:t>
            </a:r>
            <a:r>
              <a:rPr lang="en-US" altLang="ko-KR" dirty="0" smtClean="0"/>
              <a:t>UART0</a:t>
            </a:r>
            <a:r>
              <a:rPr lang="ko-KR" altLang="en-US" dirty="0" smtClean="0"/>
              <a:t>으로 출력하면 디버깅이 쉬워진다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925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64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7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A1902-5E0F-4C85-6B9B-CFB8C95C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24FC5-232C-D503-51B2-2388BA704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67C67-55AD-BA6E-8404-A37284FE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F5193-41CD-4063-B0C7-05E32D5C3CC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47630-7AE5-2706-2404-F94D6A4CF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A98C0-863E-3233-E6CC-C61C5150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1A778-E908-4432-BB93-29EAA93A69D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966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956878-ABEC-AF9A-D2CE-3CA826B6E387}"/>
              </a:ext>
            </a:extLst>
          </p:cNvPr>
          <p:cNvSpPr txBox="1"/>
          <p:nvPr/>
        </p:nvSpPr>
        <p:spPr>
          <a:xfrm>
            <a:off x="465221" y="320841"/>
            <a:ext cx="5027723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spc="-150" dirty="0">
                <a:solidFill>
                  <a:schemeClr val="bg1"/>
                </a:solidFill>
                <a:latin typeface="Arial Black" panose="020B0A04020102020204" pitchFamily="34" charset="0"/>
              </a:rPr>
              <a:t>AVR Project</a:t>
            </a:r>
          </a:p>
          <a:p>
            <a:r>
              <a:rPr lang="en-US" altLang="ko-KR" sz="5400" spc="-150" dirty="0">
                <a:solidFill>
                  <a:schemeClr val="bg1"/>
                </a:solidFill>
                <a:latin typeface="Arial Black" panose="020B0A04020102020204" pitchFamily="34" charset="0"/>
              </a:rPr>
              <a:t>- Auto Car</a:t>
            </a:r>
            <a:endParaRPr lang="ko-KR" altLang="en-US" sz="5400" spc="-15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EB93D-E860-DD72-63D2-BA2ACD126D65}"/>
              </a:ext>
            </a:extLst>
          </p:cNvPr>
          <p:cNvSpPr txBox="1"/>
          <p:nvPr/>
        </p:nvSpPr>
        <p:spPr>
          <a:xfrm>
            <a:off x="513347" y="2903620"/>
            <a:ext cx="1808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이세형</a:t>
            </a:r>
            <a:r>
              <a:rPr lang="ko-KR" altLang="en-US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ko-KR" altLang="en-US" sz="20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이양배</a:t>
            </a:r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A083F78-7EAC-088E-92A6-2CCA7C19FAAA}"/>
              </a:ext>
            </a:extLst>
          </p:cNvPr>
          <p:cNvCxnSpPr>
            <a:cxnSpLocks/>
          </p:cNvCxnSpPr>
          <p:nvPr/>
        </p:nvCxnSpPr>
        <p:spPr>
          <a:xfrm>
            <a:off x="513347" y="2542674"/>
            <a:ext cx="117000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62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748DE9C-B5AD-BAA4-4EBD-53FA1916E9A2}"/>
              </a:ext>
            </a:extLst>
          </p:cNvPr>
          <p:cNvSpPr txBox="1"/>
          <p:nvPr/>
        </p:nvSpPr>
        <p:spPr>
          <a:xfrm>
            <a:off x="1229707" y="72189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accent1"/>
                </a:solidFill>
                <a:latin typeface="Arial Black" panose="020B0A04020102020204" pitchFamily="34" charset="0"/>
                <a:ea typeface="+mj-ea"/>
              </a:rPr>
              <a:t>목차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08183-DB54-F711-9B69-C8C5752AF7AF}"/>
              </a:ext>
            </a:extLst>
          </p:cNvPr>
          <p:cNvSpPr txBox="1"/>
          <p:nvPr/>
        </p:nvSpPr>
        <p:spPr>
          <a:xfrm>
            <a:off x="1856247" y="1795038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1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F8E78-68AC-B048-5336-EE835D4169E6}"/>
              </a:ext>
            </a:extLst>
          </p:cNvPr>
          <p:cNvSpPr txBox="1"/>
          <p:nvPr/>
        </p:nvSpPr>
        <p:spPr>
          <a:xfrm>
            <a:off x="2585007" y="1733483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개요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F5BEB-A29E-EC98-4681-67E53CB0B3C2}"/>
              </a:ext>
            </a:extLst>
          </p:cNvPr>
          <p:cNvSpPr txBox="1"/>
          <p:nvPr/>
        </p:nvSpPr>
        <p:spPr>
          <a:xfrm>
            <a:off x="1856247" y="2871256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2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EF1453-BC33-8329-E803-35808F5E93AA}"/>
              </a:ext>
            </a:extLst>
          </p:cNvPr>
          <p:cNvSpPr txBox="1"/>
          <p:nvPr/>
        </p:nvSpPr>
        <p:spPr>
          <a:xfrm>
            <a:off x="2585007" y="2809701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FSM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7FBC02-6717-E326-10F3-EED37C2CE102}"/>
              </a:ext>
            </a:extLst>
          </p:cNvPr>
          <p:cNvSpPr txBox="1"/>
          <p:nvPr/>
        </p:nvSpPr>
        <p:spPr>
          <a:xfrm>
            <a:off x="1856247" y="3947474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3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A99F0-E26F-49EF-19FA-5DA225DF25D0}"/>
              </a:ext>
            </a:extLst>
          </p:cNvPr>
          <p:cNvSpPr txBox="1"/>
          <p:nvPr/>
        </p:nvSpPr>
        <p:spPr>
          <a:xfrm>
            <a:off x="2585007" y="3885919"/>
            <a:ext cx="1992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작동 영상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C5CD14-4594-1730-18CF-710701846C6F}"/>
              </a:ext>
            </a:extLst>
          </p:cNvPr>
          <p:cNvSpPr txBox="1"/>
          <p:nvPr/>
        </p:nvSpPr>
        <p:spPr>
          <a:xfrm>
            <a:off x="1856247" y="4965817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4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BB9965-4F0D-8E0C-4C5A-019C795529F3}"/>
              </a:ext>
            </a:extLst>
          </p:cNvPr>
          <p:cNvSpPr txBox="1"/>
          <p:nvPr/>
        </p:nvSpPr>
        <p:spPr>
          <a:xfrm>
            <a:off x="2585007" y="4904262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S/W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B173C-BF4B-5D6B-514A-71779E736CDB}"/>
              </a:ext>
            </a:extLst>
          </p:cNvPr>
          <p:cNvSpPr txBox="1"/>
          <p:nvPr/>
        </p:nvSpPr>
        <p:spPr>
          <a:xfrm>
            <a:off x="2585007" y="1035957"/>
            <a:ext cx="2354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Arial Black" panose="020B0A04020102020204" pitchFamily="34" charset="0"/>
              </a:rPr>
              <a:t>table of contents</a:t>
            </a:r>
            <a:endParaRPr lang="ko-KR" altLang="en-US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258E78-E0A3-AE12-64E5-C4481F9EEFE4}"/>
              </a:ext>
            </a:extLst>
          </p:cNvPr>
          <p:cNvSpPr txBox="1"/>
          <p:nvPr/>
        </p:nvSpPr>
        <p:spPr>
          <a:xfrm>
            <a:off x="9987228" y="6437787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C5CD14-4594-1730-18CF-710701846C6F}"/>
              </a:ext>
            </a:extLst>
          </p:cNvPr>
          <p:cNvSpPr txBox="1"/>
          <p:nvPr/>
        </p:nvSpPr>
        <p:spPr>
          <a:xfrm>
            <a:off x="1856247" y="5975839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5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BB9965-4F0D-8E0C-4C5A-019C795529F3}"/>
              </a:ext>
            </a:extLst>
          </p:cNvPr>
          <p:cNvSpPr txBox="1"/>
          <p:nvPr/>
        </p:nvSpPr>
        <p:spPr>
          <a:xfrm>
            <a:off x="2585007" y="5914284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결론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578" y="192591"/>
            <a:ext cx="4853940" cy="65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314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3020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47391" y="3350782"/>
              <a:ext cx="430117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b="1" spc="-3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프로젝트 개요</a:t>
              </a:r>
              <a:endParaRPr lang="ko-KR" altLang="en-US" sz="5400" b="1" spc="-3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744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13B2B03-9958-7080-A8FA-B021EDFEB92B}"/>
              </a:ext>
            </a:extLst>
          </p:cNvPr>
          <p:cNvSpPr/>
          <p:nvPr/>
        </p:nvSpPr>
        <p:spPr>
          <a:xfrm>
            <a:off x="15315542" y="1572255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993AD8-5CEA-2D1B-82AC-2D89F5B58074}"/>
              </a:ext>
            </a:extLst>
          </p:cNvPr>
          <p:cNvGrpSpPr/>
          <p:nvPr/>
        </p:nvGrpSpPr>
        <p:grpSpPr>
          <a:xfrm>
            <a:off x="16297717" y="1836751"/>
            <a:ext cx="3874975" cy="1491414"/>
            <a:chOff x="5071677" y="598302"/>
            <a:chExt cx="5322767" cy="2048645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917425D-F03B-F354-FEC0-11250975C51C}"/>
                </a:ext>
              </a:extLst>
            </p:cNvPr>
            <p:cNvSpPr/>
            <p:nvPr/>
          </p:nvSpPr>
          <p:spPr>
            <a:xfrm>
              <a:off x="5071677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2D86A9D-39F0-778D-7C2D-6B2967ABF872}"/>
                </a:ext>
              </a:extLst>
            </p:cNvPr>
            <p:cNvSpPr/>
            <p:nvPr/>
          </p:nvSpPr>
          <p:spPr>
            <a:xfrm>
              <a:off x="8345799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49E913F-178D-7981-553C-769FFE1B1252}"/>
                </a:ext>
              </a:extLst>
            </p:cNvPr>
            <p:cNvSpPr/>
            <p:nvPr/>
          </p:nvSpPr>
          <p:spPr>
            <a:xfrm>
              <a:off x="6708666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15315488" y="4090478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4B8AE79-A306-A46A-EEF1-06F4CEFAEB92}"/>
              </a:ext>
            </a:extLst>
          </p:cNvPr>
          <p:cNvSpPr/>
          <p:nvPr/>
        </p:nvSpPr>
        <p:spPr>
          <a:xfrm>
            <a:off x="16297663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B7E96AE-48A6-A34C-EFD2-3F9F934109DD}"/>
              </a:ext>
            </a:extLst>
          </p:cNvPr>
          <p:cNvSpPr/>
          <p:nvPr/>
        </p:nvSpPr>
        <p:spPr>
          <a:xfrm>
            <a:off x="18681224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685C743-667E-953C-9424-2457F2A44BBC}"/>
              </a:ext>
            </a:extLst>
          </p:cNvPr>
          <p:cNvSpPr/>
          <p:nvPr/>
        </p:nvSpPr>
        <p:spPr>
          <a:xfrm>
            <a:off x="17489392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53D032-5499-0641-D904-7324D054E01F}"/>
              </a:ext>
            </a:extLst>
          </p:cNvPr>
          <p:cNvSpPr txBox="1"/>
          <p:nvPr/>
        </p:nvSpPr>
        <p:spPr>
          <a:xfrm flipH="1">
            <a:off x="16509677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1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6E3A30-AC1B-F0AA-579F-425170F442B5}"/>
              </a:ext>
            </a:extLst>
          </p:cNvPr>
          <p:cNvSpPr txBox="1"/>
          <p:nvPr/>
        </p:nvSpPr>
        <p:spPr>
          <a:xfrm flipH="1">
            <a:off x="17720654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2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47853B-477E-91A6-7476-B9DE24370803}"/>
              </a:ext>
            </a:extLst>
          </p:cNvPr>
          <p:cNvSpPr txBox="1"/>
          <p:nvPr/>
        </p:nvSpPr>
        <p:spPr>
          <a:xfrm flipH="1">
            <a:off x="18931631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3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6834E9-F8C4-A144-81C2-01D4A963F72A}"/>
              </a:ext>
            </a:extLst>
          </p:cNvPr>
          <p:cNvSpPr txBox="1"/>
          <p:nvPr/>
        </p:nvSpPr>
        <p:spPr>
          <a:xfrm flipH="1">
            <a:off x="16516693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516656-473D-938C-C42F-7CEC57624741}"/>
              </a:ext>
            </a:extLst>
          </p:cNvPr>
          <p:cNvSpPr txBox="1"/>
          <p:nvPr/>
        </p:nvSpPr>
        <p:spPr>
          <a:xfrm flipH="1">
            <a:off x="17727670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10E921-C951-E3EE-3892-18B32D1CCC90}"/>
              </a:ext>
            </a:extLst>
          </p:cNvPr>
          <p:cNvSpPr txBox="1"/>
          <p:nvPr/>
        </p:nvSpPr>
        <p:spPr>
          <a:xfrm flipH="1">
            <a:off x="18938647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3F2EE1-E72C-4DD3-0605-83467FBC130B}"/>
              </a:ext>
            </a:extLst>
          </p:cNvPr>
          <p:cNvCxnSpPr/>
          <p:nvPr/>
        </p:nvCxnSpPr>
        <p:spPr>
          <a:xfrm flipV="1">
            <a:off x="18169833" y="3592662"/>
            <a:ext cx="0" cy="497816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FA96696-4197-AB01-41F5-C2A0B82632DA}"/>
              </a:ext>
            </a:extLst>
          </p:cNvPr>
          <p:cNvCxnSpPr>
            <a:cxnSpLocks/>
          </p:cNvCxnSpPr>
          <p:nvPr/>
        </p:nvCxnSpPr>
        <p:spPr>
          <a:xfrm>
            <a:off x="18354515" y="3592662"/>
            <a:ext cx="0" cy="497816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125822"/>
              </p:ext>
            </p:extLst>
          </p:nvPr>
        </p:nvGraphicFramePr>
        <p:xfrm>
          <a:off x="198848" y="950841"/>
          <a:ext cx="11781128" cy="5774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4453">
                  <a:extLst>
                    <a:ext uri="{9D8B030D-6E8A-4147-A177-3AD203B41FA5}">
                      <a16:colId xmlns:a16="http://schemas.microsoft.com/office/drawing/2014/main" val="106595958"/>
                    </a:ext>
                  </a:extLst>
                </a:gridCol>
                <a:gridCol w="7686675">
                  <a:extLst>
                    <a:ext uri="{9D8B030D-6E8A-4147-A177-3AD203B41FA5}">
                      <a16:colId xmlns:a16="http://schemas.microsoft.com/office/drawing/2014/main" val="4031561553"/>
                    </a:ext>
                  </a:extLst>
                </a:gridCol>
              </a:tblGrid>
              <a:tr h="3185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Name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Autonomous Driving DC Motor Car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4511995"/>
                  </a:ext>
                </a:extLst>
              </a:tr>
              <a:tr h="589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Description</a:t>
                      </a:r>
                      <a:r>
                        <a:rPr lang="en-US" altLang="ko-KR" sz="2000" baseline="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 &amp; Goals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ATmega128A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기반의 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DC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모터 제어 시스템 구현</a:t>
                      </a:r>
                    </a:p>
                    <a:p>
                      <a:pPr algn="l" latinLnBrk="1"/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UART/Bluetooth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명령으로 수동 주행 제어</a:t>
                      </a:r>
                    </a:p>
                    <a:p>
                      <a:pPr algn="l" latinLnBrk="1"/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초음파 센서를 이용한 장애물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0250089"/>
                  </a:ext>
                </a:extLst>
              </a:tr>
              <a:tr h="11129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Scope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UART0/USART1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기반 명령 수신 및 송신</a:t>
                      </a:r>
                    </a:p>
                    <a:p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버튼을 이용한 모드 전환</a:t>
                      </a:r>
                    </a:p>
                    <a:p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DC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모터 전진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후진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좌회전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우회전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정지 제어</a:t>
                      </a:r>
                    </a:p>
                    <a:p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Timer1 PWM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기반 모터 속도 제어</a:t>
                      </a:r>
                    </a:p>
                    <a:p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좌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중앙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우 초음파 센서 거리 측정</a:t>
                      </a:r>
                    </a:p>
                    <a:p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FND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를 이용한 주행 시간 및 회전 횟수 표시</a:t>
                      </a:r>
                      <a:endParaRPr lang="ko-KR" altLang="en-US" sz="16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2711061"/>
                  </a:ext>
                </a:extLst>
              </a:tr>
              <a:tr h="857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Constraints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MCU: ATmega128A / Timer0: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버튼 </a:t>
                      </a:r>
                      <a:r>
                        <a:rPr lang="ko-KR" altLang="en-US" sz="1600" dirty="0" err="1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디바운싱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/Auto</a:t>
                      </a:r>
                      <a:r>
                        <a:rPr lang="en-US" altLang="ko-KR" sz="1600" baseline="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mode </a:t>
                      </a:r>
                      <a:r>
                        <a:rPr lang="ko-KR" altLang="en-US" sz="1600" baseline="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시간 </a:t>
                      </a:r>
                      <a:r>
                        <a:rPr lang="ko-KR" altLang="en-US" sz="1600" baseline="0" dirty="0" err="1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체크용</a:t>
                      </a:r>
                      <a:endParaRPr lang="en-US" altLang="ko-KR" sz="1600" baseline="0" dirty="0" smtClean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Timer1: PWM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모터 제어 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 Timer3: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초음파 측정용 타이머</a:t>
                      </a:r>
                    </a:p>
                    <a:p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외부 인터럽트 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INT4~INT6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사용 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 UART RX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는 인터럽트 기반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TX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는 </a:t>
                      </a:r>
                      <a:r>
                        <a:rPr lang="ko-KR" altLang="en-US" sz="1600" dirty="0" err="1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폴링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기반</a:t>
                      </a:r>
                      <a:endParaRPr lang="ko-KR" altLang="en-US" sz="16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2730901"/>
                  </a:ext>
                </a:extLst>
              </a:tr>
              <a:tr h="11129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Deliberables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수동 주행 모드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(Manual Mode)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FSM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기반 자율주행 모듈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(Autonomous Driving </a:t>
                      </a:r>
                      <a:r>
                        <a:rPr lang="en-US" altLang="ko-KR" sz="1600" b="1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FSM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UART/Bluetooth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명령 처리 모듈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(Command </a:t>
                      </a:r>
                      <a:r>
                        <a:rPr lang="en-US" altLang="ko-KR" sz="1600" b="1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Parser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DC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모터 제어 모듈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600" b="1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PWM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600" kern="1200" dirty="0" smtClean="0"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초음파 거리 측정 모듈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(Ultrasonic Sensor Module)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FND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표시 및 주행 정보 모니터링 모듈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0036677"/>
                  </a:ext>
                </a:extLst>
              </a:tr>
              <a:tr h="589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Key Components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ATmega128A, DC Motor, Motor Driver, Ultrasonic Sensor, FND(7-Segment), Push Button, UART0, USART1/Bluetooth, Timer0/1/2/3, External Interrupt, led</a:t>
                      </a:r>
                      <a:endParaRPr lang="ko-KR" altLang="en-US" sz="16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281261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83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</a:t>
            </a:r>
            <a:r>
              <a:rPr lang="ko-KR" altLang="en-US" sz="1600" dirty="0" smtClean="0">
                <a:solidFill>
                  <a:schemeClr val="accent1"/>
                </a:solidFill>
              </a:rPr>
              <a:t>１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383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프로젝트　개요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16112" y="156603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9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78286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921133" y="3277039"/>
              <a:ext cx="186461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0" b="1" spc="-3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FSM</a:t>
              </a:r>
              <a:endParaRPr lang="ko-KR" altLang="en-US" sz="6000" b="1" spc="-3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416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519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세부 기능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2829018" y="2827306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Arial Black" panose="020B0A04020102020204" pitchFamily="34" charset="0"/>
              </a:rPr>
              <a:t>Auto </a:t>
            </a: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238566" y="2827402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Forward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719682" y="917444"/>
            <a:ext cx="1500138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Right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turn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35" name="직선 화살표 연결선 34"/>
          <p:cNvCxnSpPr>
            <a:stCxn id="28" idx="6"/>
            <a:endCxn id="32" idx="2"/>
          </p:cNvCxnSpPr>
          <p:nvPr/>
        </p:nvCxnSpPr>
        <p:spPr>
          <a:xfrm>
            <a:off x="4204395" y="3259306"/>
            <a:ext cx="1034171" cy="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32" idx="0"/>
            <a:endCxn id="34" idx="2"/>
          </p:cNvCxnSpPr>
          <p:nvPr/>
        </p:nvCxnSpPr>
        <p:spPr>
          <a:xfrm flipV="1">
            <a:off x="5926255" y="1349444"/>
            <a:ext cx="1793427" cy="1477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타원 36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842015" y="5103367"/>
            <a:ext cx="1500138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Left</a:t>
            </a:r>
            <a:b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turn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38" name="직선 화살표 연결선 37"/>
          <p:cNvCxnSpPr>
            <a:stCxn id="32" idx="4"/>
            <a:endCxn id="37" idx="2"/>
          </p:cNvCxnSpPr>
          <p:nvPr/>
        </p:nvCxnSpPr>
        <p:spPr>
          <a:xfrm>
            <a:off x="5926255" y="3691402"/>
            <a:ext cx="1915760" cy="1843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3935730" y="2458099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Not 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9796182" y="1250548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Laft</a:t>
            </a:r>
            <a:endParaRPr lang="en-US" altLang="ko-KR" sz="1600" dirty="0" smtClean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447230" y="1082475"/>
            <a:ext cx="2951611" cy="152914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Forward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Backward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Right turn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Left turn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775090" y="3149930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Front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0704240" y="2854765"/>
            <a:ext cx="1500138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Right Left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compare</a:t>
            </a:r>
          </a:p>
        </p:txBody>
      </p:sp>
      <p:cxnSp>
        <p:nvCxnSpPr>
          <p:cNvPr id="44" name="직선 화살표 연결선 43"/>
          <p:cNvCxnSpPr>
            <a:stCxn id="32" idx="6"/>
            <a:endCxn id="43" idx="2"/>
          </p:cNvCxnSpPr>
          <p:nvPr/>
        </p:nvCxnSpPr>
        <p:spPr>
          <a:xfrm>
            <a:off x="6613943" y="3259402"/>
            <a:ext cx="4090297" cy="27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43" idx="0"/>
            <a:endCxn id="34" idx="6"/>
          </p:cNvCxnSpPr>
          <p:nvPr/>
        </p:nvCxnSpPr>
        <p:spPr>
          <a:xfrm flipH="1" flipV="1">
            <a:off x="9219820" y="1349444"/>
            <a:ext cx="2234489" cy="1505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43" idx="4"/>
            <a:endCxn id="37" idx="6"/>
          </p:cNvCxnSpPr>
          <p:nvPr/>
        </p:nvCxnSpPr>
        <p:spPr>
          <a:xfrm flipH="1">
            <a:off x="9342153" y="3718765"/>
            <a:ext cx="2112156" cy="1816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타원 46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755138" y="1173468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Laft</a:t>
            </a:r>
            <a:endParaRPr lang="en-US" altLang="ko-KR" sz="1600" dirty="0" smtClean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0013227" y="4346788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Right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402920" y="2243892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Maunal</a:t>
            </a: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 Mode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0" name="직선 화살표 연결선 49"/>
          <p:cNvCxnSpPr>
            <a:stCxn id="49" idx="6"/>
            <a:endCxn id="28" idx="0"/>
          </p:cNvCxnSpPr>
          <p:nvPr/>
        </p:nvCxnSpPr>
        <p:spPr>
          <a:xfrm>
            <a:off x="1778297" y="2675892"/>
            <a:ext cx="1738410" cy="151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원형 화살표 50"/>
          <p:cNvSpPr/>
          <p:nvPr/>
        </p:nvSpPr>
        <p:spPr>
          <a:xfrm rot="16946956">
            <a:off x="4508036" y="3335131"/>
            <a:ext cx="1292458" cy="1347065"/>
          </a:xfrm>
          <a:prstGeom prst="circularArrow">
            <a:avLst>
              <a:gd name="adj1" fmla="val 0"/>
              <a:gd name="adj2" fmla="val 1062085"/>
              <a:gd name="adj3" fmla="val 20086656"/>
              <a:gd name="adj4" fmla="val 2823885"/>
              <a:gd name="adj5" fmla="val 52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4313309" y="3647680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Not close mid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distance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750027" y="4457369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Arial Black" panose="020B0A04020102020204" pitchFamily="34" charset="0"/>
              </a:rPr>
              <a:t>Auto </a:t>
            </a: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mode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Check</a:t>
            </a:r>
          </a:p>
        </p:txBody>
      </p:sp>
      <p:cxnSp>
        <p:nvCxnSpPr>
          <p:cNvPr id="54" name="직선 화살표 연결선 53"/>
          <p:cNvCxnSpPr>
            <a:stCxn id="28" idx="4"/>
            <a:endCxn id="53" idx="0"/>
          </p:cNvCxnSpPr>
          <p:nvPr/>
        </p:nvCxnSpPr>
        <p:spPr>
          <a:xfrm flipH="1">
            <a:off x="2437716" y="3691306"/>
            <a:ext cx="1078991" cy="766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원형 화살표 54"/>
          <p:cNvSpPr/>
          <p:nvPr/>
        </p:nvSpPr>
        <p:spPr>
          <a:xfrm rot="16487565">
            <a:off x="1316648" y="4543077"/>
            <a:ext cx="1219947" cy="2548662"/>
          </a:xfrm>
          <a:prstGeom prst="circularArrow">
            <a:avLst>
              <a:gd name="adj1" fmla="val 0"/>
              <a:gd name="adj2" fmla="val 1062085"/>
              <a:gd name="adj3" fmla="val 20086656"/>
              <a:gd name="adj4" fmla="val 2823885"/>
              <a:gd name="adj5" fmla="val 52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437383" y="2941605"/>
            <a:ext cx="1252621" cy="91586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77500" lnSpcReduction="20000"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Bluetooth,</a:t>
            </a:r>
          </a:p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Botton</a:t>
            </a:r>
            <a:endParaRPr lang="en-US" altLang="ko-KR" sz="1600" dirty="0" smtClean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Control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7" name="직선 화살표 연결선 56"/>
          <p:cNvCxnSpPr>
            <a:stCxn id="53" idx="2"/>
            <a:endCxn id="49" idx="4"/>
          </p:cNvCxnSpPr>
          <p:nvPr/>
        </p:nvCxnSpPr>
        <p:spPr>
          <a:xfrm flipH="1" flipV="1">
            <a:off x="1090609" y="3107892"/>
            <a:ext cx="659418" cy="1781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793283" y="4555594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Right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9" name="원형 화살표 58"/>
          <p:cNvSpPr/>
          <p:nvPr/>
        </p:nvSpPr>
        <p:spPr>
          <a:xfrm rot="6341601">
            <a:off x="1171019" y="794802"/>
            <a:ext cx="1511203" cy="2084161"/>
          </a:xfrm>
          <a:prstGeom prst="circularArrow">
            <a:avLst>
              <a:gd name="adj1" fmla="val 0"/>
              <a:gd name="adj2" fmla="val 1062085"/>
              <a:gd name="adj3" fmla="val 20086656"/>
              <a:gd name="adj4" fmla="val 2823885"/>
              <a:gd name="adj5" fmla="val 52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391440" y="4988795"/>
            <a:ext cx="2951611" cy="152914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Running Time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Try Left turn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Try Right turn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57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519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세부 기능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0A2222-1861-0C93-F3FF-B480F0A8C532}"/>
              </a:ext>
            </a:extLst>
          </p:cNvPr>
          <p:cNvSpPr/>
          <p:nvPr/>
        </p:nvSpPr>
        <p:spPr>
          <a:xfrm>
            <a:off x="907547" y="1755666"/>
            <a:ext cx="2818633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86559F-3837-B749-A77F-EE960F0146CE}"/>
              </a:ext>
            </a:extLst>
          </p:cNvPr>
          <p:cNvSpPr/>
          <p:nvPr/>
        </p:nvSpPr>
        <p:spPr>
          <a:xfrm>
            <a:off x="907547" y="1755664"/>
            <a:ext cx="2818633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Arial Black" panose="020B0A04020102020204" pitchFamily="34" charset="0"/>
              </a:rPr>
              <a:t>LED</a:t>
            </a:r>
            <a:endParaRPr lang="ko-KR" altLang="en-US" dirty="0">
              <a:latin typeface="Arial Black" panose="020B0A040201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4275037" y="1755666"/>
            <a:ext cx="3464885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70CC38-9B93-3086-7155-DB6D495644D4}"/>
              </a:ext>
            </a:extLst>
          </p:cNvPr>
          <p:cNvSpPr/>
          <p:nvPr/>
        </p:nvSpPr>
        <p:spPr>
          <a:xfrm>
            <a:off x="896930" y="4297139"/>
            <a:ext cx="2829250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4281019" y="1755664"/>
            <a:ext cx="3452923" cy="6848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Arial Black" panose="020B0A04020102020204" pitchFamily="34" charset="0"/>
              </a:rPr>
              <a:t>BUTTON</a:t>
            </a:r>
            <a:endParaRPr lang="ko-KR" altLang="en-US" dirty="0">
              <a:latin typeface="Arial Black" panose="020B0A040201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1A3D78-ED92-F94F-B0D0-BC15DEBDC75A}"/>
              </a:ext>
            </a:extLst>
          </p:cNvPr>
          <p:cNvSpPr/>
          <p:nvPr/>
        </p:nvSpPr>
        <p:spPr>
          <a:xfrm>
            <a:off x="907547" y="4265851"/>
            <a:ext cx="2818633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FND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E2E9DD-A907-410C-F125-ADC1C9942C5F}"/>
              </a:ext>
            </a:extLst>
          </p:cNvPr>
          <p:cNvSpPr txBox="1"/>
          <p:nvPr/>
        </p:nvSpPr>
        <p:spPr>
          <a:xfrm>
            <a:off x="1002465" y="2484440"/>
            <a:ext cx="2704665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수동 모드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(Manual Mode)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상태 표시</a:t>
            </a:r>
          </a:p>
          <a:p>
            <a:pPr algn="just">
              <a:lnSpc>
                <a:spcPct val="120000"/>
              </a:lnSpc>
            </a:pP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자동 주행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(Auto Mode)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상태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표시</a:t>
            </a:r>
            <a:endParaRPr lang="ko-KR" altLang="en-US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1072314" y="4981595"/>
            <a:ext cx="27557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주행 시간 </a:t>
            </a:r>
            <a:r>
              <a:rPr lang="ko-KR" altLang="en-US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표시</a:t>
            </a:r>
            <a:endParaRPr lang="en-US" altLang="ko-KR" sz="1400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0"/>
            <a:r>
              <a:rPr lang="ko-KR" altLang="en-US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진행 방향 표시</a:t>
            </a:r>
            <a:endParaRPr lang="en-US" altLang="ko-KR" sz="1400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0"/>
            <a:r>
              <a:rPr lang="ko-KR" altLang="en-US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좌회전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우회전 횟수 </a:t>
            </a:r>
            <a:r>
              <a:rPr lang="ko-KR" altLang="en-US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표시</a:t>
            </a:r>
            <a:endParaRPr lang="en-US" altLang="ko-KR" sz="1400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0"/>
            <a:r>
              <a:rPr lang="ko-KR" altLang="en-US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자동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주행 </a:t>
            </a:r>
            <a:r>
              <a:rPr lang="ko-KR" altLang="en-US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시간 표시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C8C25A-844B-8FFA-1272-6223DD0085C9}"/>
              </a:ext>
            </a:extLst>
          </p:cNvPr>
          <p:cNvSpPr/>
          <p:nvPr/>
        </p:nvSpPr>
        <p:spPr>
          <a:xfrm>
            <a:off x="4218279" y="4247825"/>
            <a:ext cx="3466383" cy="20074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D681D37-D302-8C28-4973-B7F299E24EAC}"/>
              </a:ext>
            </a:extLst>
          </p:cNvPr>
          <p:cNvSpPr/>
          <p:nvPr/>
        </p:nvSpPr>
        <p:spPr>
          <a:xfrm>
            <a:off x="4230241" y="4255371"/>
            <a:ext cx="3452924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ULTRASONIC SENSOR</a:t>
            </a:r>
            <a:endParaRPr lang="en-US" altLang="ko-KR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7F5C0-7DEE-E4FF-F4EC-87DA8045BD02}"/>
              </a:ext>
            </a:extLst>
          </p:cNvPr>
          <p:cNvSpPr txBox="1"/>
          <p:nvPr/>
        </p:nvSpPr>
        <p:spPr>
          <a:xfrm>
            <a:off x="4379495" y="4989593"/>
            <a:ext cx="29604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전방 거리 측정</a:t>
            </a:r>
          </a:p>
          <a:p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좌측 거리 측정</a:t>
            </a:r>
          </a:p>
          <a:p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우측 거리 </a:t>
            </a:r>
            <a:r>
              <a:rPr lang="ko-KR" altLang="en-US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측정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4453383" y="2518515"/>
            <a:ext cx="2848480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BTN0 :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수동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자동 모드 전환</a:t>
            </a:r>
          </a:p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BTN0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주행 시작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(Start)</a:t>
            </a:r>
          </a:p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BTN0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주행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기록 표시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8376940" y="1755665"/>
            <a:ext cx="2755879" cy="1933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8376940" y="1755664"/>
            <a:ext cx="2755879" cy="6848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PWM / MOTOR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8521520" y="2500141"/>
            <a:ext cx="2232205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DC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모터 속도 제어</a:t>
            </a:r>
          </a:p>
          <a:p>
            <a:pPr algn="just">
              <a:lnSpc>
                <a:spcPct val="120000"/>
              </a:lnSpc>
            </a:pP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전진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후진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좌회전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우회전</a:t>
            </a:r>
            <a:endParaRPr lang="en-US" altLang="ko-KR" sz="14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정지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8376940" y="4228840"/>
            <a:ext cx="2755879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8376940" y="4261617"/>
            <a:ext cx="2755880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UART / BT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8521520" y="5121484"/>
            <a:ext cx="2611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Start/Stop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명령 수신</a:t>
            </a:r>
          </a:p>
          <a:p>
            <a:pPr lvl="0"/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수동 주행 제어 명령 처리</a:t>
            </a:r>
          </a:p>
        </p:txBody>
      </p:sp>
    </p:spTree>
    <p:extLst>
      <p:ext uri="{BB962C8B-B14F-4D97-AF65-F5344CB8AC3E}">
        <p14:creationId xmlns:p14="http://schemas.microsoft.com/office/powerpoint/2010/main" val="150566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도면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044" y="354583"/>
            <a:ext cx="6986156" cy="631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2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854995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261161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 smtClean="0">
                  <a:solidFill>
                    <a:schemeClr val="bg1"/>
                  </a:solidFill>
                  <a:latin typeface="+mn-ea"/>
                </a:rPr>
                <a:t>작동 영상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425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3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err="1" smtClean="0">
                <a:solidFill>
                  <a:schemeClr val="accent1"/>
                </a:solidFill>
              </a:rPr>
              <a:t>작동영상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12C0AA0-E39E-C775-D534-63FAF80A8183}"/>
              </a:ext>
            </a:extLst>
          </p:cNvPr>
          <p:cNvCxnSpPr/>
          <p:nvPr/>
        </p:nvCxnSpPr>
        <p:spPr>
          <a:xfrm>
            <a:off x="226881" y="3201416"/>
            <a:ext cx="12060000" cy="0"/>
          </a:xfrm>
          <a:prstGeom prst="line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75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917513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188224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 smtClean="0">
                  <a:solidFill>
                    <a:schemeClr val="bg1"/>
                  </a:solidFill>
                  <a:latin typeface="+mn-ea"/>
                </a:rPr>
                <a:t>Ｓ／Ｗ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193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ounded Rectangle 13"/>
          <p:cNvSpPr/>
          <p:nvPr/>
        </p:nvSpPr>
        <p:spPr>
          <a:xfrm>
            <a:off x="4939891" y="4475432"/>
            <a:ext cx="2153032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13"/>
          <p:cNvSpPr/>
          <p:nvPr/>
        </p:nvSpPr>
        <p:spPr>
          <a:xfrm>
            <a:off x="2909585" y="4475414"/>
            <a:ext cx="1936075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13"/>
          <p:cNvSpPr/>
          <p:nvPr/>
        </p:nvSpPr>
        <p:spPr>
          <a:xfrm>
            <a:off x="731621" y="4481764"/>
            <a:ext cx="2082714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9434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</a:rPr>
              <a:t>Implementation </a:t>
            </a:r>
            <a:r>
              <a:rPr lang="en-US" altLang="ko-KR" sz="2800" b="1" dirty="0" smtClean="0">
                <a:solidFill>
                  <a:schemeClr val="accent1"/>
                </a:solidFill>
              </a:rPr>
              <a:t>Technology </a:t>
            </a:r>
            <a:r>
              <a:rPr lang="en-US" altLang="ko-KR" sz="2800" b="1" dirty="0">
                <a:solidFill>
                  <a:schemeClr val="accent1"/>
                </a:solidFill>
              </a:rPr>
              <a:t>| PWM</a:t>
            </a:r>
            <a:r>
              <a:rPr lang="en-US" altLang="ko-KR" sz="2000" b="1" dirty="0">
                <a:solidFill>
                  <a:schemeClr val="accent1"/>
                </a:solidFill>
              </a:rPr>
              <a:t>(Pulse Width Modulation)</a:t>
            </a:r>
            <a:endParaRPr lang="ko-KR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표 7">
            <a:extLst>
              <a:ext uri="{FF2B5EF4-FFF2-40B4-BE49-F238E27FC236}">
                <a16:creationId xmlns:a16="http://schemas.microsoft.com/office/drawing/2014/main" id="{EE901189-A3F0-994A-EDA1-98BFBC2BB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501091"/>
              </p:ext>
            </p:extLst>
          </p:nvPr>
        </p:nvGraphicFramePr>
        <p:xfrm>
          <a:off x="832036" y="1436345"/>
          <a:ext cx="10568569" cy="255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219">
                  <a:extLst>
                    <a:ext uri="{9D8B030D-6E8A-4147-A177-3AD203B41FA5}">
                      <a16:colId xmlns:a16="http://schemas.microsoft.com/office/drawing/2014/main" val="388326904"/>
                    </a:ext>
                  </a:extLst>
                </a:gridCol>
                <a:gridCol w="4480675">
                  <a:extLst>
                    <a:ext uri="{9D8B030D-6E8A-4147-A177-3AD203B41FA5}">
                      <a16:colId xmlns:a16="http://schemas.microsoft.com/office/drawing/2014/main" val="1172355626"/>
                    </a:ext>
                  </a:extLst>
                </a:gridCol>
                <a:gridCol w="4480675">
                  <a:extLst>
                    <a:ext uri="{9D8B030D-6E8A-4147-A177-3AD203B41FA5}">
                      <a16:colId xmlns:a16="http://schemas.microsoft.com/office/drawing/2014/main" val="1686686885"/>
                    </a:ext>
                  </a:extLst>
                </a:gridCol>
              </a:tblGrid>
              <a:tr h="4185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구분</a:t>
                      </a:r>
                      <a:endParaRPr lang="ko-KR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PAM</a:t>
                      </a:r>
                      <a:endParaRPr lang="ko-KR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PWM</a:t>
                      </a:r>
                      <a:endParaRPr lang="ko-KR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097032"/>
                  </a:ext>
                </a:extLst>
              </a:tr>
              <a:tr h="4185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제어 방식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진폭</a:t>
                      </a:r>
                      <a:r>
                        <a:rPr lang="en-US" altLang="ko-KR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(Voltage)</a:t>
                      </a:r>
                      <a:r>
                        <a:rPr lang="en-US" altLang="ko-KR" sz="2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2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변경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펄스 폭</a:t>
                      </a:r>
                      <a:r>
                        <a:rPr lang="en-US" altLang="ko-KR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(Time)</a:t>
                      </a:r>
                      <a:r>
                        <a:rPr lang="en-US" altLang="ko-KR" sz="2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2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변경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122558"/>
                  </a:ext>
                </a:extLst>
              </a:tr>
              <a:tr h="4185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주파수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일정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일정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26794"/>
                  </a:ext>
                </a:extLst>
              </a:tr>
              <a:tr h="4185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평균 전력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전압 크기로 제어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Duty rate</a:t>
                      </a:r>
                      <a:r>
                        <a:rPr lang="ko-KR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로 제어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82185"/>
                  </a:ext>
                </a:extLst>
              </a:tr>
              <a:tr h="418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MCU</a:t>
                      </a:r>
                      <a:r>
                        <a:rPr lang="en-US" altLang="ko-KR" sz="2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2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구현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DAC</a:t>
                      </a:r>
                      <a:r>
                        <a:rPr lang="en-US" altLang="ko-KR" sz="2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2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필요</a:t>
                      </a:r>
                      <a:r>
                        <a:rPr lang="ko-KR" altLang="en-US" sz="105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１）</a:t>
                      </a:r>
                      <a:endParaRPr lang="ko-KR" altLang="en-US" sz="1050" spc="-1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Timer</a:t>
                      </a:r>
                      <a:r>
                        <a:rPr lang="ko-KR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만으로 가능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342245"/>
                  </a:ext>
                </a:extLst>
              </a:tr>
              <a:tr h="4185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모터 제어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비효율적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매우 효율적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23775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730260" y="4112432"/>
            <a:ext cx="18738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PWM </a:t>
            </a:r>
            <a:r>
              <a:rPr lang="ko-KR" altLang="en-US" b="1" dirty="0"/>
              <a:t>동작 원리</a:t>
            </a: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730260" y="4626904"/>
            <a:ext cx="337728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25%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■■□□□□□□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0.25 = 1.25V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2902857" y="4629628"/>
            <a:ext cx="20313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50%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■■■■□□□□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0.5 = 2.5V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4933769" y="4626903"/>
            <a:ext cx="21595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75%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■■■■■■□□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0.75 = 3.75V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7181445" y="4290892"/>
            <a:ext cx="468910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프로젝트 적용</a:t>
            </a:r>
            <a:endParaRPr kumimoji="0" lang="en-US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/>
              <a:t>Timer1 </a:t>
            </a:r>
            <a:r>
              <a:rPr lang="ko-KR" altLang="ko-KR" dirty="0" err="1"/>
              <a:t>Fast</a:t>
            </a:r>
            <a:r>
              <a:rPr lang="ko-KR" altLang="ko-KR" dirty="0"/>
              <a:t> PWM 사용 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rial" panose="020B0604020202020204" pitchFamily="34" charset="0"/>
              </a:rPr>
              <a:t>OCR1A, OCR1B로 </a:t>
            </a:r>
            <a:r>
              <a:rPr lang="ko-KR" altLang="ko-KR" dirty="0" err="1">
                <a:latin typeface="Arial" panose="020B0604020202020204" pitchFamily="34" charset="0"/>
              </a:rPr>
              <a:t>좌·우</a:t>
            </a:r>
            <a:r>
              <a:rPr lang="ko-KR" altLang="ko-KR" dirty="0">
                <a:latin typeface="Arial" panose="020B0604020202020204" pitchFamily="34" charset="0"/>
              </a:rPr>
              <a:t> 모터 </a:t>
            </a:r>
            <a:r>
              <a:rPr lang="ko-KR" altLang="ko-KR" dirty="0" err="1">
                <a:latin typeface="Arial" panose="020B0604020202020204" pitchFamily="34" charset="0"/>
              </a:rPr>
              <a:t>듀티비</a:t>
            </a:r>
            <a:r>
              <a:rPr lang="ko-KR" altLang="ko-KR" dirty="0">
                <a:latin typeface="Arial" panose="020B0604020202020204" pitchFamily="34" charset="0"/>
              </a:rPr>
              <a:t> 제어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rial" panose="020B0604020202020204" pitchFamily="34" charset="0"/>
              </a:rPr>
              <a:t>모터 속도 제어 </a:t>
            </a:r>
            <a:r>
              <a:rPr lang="ko-KR" altLang="ko-KR" dirty="0" smtClean="0">
                <a:latin typeface="Arial" panose="020B0604020202020204" pitchFamily="34" charset="0"/>
              </a:rPr>
              <a:t>구현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ICR1 = 0x3FF;</a:t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OCR1A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en-US" altLang="ko-KR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OCR1B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626658" y="6393157"/>
            <a:ext cx="22317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4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１）</a:t>
            </a:r>
            <a:r>
              <a:rPr lang="en-US" altLang="ko-KR" sz="1400" spc="-15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Digital </a:t>
            </a:r>
            <a:r>
              <a:rPr lang="en-US" altLang="ko-KR" sz="1400" spc="-150" dirty="0">
                <a:latin typeface="돋움" panose="020B0600000101010101" pitchFamily="50" charset="-127"/>
                <a:ea typeface="돋움" panose="020B0600000101010101" pitchFamily="50" charset="-127"/>
              </a:rPr>
              <a:t>to Analog </a:t>
            </a:r>
            <a:r>
              <a:rPr lang="en-US" altLang="ko-KR" sz="1400" spc="-15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Converter</a:t>
            </a:r>
            <a:endParaRPr lang="ko-KR" altLang="en-US" sz="1400" spc="-150" dirty="0">
              <a:solidFill>
                <a:schemeClr val="tx1">
                  <a:lumMod val="85000"/>
                  <a:lumOff val="15000"/>
                </a:schemeClr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32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3"/>
          <p:cNvSpPr/>
          <p:nvPr/>
        </p:nvSpPr>
        <p:spPr>
          <a:xfrm>
            <a:off x="8377977" y="1582164"/>
            <a:ext cx="3048000" cy="2621535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3"/>
          <p:cNvSpPr/>
          <p:nvPr/>
        </p:nvSpPr>
        <p:spPr>
          <a:xfrm>
            <a:off x="4463143" y="1575814"/>
            <a:ext cx="3048000" cy="2621535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3"/>
          <p:cNvSpPr/>
          <p:nvPr/>
        </p:nvSpPr>
        <p:spPr>
          <a:xfrm>
            <a:off x="624115" y="1582164"/>
            <a:ext cx="3048000" cy="2621535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028400" y="272716"/>
            <a:ext cx="6687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</a:rPr>
              <a:t>Implementation </a:t>
            </a:r>
            <a:r>
              <a:rPr lang="en-US" altLang="ko-KR" sz="2800" b="1" dirty="0" smtClean="0">
                <a:solidFill>
                  <a:schemeClr val="accent1"/>
                </a:solidFill>
              </a:rPr>
              <a:t>Technology | UART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１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）</a:t>
            </a:r>
            <a:endParaRPr lang="ko-KR" altLang="en-US" sz="2800" spc="-150" dirty="0">
              <a:solidFill>
                <a:schemeClr val="tx1">
                  <a:lumMod val="85000"/>
                  <a:lumOff val="15000"/>
                </a:schemeClr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8629899" y="6494757"/>
            <a:ext cx="35285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4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１）</a:t>
            </a:r>
            <a:r>
              <a:rPr lang="en-US" altLang="ko-KR" sz="1400" spc="-15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Universal </a:t>
            </a:r>
            <a:r>
              <a:rPr lang="en-US" altLang="ko-KR" sz="1400" spc="-150" dirty="0">
                <a:latin typeface="돋움" panose="020B0600000101010101" pitchFamily="50" charset="-127"/>
                <a:ea typeface="돋움" panose="020B0600000101010101" pitchFamily="50" charset="-127"/>
              </a:rPr>
              <a:t>Asynchronous Receiver </a:t>
            </a:r>
            <a:r>
              <a:rPr lang="en-US" altLang="ko-KR" sz="1400" spc="-15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Transmitter</a:t>
            </a:r>
            <a:endParaRPr lang="ko-KR" altLang="en-US" sz="1400" spc="-150" dirty="0">
              <a:solidFill>
                <a:schemeClr val="tx1">
                  <a:lumMod val="85000"/>
                  <a:lumOff val="15000"/>
                </a:schemeClr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028400" y="908229"/>
            <a:ext cx="89988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/>
              <a:t>클럭선</a:t>
            </a:r>
            <a:r>
              <a:rPr lang="ko-KR" altLang="en-US" dirty="0"/>
              <a:t> 없이 두 장치가 약속된 </a:t>
            </a:r>
            <a:r>
              <a:rPr lang="en-US" altLang="ko-KR" dirty="0"/>
              <a:t>Baud Rate</a:t>
            </a:r>
            <a:r>
              <a:rPr lang="ko-KR" altLang="en-US" dirty="0"/>
              <a:t>로 데이터를 송수신하는 직렬 통신 </a:t>
            </a:r>
            <a:r>
              <a:rPr lang="ko-KR" altLang="en-US" dirty="0" smtClean="0"/>
              <a:t>방식</a:t>
            </a:r>
            <a:endParaRPr lang="en-US" altLang="ko-K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83772" y="1705409"/>
            <a:ext cx="1810111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</a:t>
            </a:r>
            <a:r>
              <a:rPr kumimoji="0" lang="ko-KR" altLang="ko-K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구조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83772" y="2276328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2000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Start</a:t>
            </a:r>
            <a:endParaRPr lang="ko-KR" altLang="en-US" sz="2000" dirty="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 ↓</a:t>
            </a:r>
          </a:p>
          <a:p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0 10101010 1</a:t>
            </a:r>
          </a:p>
          <a:p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↑        　　  ↑</a:t>
            </a:r>
          </a:p>
          <a:p>
            <a:r>
              <a:rPr lang="ko-KR" altLang="en-US" sz="2000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Start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  　 　</a:t>
            </a:r>
            <a:r>
              <a:rPr lang="ko-KR" altLang="en-US" sz="2000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Stop</a:t>
            </a:r>
            <a:endParaRPr lang="ko-KR" altLang="en-US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600122" y="1785125"/>
            <a:ext cx="2888343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/>
              <a:t>프로젝트 </a:t>
            </a:r>
            <a:r>
              <a:rPr lang="ko-KR" altLang="en-US" sz="2400" b="1" dirty="0" smtClean="0"/>
              <a:t>적용</a:t>
            </a:r>
            <a:endParaRPr lang="ko-KR" altLang="en-US" sz="2400" b="1" dirty="0"/>
          </a:p>
          <a:p>
            <a:r>
              <a:rPr lang="en-US" altLang="ko-KR" b="1" dirty="0"/>
              <a:t>UART0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PC </a:t>
            </a:r>
            <a:r>
              <a:rPr lang="ko-KR" altLang="en-US" dirty="0"/>
              <a:t>디버깅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거리 및 상태 출력 </a:t>
            </a:r>
          </a:p>
          <a:p>
            <a:r>
              <a:rPr lang="en-US" altLang="ko-KR" b="1" dirty="0" smtClean="0"/>
              <a:t>UART1</a:t>
            </a:r>
            <a:endParaRPr lang="en-US" altLang="ko-KR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Bluetooth </a:t>
            </a:r>
            <a:r>
              <a:rPr lang="ko-KR" altLang="en-US" dirty="0"/>
              <a:t>모듈 연결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수동 주행 명령 수신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015140" y="4398747"/>
            <a:ext cx="194400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f : Forward</a:t>
            </a:r>
            <a:br>
              <a:rPr lang="en-US" altLang="ko-KR" dirty="0"/>
            </a:br>
            <a:r>
              <a:rPr lang="en-US" altLang="ko-KR" dirty="0"/>
              <a:t>b : Backward</a:t>
            </a:r>
            <a:br>
              <a:rPr lang="en-US" altLang="ko-KR" dirty="0"/>
            </a:br>
            <a:r>
              <a:rPr lang="en-US" altLang="ko-KR" dirty="0"/>
              <a:t>l : Left</a:t>
            </a:r>
            <a:br>
              <a:rPr lang="en-US" altLang="ko-KR" dirty="0"/>
            </a:br>
            <a:r>
              <a:rPr lang="en-US" altLang="ko-KR" dirty="0"/>
              <a:t>r : Right</a:t>
            </a:r>
            <a:br>
              <a:rPr lang="en-US" altLang="ko-KR" dirty="0"/>
            </a:br>
            <a:r>
              <a:rPr lang="en-US" altLang="ko-KR" dirty="0"/>
              <a:t>s : Stop</a:t>
            </a:r>
            <a:br>
              <a:rPr lang="en-US" altLang="ko-KR" dirty="0"/>
            </a:br>
            <a:r>
              <a:rPr lang="en-US" altLang="ko-KR" dirty="0"/>
              <a:t>n : Next Mode</a:t>
            </a:r>
            <a:endParaRPr lang="ko-KR" alt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474529" y="1785125"/>
            <a:ext cx="281679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인터럽트 기반 수신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567964" y="2286416"/>
            <a:ext cx="262992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ISR(USART1_RX_vect)</a:t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bt_data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UDR1;</a:t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474529" y="4366794"/>
            <a:ext cx="30443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장점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CPU</a:t>
            </a:r>
            <a:r>
              <a:rPr lang="ko-KR" altLang="en-US" dirty="0"/>
              <a:t>가 계속 대기하지 않음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실시간 명령 처리 가능</a:t>
            </a:r>
          </a:p>
        </p:txBody>
      </p:sp>
    </p:spTree>
    <p:extLst>
      <p:ext uri="{BB962C8B-B14F-4D97-AF65-F5344CB8AC3E}">
        <p14:creationId xmlns:p14="http://schemas.microsoft.com/office/powerpoint/2010/main" val="292603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914400" y="548640"/>
            <a:ext cx="0" cy="566928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200400" y="548640"/>
            <a:ext cx="0" cy="566928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0" y="548640"/>
            <a:ext cx="0" cy="566928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548640"/>
            <a:ext cx="0" cy="566928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548640"/>
            <a:ext cx="0" cy="566928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" y="914400"/>
            <a:ext cx="11247120" cy="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" y="2286000"/>
            <a:ext cx="11247120" cy="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" y="3657600"/>
            <a:ext cx="11247120" cy="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" y="5029200"/>
            <a:ext cx="11247120" cy="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0624" y="969264"/>
            <a:ext cx="3657600" cy="237744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760" y="914400"/>
            <a:ext cx="3657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5760" y="914400"/>
            <a:ext cx="3657600" cy="59436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FND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109" y="2276296"/>
            <a:ext cx="177324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/>
              <a:t>▪ </a:t>
            </a:r>
            <a:r>
              <a:rPr dirty="0" err="1"/>
              <a:t>fnd_running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 smtClean="0"/>
              <a:t>fnd_auto_check_display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4306824" y="969264"/>
            <a:ext cx="3657600" cy="237744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51960" y="914400"/>
            <a:ext cx="3657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51960" y="914400"/>
            <a:ext cx="3657600" cy="594360"/>
          </a:xfrm>
          <a:prstGeom prst="roundRect">
            <a:avLst/>
          </a:prstGeom>
          <a:solidFill>
            <a:srgbClr val="388E3C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302846"/>
            <a:ext cx="3429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/>
              <a:t>▪ </a:t>
            </a:r>
            <a:r>
              <a:rPr dirty="0" err="1"/>
              <a:t>led_on</a:t>
            </a:r>
            <a:endParaRPr dirty="0"/>
          </a:p>
          <a:p>
            <a:pPr>
              <a:defRPr sz="1100"/>
            </a:pPr>
            <a:r>
              <a:rPr dirty="0"/>
              <a:t>▪ _</a:t>
            </a:r>
            <a:r>
              <a:rPr dirty="0" err="1"/>
              <a:t>led_off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8193024" y="969264"/>
            <a:ext cx="3657600" cy="237744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38160" y="914400"/>
            <a:ext cx="3657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38160" y="914400"/>
            <a:ext cx="3657600" cy="594360"/>
          </a:xfrm>
          <a:prstGeom prst="roundRect">
            <a:avLst/>
          </a:prstGeom>
          <a:solidFill>
            <a:srgbClr val="0079BF"/>
          </a:solidFill>
          <a:ln>
            <a:solidFill>
              <a:srgbClr val="00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PWM / MOTOR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1996440"/>
            <a:ext cx="3429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/>
              <a:t>▪ </a:t>
            </a:r>
            <a:r>
              <a:rPr dirty="0" err="1"/>
              <a:t>init_motor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motor_forward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motor_backward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motor_left_turn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motor_right_turn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motor_stop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motor_speed</a:t>
            </a:r>
            <a:endParaRPr dirty="0"/>
          </a:p>
        </p:txBody>
      </p:sp>
      <p:sp>
        <p:nvSpPr>
          <p:cNvPr id="29" name="Rounded Rectangle 28"/>
          <p:cNvSpPr/>
          <p:nvPr/>
        </p:nvSpPr>
        <p:spPr>
          <a:xfrm>
            <a:off x="420624" y="3712463"/>
            <a:ext cx="3657600" cy="256032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65760" y="365760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306824" y="3712463"/>
            <a:ext cx="3657600" cy="256032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251960" y="365760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251960" y="3657600"/>
            <a:ext cx="3657600" cy="594360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ULTRASONIC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93024" y="3712463"/>
            <a:ext cx="3657600" cy="256032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138160" y="365760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138160" y="3657600"/>
            <a:ext cx="3657600" cy="594360"/>
          </a:xfrm>
          <a:prstGeom prst="roundRect">
            <a:avLst/>
          </a:prstGeom>
          <a:solidFill>
            <a:srgbClr val="006064"/>
          </a:solidFill>
          <a:ln>
            <a:solidFill>
              <a:srgbClr val="00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UART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4777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</a:rPr>
              <a:t>Module Function Structure</a:t>
            </a:r>
            <a:endParaRPr lang="ko-KR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그림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353" y="1559726"/>
            <a:ext cx="1463254" cy="658464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308" y="1590960"/>
            <a:ext cx="952623" cy="1092410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64" y="1576027"/>
            <a:ext cx="1188374" cy="572813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832" y="4305382"/>
            <a:ext cx="1741801" cy="784823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8758" y="4309526"/>
            <a:ext cx="1866688" cy="72381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7075" y="5243375"/>
            <a:ext cx="142699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/>
              <a:t>▪ </a:t>
            </a:r>
            <a:r>
              <a:rPr dirty="0" err="1"/>
              <a:t>manual_mode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auto_mode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auto_mode_check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pfunc</a:t>
            </a:r>
            <a:r>
              <a:rPr dirty="0"/>
              <a:t>[</a:t>
            </a:r>
            <a:r>
              <a:rPr dirty="0" err="1"/>
              <a:t>func_state</a:t>
            </a:r>
            <a:r>
              <a:rPr dirty="0" smtClean="0"/>
              <a:t>]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4389120" y="5131682"/>
            <a:ext cx="1478290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 smtClean="0"/>
              <a:t>▪ </a:t>
            </a:r>
            <a:r>
              <a:rPr dirty="0" err="1"/>
              <a:t>left_make_trigger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mid_make_trigger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right_make_trigger</a:t>
            </a:r>
            <a:endParaRPr dirty="0"/>
          </a:p>
        </p:txBody>
      </p:sp>
      <p:sp>
        <p:nvSpPr>
          <p:cNvPr id="49" name="TextBox 48"/>
          <p:cNvSpPr txBox="1"/>
          <p:nvPr/>
        </p:nvSpPr>
        <p:spPr>
          <a:xfrm>
            <a:off x="8275320" y="5042293"/>
            <a:ext cx="133081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/>
              <a:t>▪ </a:t>
            </a:r>
            <a:r>
              <a:rPr dirty="0" err="1"/>
              <a:t>init_uart</a:t>
            </a:r>
            <a:endParaRPr dirty="0"/>
          </a:p>
          <a:p>
            <a:pPr>
              <a:defRPr sz="1100"/>
            </a:pPr>
            <a:r>
              <a:rPr dirty="0"/>
              <a:t>▪ init_uart1</a:t>
            </a:r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UARTO_transmit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smtClean="0"/>
              <a:t>UART1_transmit</a:t>
            </a:r>
            <a:endParaRPr dirty="0"/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031" y="4282973"/>
            <a:ext cx="2168415" cy="108625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365760" y="3657600"/>
            <a:ext cx="3657600" cy="594360"/>
          </a:xfrm>
          <a:prstGeom prst="round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AUTO / FSM</a:t>
            </a:r>
          </a:p>
        </p:txBody>
      </p:sp>
    </p:spTree>
    <p:extLst>
      <p:ext uri="{BB962C8B-B14F-4D97-AF65-F5344CB8AC3E}">
        <p14:creationId xmlns:p14="http://schemas.microsoft.com/office/powerpoint/2010/main" val="262134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4" y="835872"/>
            <a:ext cx="4839375" cy="3972479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411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 smtClean="0">
                <a:solidFill>
                  <a:schemeClr val="accent1"/>
                </a:solidFill>
              </a:rPr>
              <a:t>SOURCE CODE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2139350" y="1084209"/>
            <a:ext cx="2954664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m</a:t>
            </a: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ain.c</a:t>
            </a:r>
            <a:endParaRPr lang="en-US" altLang="ko-KR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4159612" y="141648"/>
            <a:ext cx="45081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menu.c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/ </a:t>
            </a: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manual_mode</a:t>
            </a:r>
            <a:endParaRPr lang="en-US" altLang="ko-KR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244" y="553391"/>
            <a:ext cx="3534268" cy="617409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5302" y="177843"/>
            <a:ext cx="4465915" cy="654680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3775" y="5829063"/>
            <a:ext cx="864567" cy="89842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11231361" y="5565352"/>
            <a:ext cx="2954664" cy="33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QR code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9902659" y="380203"/>
            <a:ext cx="190216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Auto_mode</a:t>
            </a:r>
            <a:endParaRPr lang="en-US" altLang="ko-KR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686" y="4848288"/>
            <a:ext cx="3372321" cy="181000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2505081" y="4855701"/>
            <a:ext cx="236219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Check_mode</a:t>
            </a:r>
            <a:endParaRPr lang="en-US" altLang="ko-KR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605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2736647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9900" b="1" dirty="0">
                  <a:solidFill>
                    <a:schemeClr val="bg1"/>
                  </a:solidFill>
                  <a:latin typeface="+mj-ea"/>
                  <a:ea typeface="+mj-ea"/>
                </a:rPr>
                <a:t>５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47391" y="3350782"/>
              <a:ext cx="146706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b="1" spc="-3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결론</a:t>
              </a:r>
              <a:endParaRPr lang="ko-KR" altLang="en-US" sz="5400" b="1" spc="-3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949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83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</a:t>
            </a:r>
            <a:r>
              <a:rPr lang="ko-KR" altLang="en-US" sz="1600" dirty="0" smtClean="0">
                <a:solidFill>
                  <a:schemeClr val="accent1"/>
                </a:solidFill>
              </a:rPr>
              <a:t>５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결론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4624" y="671863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CCA016-C3D2-955F-012A-E18CDC3A14BA}"/>
              </a:ext>
            </a:extLst>
          </p:cNvPr>
          <p:cNvSpPr/>
          <p:nvPr/>
        </p:nvSpPr>
        <p:spPr>
          <a:xfrm>
            <a:off x="1663206" y="701098"/>
            <a:ext cx="9397889" cy="56331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1F3E0B-13AF-3324-EB69-85A207AF6982}"/>
              </a:ext>
            </a:extLst>
          </p:cNvPr>
          <p:cNvSpPr/>
          <p:nvPr/>
        </p:nvSpPr>
        <p:spPr>
          <a:xfrm>
            <a:off x="7108444" y="7545151"/>
            <a:ext cx="5719940" cy="16485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ATmega128A </a:t>
            </a:r>
            <a:r>
              <a:rPr lang="ko-KR" altLang="en-US" dirty="0">
                <a:solidFill>
                  <a:schemeClr val="tx1"/>
                </a:solidFill>
              </a:rPr>
              <a:t>기반 </a:t>
            </a:r>
            <a:r>
              <a:rPr lang="ko-KR" altLang="en-US" dirty="0" err="1">
                <a:solidFill>
                  <a:schemeClr val="tx1"/>
                </a:solidFill>
              </a:rPr>
              <a:t>임베디드</a:t>
            </a:r>
            <a:r>
              <a:rPr lang="ko-KR" altLang="en-US" dirty="0">
                <a:solidFill>
                  <a:schemeClr val="tx1"/>
                </a:solidFill>
              </a:rPr>
              <a:t> 제어 시스템을 구현하며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FSM, </a:t>
            </a:r>
            <a:r>
              <a:rPr lang="ko-KR" altLang="en-US" dirty="0">
                <a:solidFill>
                  <a:schemeClr val="tx1"/>
                </a:solidFill>
              </a:rPr>
              <a:t>인터럽트</a:t>
            </a:r>
            <a:r>
              <a:rPr lang="en-US" altLang="ko-KR" dirty="0">
                <a:solidFill>
                  <a:schemeClr val="tx1"/>
                </a:solidFill>
              </a:rPr>
              <a:t>, UART, PWM</a:t>
            </a:r>
            <a:r>
              <a:rPr lang="ko-KR" altLang="en-US" dirty="0">
                <a:solidFill>
                  <a:schemeClr val="tx1"/>
                </a:solidFill>
              </a:rPr>
              <a:t>의 동작 원리를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실제 프로젝트에 적용하고 시스템 설계 경험을 습득하였다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A0FA901-53D4-B76D-CCF0-3A9E2A49AC42}"/>
              </a:ext>
            </a:extLst>
          </p:cNvPr>
          <p:cNvSpPr/>
          <p:nvPr/>
        </p:nvSpPr>
        <p:spPr>
          <a:xfrm>
            <a:off x="609054" y="1196365"/>
            <a:ext cx="4782343" cy="2477750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ATmega128A </a:t>
            </a:r>
            <a:r>
              <a:rPr lang="ko-KR" altLang="en-US" sz="1400" dirty="0">
                <a:solidFill>
                  <a:schemeClr val="tx1"/>
                </a:solidFill>
              </a:rPr>
              <a:t>기반 자율주행 차량 제어 시스템 구현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FSM </a:t>
            </a:r>
            <a:r>
              <a:rPr lang="ko-KR" altLang="en-US" sz="1400" dirty="0">
                <a:solidFill>
                  <a:schemeClr val="tx1"/>
                </a:solidFill>
              </a:rPr>
              <a:t>기반 수동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자동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결과 확인 모드 구현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/>
                </a:solidFill>
              </a:rPr>
              <a:t>초음파 센서를 이용한 장애물 감지 및 회피 주행 구현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PWM </a:t>
            </a:r>
            <a:r>
              <a:rPr lang="ko-KR" altLang="en-US" sz="1400" dirty="0">
                <a:solidFill>
                  <a:schemeClr val="tx1"/>
                </a:solidFill>
              </a:rPr>
              <a:t>기반 </a:t>
            </a:r>
            <a:r>
              <a:rPr lang="en-US" altLang="ko-KR" sz="1400" dirty="0">
                <a:solidFill>
                  <a:schemeClr val="tx1"/>
                </a:solidFill>
              </a:rPr>
              <a:t>DC </a:t>
            </a:r>
            <a:r>
              <a:rPr lang="ko-KR" altLang="en-US" sz="1400" dirty="0">
                <a:solidFill>
                  <a:schemeClr val="tx1"/>
                </a:solidFill>
              </a:rPr>
              <a:t>모터 속도 및 방향 제어 구현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UART/Bluetooth </a:t>
            </a:r>
            <a:r>
              <a:rPr lang="ko-KR" altLang="en-US" sz="1400" dirty="0">
                <a:solidFill>
                  <a:schemeClr val="tx1"/>
                </a:solidFill>
              </a:rPr>
              <a:t>기반 원격 제어 </a:t>
            </a:r>
            <a:r>
              <a:rPr lang="ko-KR" altLang="en-US" sz="1400" dirty="0" smtClean="0">
                <a:solidFill>
                  <a:schemeClr val="tx1"/>
                </a:solidFill>
              </a:rPr>
              <a:t>기능 </a:t>
            </a:r>
            <a:r>
              <a:rPr lang="ko-KR" altLang="en-US" sz="1400" dirty="0">
                <a:solidFill>
                  <a:schemeClr val="tx1"/>
                </a:solidFill>
              </a:rPr>
              <a:t>구현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FND</a:t>
            </a:r>
            <a:r>
              <a:rPr lang="ko-KR" altLang="en-US" sz="1400" dirty="0">
                <a:solidFill>
                  <a:schemeClr val="tx1"/>
                </a:solidFill>
              </a:rPr>
              <a:t>를 이용한 주행 상태 및 주행 결과 표시 구현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B75C303-81E5-C6A9-A7BE-944597D1B4BB}"/>
              </a:ext>
            </a:extLst>
          </p:cNvPr>
          <p:cNvSpPr/>
          <p:nvPr/>
        </p:nvSpPr>
        <p:spPr>
          <a:xfrm>
            <a:off x="5624826" y="736401"/>
            <a:ext cx="6025689" cy="3050281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kern="1100" spc="-100" dirty="0" smtClean="0">
                <a:solidFill>
                  <a:schemeClr val="tx1"/>
                </a:solidFill>
              </a:rPr>
              <a:t>Non-Blocking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구조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현재는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Trigger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생성에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_</a:t>
            </a:r>
            <a:r>
              <a:rPr lang="en-US" altLang="ko-KR" sz="1600" kern="1100" spc="-100" dirty="0" err="1">
                <a:solidFill>
                  <a:schemeClr val="tx1"/>
                </a:solidFill>
              </a:rPr>
              <a:t>delay_us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()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가 사용되고 있으므로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,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이를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Timer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기반 상태 처리로 바꾸는 </a:t>
            </a:r>
            <a:r>
              <a:rPr lang="ko-KR" altLang="en-US" sz="1600" kern="1100" spc="-100" dirty="0" smtClean="0">
                <a:solidFill>
                  <a:schemeClr val="tx1"/>
                </a:solidFill>
              </a:rPr>
              <a:t>것으로 개선 가능</a:t>
            </a:r>
            <a:r>
              <a:rPr lang="en-US" altLang="ko-KR" sz="1600" kern="1100" spc="-100" dirty="0" smtClean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1600" kern="1100" spc="-100" dirty="0" smtClean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 smtClean="0">
                <a:solidFill>
                  <a:schemeClr val="tx1"/>
                </a:solidFill>
              </a:rPr>
            </a:br>
            <a:r>
              <a:rPr lang="ko-KR" altLang="en-US" sz="1600" kern="1100" spc="-100" dirty="0" smtClean="0">
                <a:solidFill>
                  <a:schemeClr val="tx1"/>
                </a:solidFill>
              </a:rPr>
              <a:t>높은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결합도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FND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가 여러 전역 변수를 직접 참조하기보다 </a:t>
            </a:r>
            <a:r>
              <a:rPr lang="en-US" altLang="ko-KR" sz="1600" kern="1100" spc="-100" dirty="0" err="1">
                <a:solidFill>
                  <a:schemeClr val="tx1"/>
                </a:solidFill>
              </a:rPr>
              <a:t>DriveStatus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구조체를 만들어 </a:t>
            </a:r>
            <a:r>
              <a:rPr lang="ko-KR" altLang="en-US" sz="1600" kern="1100" spc="-100" dirty="0" smtClean="0">
                <a:solidFill>
                  <a:schemeClr val="tx1"/>
                </a:solidFill>
              </a:rPr>
              <a:t>변수들을 한 곳에 모으는 것으로 개선 가능</a:t>
            </a:r>
            <a:r>
              <a:rPr lang="en-US" altLang="ko-KR" sz="1600" kern="1100" spc="-100" dirty="0" smtClean="0">
                <a:solidFill>
                  <a:schemeClr val="tx1"/>
                </a:solidFill>
              </a:rPr>
              <a:t>.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ko-KR" altLang="en-US" sz="1600" kern="1100" spc="-100" dirty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 smtClean="0">
                <a:solidFill>
                  <a:schemeClr val="tx1"/>
                </a:solidFill>
              </a:rPr>
              <a:t>UART </a:t>
            </a:r>
            <a:r>
              <a:rPr lang="ko-KR" altLang="en-US" sz="1600" kern="1100" spc="-100" dirty="0" smtClean="0">
                <a:solidFill>
                  <a:schemeClr val="tx1"/>
                </a:solidFill>
              </a:rPr>
              <a:t>명령 </a:t>
            </a:r>
            <a:r>
              <a:rPr lang="en-US" altLang="ko-KR" sz="1600" kern="1100" spc="-100" dirty="0" err="1" smtClean="0">
                <a:solidFill>
                  <a:schemeClr val="tx1"/>
                </a:solidFill>
              </a:rPr>
              <a:t>Parcer</a:t>
            </a:r>
            <a:r>
              <a:rPr lang="en-US" altLang="ko-KR" sz="1600" kern="1100" spc="-100" dirty="0" smtClean="0">
                <a:solidFill>
                  <a:schemeClr val="tx1"/>
                </a:solidFill>
              </a:rPr>
              <a:t> </a:t>
            </a:r>
            <a:r>
              <a:rPr lang="ko-KR" altLang="en-US" sz="1600" kern="1100" spc="-100" dirty="0" smtClean="0">
                <a:solidFill>
                  <a:schemeClr val="tx1"/>
                </a:solidFill>
              </a:rPr>
              <a:t>확장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잘못된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UART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명령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,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센서 이상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,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비상 정지 등의 처리 구조 </a:t>
            </a:r>
            <a:r>
              <a:rPr lang="ko-KR" altLang="en-US" sz="1600" kern="1100" spc="-100" dirty="0" smtClean="0">
                <a:solidFill>
                  <a:schemeClr val="tx1"/>
                </a:solidFill>
              </a:rPr>
              <a:t>미흡 및 문자열 처리할 수 있도록 명령 테이블 방식으로 개선 가능</a:t>
            </a:r>
            <a:r>
              <a:rPr lang="en-US" altLang="ko-KR" sz="1600" kern="1100" spc="-100" dirty="0" smtClean="0">
                <a:solidFill>
                  <a:schemeClr val="tx1"/>
                </a:solidFill>
              </a:rPr>
              <a:t>.</a:t>
            </a:r>
            <a:endParaRPr lang="ko-KR" altLang="en-US" sz="1600" kern="1100" spc="-1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7FD1A94-54C7-314E-1373-FCC29DAAB342}"/>
              </a:ext>
            </a:extLst>
          </p:cNvPr>
          <p:cNvSpPr/>
          <p:nvPr/>
        </p:nvSpPr>
        <p:spPr>
          <a:xfrm>
            <a:off x="456093" y="4344189"/>
            <a:ext cx="7944502" cy="2211542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>
                <a:solidFill>
                  <a:schemeClr val="tx1"/>
                </a:solidFill>
              </a:rPr>
              <a:t>초음파 센서 처리  구조 불안전성</a:t>
            </a: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_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delay_us</a:t>
            </a:r>
            <a:r>
              <a:rPr lang="en-US" altLang="ko-KR" sz="1600" dirty="0" smtClean="0">
                <a:solidFill>
                  <a:schemeClr val="tx1"/>
                </a:solidFill>
              </a:rPr>
              <a:t>() </a:t>
            </a:r>
            <a:r>
              <a:rPr lang="ko-KR" altLang="en-US" sz="1600" dirty="0" smtClean="0">
                <a:solidFill>
                  <a:schemeClr val="tx1"/>
                </a:solidFill>
              </a:rPr>
              <a:t>기반 </a:t>
            </a:r>
            <a:r>
              <a:rPr lang="en-US" altLang="ko-KR" sz="1600" dirty="0" smtClean="0">
                <a:solidFill>
                  <a:schemeClr val="tx1"/>
                </a:solidFill>
              </a:rPr>
              <a:t>Blocking </a:t>
            </a:r>
            <a:r>
              <a:rPr lang="ko-KR" altLang="en-US" sz="1600" dirty="0" smtClean="0">
                <a:solidFill>
                  <a:schemeClr val="tx1"/>
                </a:solidFill>
              </a:rPr>
              <a:t>구조</a:t>
            </a: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초음파 </a:t>
            </a:r>
            <a:r>
              <a:rPr lang="ko-KR" altLang="en-US" sz="1600" dirty="0">
                <a:solidFill>
                  <a:schemeClr val="tx1"/>
                </a:solidFill>
              </a:rPr>
              <a:t>센서 처리 중 다른 이벤트 응답 </a:t>
            </a:r>
            <a:r>
              <a:rPr lang="ko-KR" altLang="en-US" sz="1600" dirty="0" smtClean="0">
                <a:solidFill>
                  <a:schemeClr val="tx1"/>
                </a:solidFill>
              </a:rPr>
              <a:t>지연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r>
              <a:rPr lang="ko-KR" altLang="en-US" b="1" dirty="0" smtClean="0">
                <a:solidFill>
                  <a:schemeClr val="tx1"/>
                </a:solidFill>
              </a:rPr>
              <a:t>모듈 간 결합도가 높음</a:t>
            </a:r>
            <a:endParaRPr lang="ko-KR" altLang="en-US" b="1" dirty="0">
              <a:solidFill>
                <a:schemeClr val="tx1"/>
              </a:solidFill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FND</a:t>
            </a:r>
            <a:r>
              <a:rPr lang="ko-KR" altLang="en-US" sz="1600" dirty="0" smtClean="0">
                <a:solidFill>
                  <a:schemeClr val="tx1"/>
                </a:solidFill>
              </a:rPr>
              <a:t>모듈의 전역 </a:t>
            </a:r>
            <a:r>
              <a:rPr lang="ko-KR" altLang="en-US" sz="1600" dirty="0">
                <a:solidFill>
                  <a:schemeClr val="tx1"/>
                </a:solidFill>
              </a:rPr>
              <a:t>변수</a:t>
            </a:r>
            <a:r>
              <a:rPr lang="en-US" altLang="ko-KR" sz="1600" dirty="0">
                <a:solidFill>
                  <a:schemeClr val="tx1"/>
                </a:solidFill>
              </a:rPr>
              <a:t>(extern) </a:t>
            </a:r>
            <a:r>
              <a:rPr lang="ko-KR" altLang="en-US" sz="1600" dirty="0">
                <a:solidFill>
                  <a:schemeClr val="tx1"/>
                </a:solidFill>
              </a:rPr>
              <a:t>의존도가 </a:t>
            </a:r>
            <a:r>
              <a:rPr lang="ko-KR" altLang="en-US" sz="1600" dirty="0" smtClean="0">
                <a:solidFill>
                  <a:schemeClr val="tx1"/>
                </a:solidFill>
              </a:rPr>
              <a:t>높음</a:t>
            </a:r>
            <a:r>
              <a:rPr lang="en-US" altLang="ko-KR" sz="1600" dirty="0" smtClean="0">
                <a:solidFill>
                  <a:schemeClr val="tx1"/>
                </a:solidFill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</a:rPr>
              <a:t>한 모듈의 전역 변수가 바뀌면 다른 모듈도 함께 수정해야 하므로 </a:t>
            </a:r>
            <a:r>
              <a:rPr lang="ko-KR" altLang="en-US" sz="1600" dirty="0">
                <a:solidFill>
                  <a:schemeClr val="tx1"/>
                </a:solidFill>
              </a:rPr>
              <a:t>유지보수 </a:t>
            </a:r>
            <a:r>
              <a:rPr lang="ko-KR" altLang="en-US" sz="1600" dirty="0" smtClean="0">
                <a:solidFill>
                  <a:schemeClr val="tx1"/>
                </a:solidFill>
              </a:rPr>
              <a:t>어려 움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1F3E0B-13AF-3324-EB69-85A207AF6982}"/>
              </a:ext>
            </a:extLst>
          </p:cNvPr>
          <p:cNvSpPr/>
          <p:nvPr/>
        </p:nvSpPr>
        <p:spPr>
          <a:xfrm>
            <a:off x="-3437598" y="7539713"/>
            <a:ext cx="9880670" cy="16394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이번 프로젝트를 통해 단순히 주변장치를 제어하는 수준을 넘어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FSM</a:t>
            </a:r>
            <a:r>
              <a:rPr lang="ko-KR" altLang="en-US" dirty="0">
                <a:solidFill>
                  <a:schemeClr val="tx1"/>
                </a:solidFill>
              </a:rPr>
              <a:t>을 이용한 상태 관리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인터럽트 기반 시간 제어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UART </a:t>
            </a:r>
            <a:r>
              <a:rPr lang="ko-KR" altLang="en-US" dirty="0">
                <a:solidFill>
                  <a:schemeClr val="tx1"/>
                </a:solidFill>
              </a:rPr>
              <a:t>명령 </a:t>
            </a:r>
            <a:r>
              <a:rPr lang="ko-KR" altLang="en-US" dirty="0" err="1">
                <a:solidFill>
                  <a:schemeClr val="tx1"/>
                </a:solidFill>
              </a:rPr>
              <a:t>파싱</a:t>
            </a:r>
            <a:r>
              <a:rPr lang="ko-KR" altLang="en-US" dirty="0">
                <a:solidFill>
                  <a:schemeClr val="tx1"/>
                </a:solidFill>
              </a:rPr>
              <a:t> 및 </a:t>
            </a:r>
            <a:r>
              <a:rPr lang="en-US" altLang="ko-KR" dirty="0">
                <a:solidFill>
                  <a:schemeClr val="tx1"/>
                </a:solidFill>
              </a:rPr>
              <a:t>PWM </a:t>
            </a:r>
            <a:r>
              <a:rPr lang="ko-KR" altLang="en-US" dirty="0">
                <a:solidFill>
                  <a:schemeClr val="tx1"/>
                </a:solidFill>
              </a:rPr>
              <a:t>모터 제어를 통합적으로 설계하는 </a:t>
            </a:r>
            <a:r>
              <a:rPr lang="ko-KR" altLang="en-US" dirty="0" smtClean="0">
                <a:solidFill>
                  <a:schemeClr val="tx1"/>
                </a:solidFill>
              </a:rPr>
              <a:t>경험</a:t>
            </a:r>
            <a:r>
              <a:rPr lang="en-US" altLang="ko-KR" dirty="0">
                <a:solidFill>
                  <a:schemeClr val="tx1"/>
                </a:solidFill>
              </a:rPr>
              <a:t/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특히 각 기능을 </a:t>
            </a:r>
            <a:r>
              <a:rPr lang="ko-KR" altLang="en-US" dirty="0" err="1">
                <a:solidFill>
                  <a:schemeClr val="tx1"/>
                </a:solidFill>
              </a:rPr>
              <a:t>모듈화하여</a:t>
            </a:r>
            <a:r>
              <a:rPr lang="ko-KR" altLang="en-US" dirty="0">
                <a:solidFill>
                  <a:schemeClr val="tx1"/>
                </a:solidFill>
              </a:rPr>
              <a:t> 연동하는 과정에서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ko-KR" altLang="en-US" dirty="0" err="1">
                <a:solidFill>
                  <a:schemeClr val="tx1"/>
                </a:solidFill>
              </a:rPr>
              <a:t>임베디드</a:t>
            </a:r>
            <a:r>
              <a:rPr lang="ko-KR" altLang="en-US" dirty="0">
                <a:solidFill>
                  <a:schemeClr val="tx1"/>
                </a:solidFill>
              </a:rPr>
              <a:t> 소프트웨어 설계의 중요성과 확장성을 고려한 구조 설계의 필요성을 배울 수 있었다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1163052" y="955865"/>
            <a:ext cx="1518364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구현 성과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983069" y="4033527"/>
            <a:ext cx="1572994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문제점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5887696" y="415359"/>
            <a:ext cx="1415773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개선방안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5125374" y="7375971"/>
            <a:ext cx="1818501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느낀점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0" name="위로 굽은 화살표 39"/>
          <p:cNvSpPr/>
          <p:nvPr/>
        </p:nvSpPr>
        <p:spPr>
          <a:xfrm>
            <a:off x="-5122426" y="795936"/>
            <a:ext cx="2604743" cy="1758990"/>
          </a:xfrm>
          <a:prstGeom prst="bentUpArrow">
            <a:avLst>
              <a:gd name="adj1" fmla="val 9211"/>
              <a:gd name="adj2" fmla="val 13889"/>
              <a:gd name="adj3" fmla="val 16813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아래쪽 화살표 40"/>
          <p:cNvSpPr/>
          <p:nvPr/>
        </p:nvSpPr>
        <p:spPr>
          <a:xfrm>
            <a:off x="3078689" y="3686914"/>
            <a:ext cx="412655" cy="635849"/>
          </a:xfrm>
          <a:prstGeom prst="downArrow">
            <a:avLst>
              <a:gd name="adj1" fmla="val 33992"/>
              <a:gd name="adj2" fmla="val 36903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ounded Rectangle 13"/>
          <p:cNvSpPr/>
          <p:nvPr/>
        </p:nvSpPr>
        <p:spPr>
          <a:xfrm>
            <a:off x="8728990" y="4013085"/>
            <a:ext cx="3206036" cy="2606145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입력</a:t>
            </a: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(UART/Bluetooth</a:t>
            </a:r>
            <a:r>
              <a:rPr lang="en-US" altLang="ko-KR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/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▼</a:t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FSM </a:t>
            </a:r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상태 </a:t>
            </a:r>
            <a:r>
              <a:rPr lang="ko-KR" altLang="en-US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제어</a:t>
            </a:r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/>
            </a:r>
            <a:b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ko-KR" altLang="en-US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┌──┼──┐</a:t>
            </a:r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/>
            </a:r>
            <a:b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ko-KR" altLang="en-US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▼       ▼       </a:t>
            </a:r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▼</a:t>
            </a:r>
            <a:b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PWM </a:t>
            </a:r>
            <a:r>
              <a:rPr lang="en-US" altLang="ko-KR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  Sensor    FND</a:t>
            </a: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/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 Motor  Interrupt  Display</a:t>
            </a: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/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▼</a:t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Autonomous Driving</a:t>
            </a:r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1" name="아래쪽 화살표 20"/>
          <p:cNvSpPr/>
          <p:nvPr/>
        </p:nvSpPr>
        <p:spPr>
          <a:xfrm flipV="1">
            <a:off x="7044608" y="3820593"/>
            <a:ext cx="412655" cy="498196"/>
          </a:xfrm>
          <a:prstGeom prst="downArrow">
            <a:avLst>
              <a:gd name="adj1" fmla="val 33992"/>
              <a:gd name="adj2" fmla="val 36903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64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8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228">
            <a:extLst>
              <a:ext uri="{FF2B5EF4-FFF2-40B4-BE49-F238E27FC236}">
                <a16:creationId xmlns:a16="http://schemas.microsoft.com/office/drawing/2014/main" id="{82E972E3-5A9F-5EC8-8519-037C335D1561}"/>
              </a:ext>
            </a:extLst>
          </p:cNvPr>
          <p:cNvSpPr txBox="1"/>
          <p:nvPr/>
        </p:nvSpPr>
        <p:spPr>
          <a:xfrm flipH="1">
            <a:off x="566418" y="2388295"/>
            <a:ext cx="4996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chemeClr val="bg1"/>
                </a:solidFill>
              </a:rPr>
              <a:t>Ｑ＆Ａ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603" y="192591"/>
            <a:ext cx="4853940" cy="65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34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_008_1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Pretendard_Black_sta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676</TotalTime>
  <Words>1574</Words>
  <Application>Microsoft Office PowerPoint</Application>
  <PresentationFormat>와이드스크린</PresentationFormat>
  <Paragraphs>279</Paragraphs>
  <Slides>18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9" baseType="lpstr">
      <vt:lpstr>Arial Unicode MS</vt:lpstr>
      <vt:lpstr>HY견고딕</vt:lpstr>
      <vt:lpstr>Pretendard</vt:lpstr>
      <vt:lpstr>Pretendard Black</vt:lpstr>
      <vt:lpstr>돋움</vt:lpstr>
      <vt:lpstr>맑은 고딕</vt:lpstr>
      <vt:lpstr>함초롬바탕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kccistc</cp:lastModifiedBy>
  <cp:revision>116</cp:revision>
  <dcterms:created xsi:type="dcterms:W3CDTF">2022-08-03T01:14:38Z</dcterms:created>
  <dcterms:modified xsi:type="dcterms:W3CDTF">2026-06-23T05:52:43Z</dcterms:modified>
</cp:coreProperties>
</file>