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3" r:id="rId1"/>
    <p:sldMasterId id="2147483694" r:id="rId2"/>
    <p:sldMasterId id="2147483695" r:id="rId3"/>
    <p:sldMasterId id="2147483696" r:id="rId4"/>
    <p:sldMasterId id="2147483697" r:id="rId5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120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b453c714f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fb453c714f_3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g3fb453c714f_3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09e237adbe_1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409e237adbe_1_6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g409e237adbe_1_6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altLang="ko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b453c714f_3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fb453c714f_3_4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g3fb453c714f_3_4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09e237adbe_1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409e237adbe_1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b453c714f_3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fb453c714f_3_5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g3fb453c714f_3_5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b453c714f_3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fb453c714f_3_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g3fb453c714f_3_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b453c714f_3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g3fb453c714f_3_1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g3fb453c714f_3_1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453c714f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g3fb453c714f_3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fb453c714f_3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b453c714f_3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fb453c714f_3_1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fb453c714f_3_1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b453c714f_3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3fb453c714f_3_1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g3fb453c714f_3_1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b453c714f_3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g3fb453c714f_3_2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g3fb453c714f_3_2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b453c714f_3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g3fb453c714f_3_29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g3fb453c714f_3_2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b453c714f_3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g3fb453c714f_3_30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g3fb453c714f_3_30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b453c714f_3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g3fb453c714f_3_3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9" name="Google Shape;559;g3fb453c714f_3_3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b453c714f_3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g3fb453c714f_3_36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g3fb453c714f_3_36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b453c714f_3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g3fb453c714f_3_40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g3fb453c714f_3_40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8b9fd01cb4_6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38b9fd01cb4_6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8b9fd01cb4_6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g38b9fd01cb4_6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409e237adbe_1_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g409e237adbe_1_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b453c714f_3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g3fb453c714f_3_4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1" name="Google Shape;741;g3fb453c714f_3_4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409e237adbe_1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g409e237adbe_1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fb453c714f_3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g3fb453c714f_3_4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6" name="Google Shape;776;g3fb453c714f_3_4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fb453c714f_3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1" name="Google Shape;811;g3fb453c714f_3_47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2" name="Google Shape;812;g3fb453c714f_3_47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fb453c714f_3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1" name="Google Shape;841;g3fb453c714f_3_50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2" name="Google Shape;842;g3fb453c714f_3_50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fb453c714f_3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g3fb453c714f_3_5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2" name="Google Shape;862;g3fb453c714f_3_5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8b9fd01cb4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1" name="Google Shape;871;g38b9fd01cb4_13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2" name="Google Shape;872;g38b9fd01cb4_13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b453c714f_3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g3fb453c714f_3_5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0" name="Google Shape;880;g3fb453c714f_3_5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409e237adbe_2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g409e237adbe_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409e237adbe_1_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8" name="Google Shape;938;g409e237adbe_1_8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9" name="Google Shape;939;g409e237adbe_1_8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altLang="ko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29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409e237adbe_1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g409e237adbe_1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409e237adbe_2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g409e237adbe_2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fb453c714f_3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7" name="Google Shape;1057;g3fb453c714f_3_6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8" name="Google Shape;1058;g3fb453c714f_3_6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5" name="Google Shape;12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8" name="Google Shape;12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2" name="Google Shape;132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3" name="Google Shape;133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37" name="Google Shape;13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0" name="Google Shape;140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3" name="Google Shape;173;p4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4" name="Google Shape;174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81" name="Google Shape;181;p4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2" name="Google Shape;182;p4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5" name="Google Shape;195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4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02" name="Google Shape;202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4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5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4" name="Google Shape;144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1"/>
          <p:cNvSpPr txBox="1"/>
          <p:nvPr/>
        </p:nvSpPr>
        <p:spPr>
          <a:xfrm>
            <a:off x="571500" y="1071563"/>
            <a:ext cx="7955280" cy="107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algun Gothic"/>
              <a:buNone/>
            </a:pPr>
            <a:r>
              <a:rPr lang="ko" sz="3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불량 탐지 AI 시스템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1"/>
          <p:cNvSpPr txBox="1"/>
          <p:nvPr/>
        </p:nvSpPr>
        <p:spPr>
          <a:xfrm>
            <a:off x="571500" y="2357438"/>
            <a:ext cx="740664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C3C9"/>
              </a:buClr>
              <a:buSzPts val="1100"/>
              <a:buFont typeface="Malgun Gothic"/>
              <a:buNone/>
            </a:pPr>
            <a:r>
              <a:rPr lang="ko" sz="1200" b="0" i="0" u="none" strike="noStrike" cap="none">
                <a:solidFill>
                  <a:srgbClr val="BFC3C9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Vision AI 기반 이상 탐지  ·  컨베이어 벨트 MCU 자동 검사 시스템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1"/>
          <p:cNvSpPr/>
          <p:nvPr/>
        </p:nvSpPr>
        <p:spPr>
          <a:xfrm>
            <a:off x="571500" y="3424168"/>
            <a:ext cx="8003400" cy="1000200"/>
          </a:xfrm>
          <a:prstGeom prst="roundRect">
            <a:avLst>
              <a:gd name="adj" fmla="val 14286"/>
            </a:avLst>
          </a:prstGeom>
          <a:solidFill>
            <a:srgbClr val="1B1E2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5" name="Google Shape;225;p51"/>
          <p:cNvSpPr txBox="1"/>
          <p:nvPr/>
        </p:nvSpPr>
        <p:spPr>
          <a:xfrm>
            <a:off x="771525" y="3529013"/>
            <a:ext cx="1371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700"/>
              <a:buFont typeface="Malgun Gothic"/>
              <a:buNone/>
            </a:pPr>
            <a:r>
              <a:rPr lang="ko" sz="1100" b="0" i="0" u="none" strike="noStrike" cap="none">
                <a:solidFill>
                  <a:srgbClr val="8A93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1"/>
          <p:cNvSpPr txBox="1"/>
          <p:nvPr/>
        </p:nvSpPr>
        <p:spPr>
          <a:xfrm>
            <a:off x="771525" y="3686175"/>
            <a:ext cx="342900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5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보드가드 BoardGuard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1"/>
          <p:cNvSpPr txBox="1"/>
          <p:nvPr/>
        </p:nvSpPr>
        <p:spPr>
          <a:xfrm>
            <a:off x="771525" y="4000500"/>
            <a:ext cx="1371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700"/>
              <a:buFont typeface="Malgun Gothic"/>
              <a:buNone/>
            </a:pPr>
            <a:r>
              <a:rPr lang="ko" sz="1100">
                <a:solidFill>
                  <a:srgbClr val="8A93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팀장           팀원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1"/>
          <p:cNvSpPr txBox="1"/>
          <p:nvPr/>
        </p:nvSpPr>
        <p:spPr>
          <a:xfrm>
            <a:off x="771525" y="4157663"/>
            <a:ext cx="411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Malgun Gothic"/>
              <a:buNone/>
            </a:pPr>
            <a:r>
              <a:rPr lang="ko" sz="1200">
                <a:solidFill>
                  <a:srgbClr val="E5E7E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박수민</a:t>
            </a:r>
            <a:r>
              <a:rPr lang="ko" sz="1200" b="0" i="0" u="none" strike="noStrike" cap="none">
                <a:solidFill>
                  <a:srgbClr val="E5E7E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" sz="1200">
                <a:solidFill>
                  <a:srgbClr val="E5E7E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" sz="1200" b="0" i="0" u="none" strike="noStrike" cap="none">
                <a:solidFill>
                  <a:srgbClr val="E5E7E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김태환   ·  </a:t>
            </a:r>
            <a:r>
              <a:rPr lang="ko" sz="1200">
                <a:solidFill>
                  <a:srgbClr val="E5E7E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곽혜민</a:t>
            </a:r>
            <a:r>
              <a:rPr lang="ko" sz="1200" b="0" i="0" u="none" strike="noStrike" cap="none">
                <a:solidFill>
                  <a:srgbClr val="E5E7E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·   이양배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2"/>
          <p:cNvSpPr txBox="1"/>
          <p:nvPr/>
        </p:nvSpPr>
        <p:spPr>
          <a:xfrm>
            <a:off x="571500" y="417310"/>
            <a:ext cx="80007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2"/>
          <p:cNvSpPr/>
          <p:nvPr/>
        </p:nvSpPr>
        <p:spPr>
          <a:xfrm>
            <a:off x="571500" y="897526"/>
            <a:ext cx="8000700" cy="53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2"/>
          <p:cNvSpPr/>
          <p:nvPr/>
        </p:nvSpPr>
        <p:spPr>
          <a:xfrm>
            <a:off x="758952" y="1034686"/>
            <a:ext cx="255900" cy="255900"/>
          </a:xfrm>
          <a:prstGeom prst="ellipse">
            <a:avLst/>
          </a:prstGeom>
          <a:solidFill>
            <a:srgbClr val="BD5B3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2"/>
          <p:cNvSpPr txBox="1"/>
          <p:nvPr/>
        </p:nvSpPr>
        <p:spPr>
          <a:xfrm>
            <a:off x="758952" y="103468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2"/>
          <p:cNvSpPr txBox="1"/>
          <p:nvPr/>
        </p:nvSpPr>
        <p:spPr>
          <a:xfrm>
            <a:off x="1243013" y="979822"/>
            <a:ext cx="4457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2"/>
          <p:cNvSpPr txBox="1"/>
          <p:nvPr/>
        </p:nvSpPr>
        <p:spPr>
          <a:xfrm>
            <a:off x="1262043" y="1226710"/>
            <a:ext cx="582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배경, 문제 정의, 개발 목표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2"/>
          <p:cNvSpPr/>
          <p:nvPr/>
        </p:nvSpPr>
        <p:spPr>
          <a:xfrm>
            <a:off x="571500" y="1487314"/>
            <a:ext cx="8000700" cy="53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2"/>
          <p:cNvSpPr/>
          <p:nvPr/>
        </p:nvSpPr>
        <p:spPr>
          <a:xfrm>
            <a:off x="758952" y="1624474"/>
            <a:ext cx="255900" cy="255900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2"/>
          <p:cNvSpPr txBox="1"/>
          <p:nvPr/>
        </p:nvSpPr>
        <p:spPr>
          <a:xfrm>
            <a:off x="758952" y="162447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2"/>
          <p:cNvSpPr txBox="1"/>
          <p:nvPr/>
        </p:nvSpPr>
        <p:spPr>
          <a:xfrm>
            <a:off x="1243013" y="1569610"/>
            <a:ext cx="4457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 및 개발환경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2"/>
          <p:cNvSpPr txBox="1"/>
          <p:nvPr/>
        </p:nvSpPr>
        <p:spPr>
          <a:xfrm>
            <a:off x="1262043" y="1816498"/>
            <a:ext cx="582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HW · SW 구성과 전체 시스템 아키텍처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2"/>
          <p:cNvSpPr/>
          <p:nvPr/>
        </p:nvSpPr>
        <p:spPr>
          <a:xfrm>
            <a:off x="571500" y="2077102"/>
            <a:ext cx="8000700" cy="53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2"/>
          <p:cNvSpPr/>
          <p:nvPr/>
        </p:nvSpPr>
        <p:spPr>
          <a:xfrm>
            <a:off x="758952" y="2214262"/>
            <a:ext cx="255900" cy="255900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2"/>
          <p:cNvSpPr txBox="1"/>
          <p:nvPr/>
        </p:nvSpPr>
        <p:spPr>
          <a:xfrm>
            <a:off x="758952" y="221426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2"/>
          <p:cNvSpPr txBox="1"/>
          <p:nvPr/>
        </p:nvSpPr>
        <p:spPr>
          <a:xfrm>
            <a:off x="1243013" y="2159398"/>
            <a:ext cx="4457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2"/>
          <p:cNvSpPr txBox="1"/>
          <p:nvPr/>
        </p:nvSpPr>
        <p:spPr>
          <a:xfrm>
            <a:off x="1262043" y="2406286"/>
            <a:ext cx="582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 이상탐지, 결함 위치·유형 분석, 벨트 대응 기술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2"/>
          <p:cNvSpPr/>
          <p:nvPr/>
        </p:nvSpPr>
        <p:spPr>
          <a:xfrm>
            <a:off x="571500" y="2666890"/>
            <a:ext cx="8000700" cy="53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2"/>
          <p:cNvSpPr/>
          <p:nvPr/>
        </p:nvSpPr>
        <p:spPr>
          <a:xfrm>
            <a:off x="758952" y="2804050"/>
            <a:ext cx="255900" cy="2559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2"/>
          <p:cNvSpPr txBox="1"/>
          <p:nvPr/>
        </p:nvSpPr>
        <p:spPr>
          <a:xfrm>
            <a:off x="758952" y="280405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2"/>
          <p:cNvSpPr txBox="1"/>
          <p:nvPr/>
        </p:nvSpPr>
        <p:spPr>
          <a:xfrm>
            <a:off x="1243013" y="2749186"/>
            <a:ext cx="4457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2"/>
          <p:cNvSpPr txBox="1"/>
          <p:nvPr/>
        </p:nvSpPr>
        <p:spPr>
          <a:xfrm>
            <a:off x="1262043" y="2996074"/>
            <a:ext cx="582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Flow, 구현 시험, 트러블슈팅 및 해결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2"/>
          <p:cNvSpPr/>
          <p:nvPr/>
        </p:nvSpPr>
        <p:spPr>
          <a:xfrm>
            <a:off x="571500" y="3256678"/>
            <a:ext cx="8000700" cy="53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2"/>
          <p:cNvSpPr/>
          <p:nvPr/>
        </p:nvSpPr>
        <p:spPr>
          <a:xfrm>
            <a:off x="758952" y="3393838"/>
            <a:ext cx="255900" cy="255900"/>
          </a:xfrm>
          <a:prstGeom prst="ellipse">
            <a:avLst/>
          </a:prstGeom>
          <a:solidFill>
            <a:srgbClr val="545B6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2"/>
          <p:cNvSpPr txBox="1"/>
          <p:nvPr/>
        </p:nvSpPr>
        <p:spPr>
          <a:xfrm>
            <a:off x="758952" y="339383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2"/>
          <p:cNvSpPr txBox="1"/>
          <p:nvPr/>
        </p:nvSpPr>
        <p:spPr>
          <a:xfrm>
            <a:off x="1243013" y="3338974"/>
            <a:ext cx="4457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업무분장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2"/>
          <p:cNvSpPr txBox="1"/>
          <p:nvPr/>
        </p:nvSpPr>
        <p:spPr>
          <a:xfrm>
            <a:off x="1262043" y="3585862"/>
            <a:ext cx="582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팀원별 역할과 기여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2"/>
          <p:cNvSpPr/>
          <p:nvPr/>
        </p:nvSpPr>
        <p:spPr>
          <a:xfrm>
            <a:off x="566928" y="3846466"/>
            <a:ext cx="8001000" cy="53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2"/>
          <p:cNvSpPr/>
          <p:nvPr/>
        </p:nvSpPr>
        <p:spPr>
          <a:xfrm>
            <a:off x="758952" y="3983626"/>
            <a:ext cx="255900" cy="2559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2"/>
          <p:cNvSpPr txBox="1"/>
          <p:nvPr/>
        </p:nvSpPr>
        <p:spPr>
          <a:xfrm>
            <a:off x="758952" y="4032472"/>
            <a:ext cx="255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/>
          </a:p>
        </p:txBody>
      </p:sp>
      <p:sp>
        <p:nvSpPr>
          <p:cNvPr id="263" name="Google Shape;263;p52"/>
          <p:cNvSpPr txBox="1"/>
          <p:nvPr/>
        </p:nvSpPr>
        <p:spPr>
          <a:xfrm>
            <a:off x="1243584" y="3928762"/>
            <a:ext cx="4462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연구 과제</a:t>
            </a:r>
            <a:endParaRPr/>
          </a:p>
        </p:txBody>
      </p:sp>
      <p:sp>
        <p:nvSpPr>
          <p:cNvPr id="264" name="Google Shape;264;p52"/>
          <p:cNvSpPr txBox="1"/>
          <p:nvPr/>
        </p:nvSpPr>
        <p:spPr>
          <a:xfrm>
            <a:off x="1261872" y="4175650"/>
            <a:ext cx="5833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고도화 방향과 후속 개발 주제</a:t>
            </a:r>
            <a:endParaRPr/>
          </a:p>
        </p:txBody>
      </p:sp>
      <p:sp>
        <p:nvSpPr>
          <p:cNvPr id="265" name="Google Shape;265;p52"/>
          <p:cNvSpPr/>
          <p:nvPr/>
        </p:nvSpPr>
        <p:spPr>
          <a:xfrm>
            <a:off x="566928" y="4436254"/>
            <a:ext cx="8001000" cy="53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2"/>
          <p:cNvSpPr/>
          <p:nvPr/>
        </p:nvSpPr>
        <p:spPr>
          <a:xfrm>
            <a:off x="758952" y="4573414"/>
            <a:ext cx="255900" cy="2559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2"/>
          <p:cNvSpPr txBox="1"/>
          <p:nvPr/>
        </p:nvSpPr>
        <p:spPr>
          <a:xfrm>
            <a:off x="758952" y="4622260"/>
            <a:ext cx="255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  <p:sp>
        <p:nvSpPr>
          <p:cNvPr id="268" name="Google Shape;268;p52"/>
          <p:cNvSpPr txBox="1"/>
          <p:nvPr/>
        </p:nvSpPr>
        <p:spPr>
          <a:xfrm>
            <a:off x="1243584" y="4518550"/>
            <a:ext cx="4462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후기</a:t>
            </a:r>
            <a:endParaRPr/>
          </a:p>
        </p:txBody>
      </p:sp>
      <p:sp>
        <p:nvSpPr>
          <p:cNvPr id="269" name="Google Shape;269;p52"/>
          <p:cNvSpPr txBox="1"/>
          <p:nvPr/>
        </p:nvSpPr>
        <p:spPr>
          <a:xfrm>
            <a:off x="1261872" y="4765438"/>
            <a:ext cx="5833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어려웠던 점과 극복 과정, 팀의 소회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3"/>
          <p:cNvSpPr/>
          <p:nvPr/>
        </p:nvSpPr>
        <p:spPr>
          <a:xfrm>
            <a:off x="571500" y="1357313"/>
            <a:ext cx="457200" cy="57150"/>
          </a:xfrm>
          <a:prstGeom prst="rect">
            <a:avLst/>
          </a:prstGeom>
          <a:solidFill>
            <a:srgbClr val="BD5B3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571500" y="1500188"/>
            <a:ext cx="4114800" cy="107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36"/>
              </a:buClr>
              <a:buSzPts val="7900"/>
              <a:buFont typeface="Malgun Gothic"/>
              <a:buNone/>
            </a:pPr>
            <a:r>
              <a:rPr lang="ko" sz="79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7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3"/>
          <p:cNvSpPr txBox="1"/>
          <p:nvPr/>
        </p:nvSpPr>
        <p:spPr>
          <a:xfrm>
            <a:off x="571500" y="2928938"/>
            <a:ext cx="720090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algun Gothic"/>
              <a:buNone/>
            </a:pPr>
            <a:r>
              <a:rPr lang="ko"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3"/>
          <p:cNvSpPr txBox="1"/>
          <p:nvPr/>
        </p:nvSpPr>
        <p:spPr>
          <a:xfrm>
            <a:off x="571500" y="3614738"/>
            <a:ext cx="65151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BCC4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B7BCC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정의부터 이상탐지 접근까지, 프로젝트의 출발점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4"/>
          <p:cNvSpPr txBox="1"/>
          <p:nvPr/>
        </p:nvSpPr>
        <p:spPr>
          <a:xfrm>
            <a:off x="566928" y="571500"/>
            <a:ext cx="800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및 결과 요약</a:t>
            </a:r>
            <a:endParaRPr/>
          </a:p>
        </p:txBody>
      </p:sp>
      <p:sp>
        <p:nvSpPr>
          <p:cNvPr id="284" name="Google Shape;284;p54"/>
          <p:cNvSpPr txBox="1"/>
          <p:nvPr/>
        </p:nvSpPr>
        <p:spPr>
          <a:xfrm>
            <a:off x="566928" y="1057046"/>
            <a:ext cx="800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불량 탐지 AI 시스템 — 프로젝트 한눈에 보기</a:t>
            </a:r>
            <a:endParaRPr/>
          </a:p>
        </p:txBody>
      </p:sp>
      <p:sp>
        <p:nvSpPr>
          <p:cNvPr id="285" name="Google Shape;285;p54"/>
          <p:cNvSpPr/>
          <p:nvPr/>
        </p:nvSpPr>
        <p:spPr>
          <a:xfrm>
            <a:off x="566928" y="1517904"/>
            <a:ext cx="1876800" cy="187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4"/>
          <p:cNvSpPr/>
          <p:nvPr/>
        </p:nvSpPr>
        <p:spPr>
          <a:xfrm>
            <a:off x="566928" y="1517904"/>
            <a:ext cx="1876800" cy="732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4"/>
          <p:cNvSpPr txBox="1"/>
          <p:nvPr/>
        </p:nvSpPr>
        <p:spPr>
          <a:xfrm>
            <a:off x="731520" y="1719072"/>
            <a:ext cx="15477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</a:t>
            </a:r>
            <a:endParaRPr/>
          </a:p>
        </p:txBody>
      </p:sp>
      <p:sp>
        <p:nvSpPr>
          <p:cNvPr id="288" name="Google Shape;288;p54"/>
          <p:cNvSpPr txBox="1"/>
          <p:nvPr/>
        </p:nvSpPr>
        <p:spPr>
          <a:xfrm>
            <a:off x="731520" y="2084832"/>
            <a:ext cx="1547700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 dirty="0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Vision AI 기반 </a:t>
            </a:r>
            <a:endParaRPr lang="en-US" altLang="ko" sz="1150" b="1" i="0" u="none" strike="noStrike" cap="none" dirty="0" smtClean="0">
              <a:solidFill>
                <a:srgbClr val="0A0A0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 dirty="0" smtClean="0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</a:t>
            </a:r>
            <a:r>
              <a:rPr lang="ko" sz="1150" b="1" i="0" u="none" strike="noStrike" cap="none" dirty="0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탐지 및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 dirty="0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벨트 자동 </a:t>
            </a:r>
            <a:endParaRPr lang="en-US" altLang="ko" sz="1150" b="1" i="0" u="none" strike="noStrike" cap="none" dirty="0" smtClean="0">
              <a:solidFill>
                <a:srgbClr val="0A0A0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 dirty="0" smtClean="0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선별 </a:t>
            </a:r>
            <a:r>
              <a:rPr lang="ko" sz="1150" b="1" i="0" u="none" strike="noStrike" cap="none" dirty="0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endParaRPr dirty="0"/>
          </a:p>
        </p:txBody>
      </p:sp>
      <p:sp>
        <p:nvSpPr>
          <p:cNvPr id="289" name="Google Shape;289;p54"/>
          <p:cNvSpPr/>
          <p:nvPr/>
        </p:nvSpPr>
        <p:spPr>
          <a:xfrm>
            <a:off x="2608326" y="1517904"/>
            <a:ext cx="1876800" cy="187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4"/>
          <p:cNvSpPr/>
          <p:nvPr/>
        </p:nvSpPr>
        <p:spPr>
          <a:xfrm>
            <a:off x="2608326" y="1517904"/>
            <a:ext cx="1876800" cy="732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4"/>
          <p:cNvSpPr txBox="1"/>
          <p:nvPr/>
        </p:nvSpPr>
        <p:spPr>
          <a:xfrm>
            <a:off x="2772918" y="1719072"/>
            <a:ext cx="15477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</a:t>
            </a:r>
            <a:endParaRPr/>
          </a:p>
        </p:txBody>
      </p:sp>
      <p:sp>
        <p:nvSpPr>
          <p:cNvPr id="292" name="Google Shape;292;p54"/>
          <p:cNvSpPr txBox="1"/>
          <p:nvPr/>
        </p:nvSpPr>
        <p:spPr>
          <a:xfrm>
            <a:off x="2772918" y="2084832"/>
            <a:ext cx="15477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 </a:t>
            </a:r>
            <a:endParaRPr sz="1150" b="1" i="0" u="none" strike="noStrike" cap="none">
              <a:solidFill>
                <a:srgbClr val="0A0A0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비지도 이상탐지 +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임베딩 기반 결함 유형 분류</a:t>
            </a:r>
            <a:endParaRPr/>
          </a:p>
        </p:txBody>
      </p:sp>
      <p:sp>
        <p:nvSpPr>
          <p:cNvPr id="293" name="Google Shape;293;p54"/>
          <p:cNvSpPr/>
          <p:nvPr/>
        </p:nvSpPr>
        <p:spPr>
          <a:xfrm>
            <a:off x="4649724" y="1517904"/>
            <a:ext cx="1876800" cy="187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/>
          <p:nvPr/>
        </p:nvSpPr>
        <p:spPr>
          <a:xfrm>
            <a:off x="4649724" y="1517904"/>
            <a:ext cx="1876800" cy="732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4"/>
          <p:cNvSpPr txBox="1"/>
          <p:nvPr/>
        </p:nvSpPr>
        <p:spPr>
          <a:xfrm>
            <a:off x="4814316" y="1719072"/>
            <a:ext cx="15477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성과</a:t>
            </a:r>
            <a:endParaRPr/>
          </a:p>
        </p:txBody>
      </p:sp>
      <p:sp>
        <p:nvSpPr>
          <p:cNvPr id="296" name="Google Shape;296;p54"/>
          <p:cNvSpPr txBox="1"/>
          <p:nvPr/>
        </p:nvSpPr>
        <p:spPr>
          <a:xfrm>
            <a:off x="4814316" y="2084832"/>
            <a:ext cx="15477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AUROC 1.0 · F1 1.0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(벨트 환경 모델 기준)</a:t>
            </a:r>
            <a:endParaRPr/>
          </a:p>
        </p:txBody>
      </p:sp>
      <p:sp>
        <p:nvSpPr>
          <p:cNvPr id="297" name="Google Shape;297;p54"/>
          <p:cNvSpPr/>
          <p:nvPr/>
        </p:nvSpPr>
        <p:spPr>
          <a:xfrm>
            <a:off x="6691122" y="1517904"/>
            <a:ext cx="1876800" cy="187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4"/>
          <p:cNvSpPr/>
          <p:nvPr/>
        </p:nvSpPr>
        <p:spPr>
          <a:xfrm>
            <a:off x="6691122" y="1517904"/>
            <a:ext cx="1876800" cy="732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4"/>
          <p:cNvSpPr txBox="1"/>
          <p:nvPr/>
        </p:nvSpPr>
        <p:spPr>
          <a:xfrm>
            <a:off x="6855714" y="1719072"/>
            <a:ext cx="15477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</p:txBody>
      </p:sp>
      <p:sp>
        <p:nvSpPr>
          <p:cNvPr id="300" name="Google Shape;300;p54"/>
          <p:cNvSpPr txBox="1"/>
          <p:nvPr/>
        </p:nvSpPr>
        <p:spPr>
          <a:xfrm>
            <a:off x="6855714" y="2084832"/>
            <a:ext cx="15477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기구물 검증 →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벨트 실환경 자동 검사 완성</a:t>
            </a:r>
            <a:endParaRPr/>
          </a:p>
        </p:txBody>
      </p:sp>
      <p:sp>
        <p:nvSpPr>
          <p:cNvPr id="301" name="Google Shape;301;p54"/>
          <p:cNvSpPr/>
          <p:nvPr/>
        </p:nvSpPr>
        <p:spPr>
          <a:xfrm>
            <a:off x="566928" y="3602736"/>
            <a:ext cx="8001000" cy="7773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4"/>
          <p:cNvSpPr txBox="1"/>
          <p:nvPr/>
        </p:nvSpPr>
        <p:spPr>
          <a:xfrm>
            <a:off x="731523" y="3792486"/>
            <a:ext cx="74523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패턴만으로 학습하는 이상탐지 방식으로 불량 데이터 부족 문제를 해결하고, 실제 컨베이어 환경에서 결함 위치·유형까지 자동 판별하는 시스템 구현</a:t>
            </a:r>
            <a:endParaRPr/>
          </a:p>
        </p:txBody>
      </p:sp>
      <p:sp>
        <p:nvSpPr>
          <p:cNvPr id="303" name="Google Shape;303;p54"/>
          <p:cNvSpPr txBox="1"/>
          <p:nvPr/>
        </p:nvSpPr>
        <p:spPr>
          <a:xfrm>
            <a:off x="566928" y="314553"/>
            <a:ext cx="8001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D5B30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5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3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불량 주제 선정이유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5"/>
          <p:cNvSpPr txBox="1"/>
          <p:nvPr/>
        </p:nvSpPr>
        <p:spPr>
          <a:xfrm>
            <a:off x="571500" y="1057275"/>
            <a:ext cx="8000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육안으로 판별하기 어려운 결함 다수 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endParaRPr sz="10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55"/>
          <p:cNvSpPr/>
          <p:nvPr/>
        </p:nvSpPr>
        <p:spPr>
          <a:xfrm>
            <a:off x="395825" y="1971550"/>
            <a:ext cx="2628000" cy="1873200"/>
          </a:xfrm>
          <a:prstGeom prst="roundRect">
            <a:avLst>
              <a:gd name="adj" fmla="val 8696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70075" tIns="70075" rIns="70075" bIns="7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5"/>
          <p:cNvSpPr/>
          <p:nvPr/>
        </p:nvSpPr>
        <p:spPr>
          <a:xfrm>
            <a:off x="571042" y="2167035"/>
            <a:ext cx="335700" cy="3744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txBody>
          <a:bodyPr spcFirstLastPara="1" wrap="square" lIns="70075" tIns="70075" rIns="70075" bIns="7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55"/>
          <p:cNvSpPr txBox="1"/>
          <p:nvPr/>
        </p:nvSpPr>
        <p:spPr>
          <a:xfrm>
            <a:off x="571042" y="2167035"/>
            <a:ext cx="3357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2"/>
              <a:buFont typeface="Malgun Gothic"/>
              <a:buNone/>
            </a:pPr>
            <a:r>
              <a:rPr lang="ko" sz="1022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5"/>
          <p:cNvSpPr txBox="1"/>
          <p:nvPr/>
        </p:nvSpPr>
        <p:spPr>
          <a:xfrm>
            <a:off x="571042" y="2704631"/>
            <a:ext cx="22776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24"/>
              <a:buFont typeface="Malgun Gothic"/>
              <a:buNone/>
            </a:pPr>
            <a:r>
              <a:rPr lang="ko" sz="1226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솔더링 불량</a:t>
            </a:r>
            <a:endParaRPr sz="12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5"/>
          <p:cNvSpPr txBox="1"/>
          <p:nvPr/>
        </p:nvSpPr>
        <p:spPr>
          <a:xfrm>
            <a:off x="571042" y="2997858"/>
            <a:ext cx="23823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920"/>
              <a:buFont typeface="Malgun Gothic"/>
              <a:buNone/>
            </a:pPr>
            <a:r>
              <a:rPr lang="ko" sz="1022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납땜 접합부의 미세한 크랙이나 냉납은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920"/>
              <a:buFont typeface="Malgun Gothic"/>
              <a:buNone/>
            </a:pPr>
            <a:r>
              <a:rPr lang="ko" sz="1022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육안 검사에서 놓치기 쉬운 대표적 결함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5"/>
          <p:cNvSpPr/>
          <p:nvPr/>
        </p:nvSpPr>
        <p:spPr>
          <a:xfrm>
            <a:off x="3170012" y="1971550"/>
            <a:ext cx="2628000" cy="1873200"/>
          </a:xfrm>
          <a:prstGeom prst="roundRect">
            <a:avLst>
              <a:gd name="adj" fmla="val 8696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70075" tIns="70075" rIns="70075" bIns="7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55"/>
          <p:cNvSpPr/>
          <p:nvPr/>
        </p:nvSpPr>
        <p:spPr>
          <a:xfrm>
            <a:off x="3345229" y="2167035"/>
            <a:ext cx="335700" cy="3744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txBody>
          <a:bodyPr spcFirstLastPara="1" wrap="square" lIns="70075" tIns="70075" rIns="70075" bIns="7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55"/>
          <p:cNvSpPr txBox="1"/>
          <p:nvPr/>
        </p:nvSpPr>
        <p:spPr>
          <a:xfrm>
            <a:off x="3345229" y="2167035"/>
            <a:ext cx="3357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2"/>
              <a:buFont typeface="Malgun Gothic"/>
              <a:buNone/>
            </a:pPr>
            <a:r>
              <a:rPr lang="ko" sz="1022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5"/>
          <p:cNvSpPr txBox="1"/>
          <p:nvPr/>
        </p:nvSpPr>
        <p:spPr>
          <a:xfrm>
            <a:off x="3345229" y="2704617"/>
            <a:ext cx="22776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24"/>
              <a:buFont typeface="Malgun Gothic"/>
              <a:buNone/>
            </a:pPr>
            <a:r>
              <a:rPr lang="ko" sz="1329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배치 오류</a:t>
            </a:r>
            <a:endParaRPr sz="132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5"/>
          <p:cNvSpPr txBox="1"/>
          <p:nvPr/>
        </p:nvSpPr>
        <p:spPr>
          <a:xfrm>
            <a:off x="3345229" y="2997844"/>
            <a:ext cx="22776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920"/>
              <a:buFont typeface="Malgun Gothic"/>
              <a:buNone/>
            </a:pPr>
            <a:r>
              <a:rPr lang="ko" sz="1022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저항·IC 등 소자의 미세한 위치 이탈,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920"/>
              <a:buFont typeface="Malgun Gothic"/>
              <a:buNone/>
            </a:pPr>
            <a:r>
              <a:rPr lang="ko" sz="1022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 오류는 초기 육안 판별이 어려움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5"/>
          <p:cNvSpPr/>
          <p:nvPr/>
        </p:nvSpPr>
        <p:spPr>
          <a:xfrm>
            <a:off x="5944200" y="1971550"/>
            <a:ext cx="2628000" cy="1873200"/>
          </a:xfrm>
          <a:prstGeom prst="roundRect">
            <a:avLst>
              <a:gd name="adj" fmla="val 8696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70075" tIns="70075" rIns="70075" bIns="7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55"/>
          <p:cNvSpPr/>
          <p:nvPr/>
        </p:nvSpPr>
        <p:spPr>
          <a:xfrm>
            <a:off x="6119417" y="2167035"/>
            <a:ext cx="335700" cy="3744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txBody>
          <a:bodyPr spcFirstLastPara="1" wrap="square" lIns="70075" tIns="70075" rIns="70075" bIns="7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55"/>
          <p:cNvSpPr txBox="1"/>
          <p:nvPr/>
        </p:nvSpPr>
        <p:spPr>
          <a:xfrm>
            <a:off x="6119417" y="2167035"/>
            <a:ext cx="3357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2"/>
              <a:buFont typeface="Malgun Gothic"/>
              <a:buNone/>
            </a:pPr>
            <a:r>
              <a:rPr lang="ko" sz="1022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5"/>
          <p:cNvSpPr txBox="1"/>
          <p:nvPr/>
        </p:nvSpPr>
        <p:spPr>
          <a:xfrm>
            <a:off x="6119417" y="2704617"/>
            <a:ext cx="22776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24"/>
              <a:buFont typeface="Malgun Gothic"/>
              <a:buNone/>
            </a:pPr>
            <a:r>
              <a:rPr lang="ko" sz="1329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크랙 · 미세 균열</a:t>
            </a:r>
            <a:endParaRPr sz="132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5"/>
          <p:cNvSpPr txBox="1"/>
          <p:nvPr/>
        </p:nvSpPr>
        <p:spPr>
          <a:xfrm>
            <a:off x="6119417" y="2997844"/>
            <a:ext cx="22776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920"/>
              <a:buFont typeface="Malgun Gothic"/>
              <a:buNone/>
            </a:pPr>
            <a:r>
              <a:rPr lang="ko" sz="1022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기판 표면의 미세 균열은 확산되며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920"/>
              <a:buFont typeface="Malgun Gothic"/>
              <a:buNone/>
            </a:pPr>
            <a:r>
              <a:rPr lang="ko" sz="1022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장기적으로 오동작을 유발</a:t>
            </a:r>
            <a:endParaRPr sz="1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D5B30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6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3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방식의 한계와 이상탐지 접근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6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육안 검사·규칙 기반 AOI·지도학습 모델의 공통적인 구조적 한계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endParaRPr sz="10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p56"/>
          <p:cNvSpPr/>
          <p:nvPr/>
        </p:nvSpPr>
        <p:spPr>
          <a:xfrm>
            <a:off x="571500" y="1543050"/>
            <a:ext cx="2571674" cy="1057275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56"/>
          <p:cNvSpPr/>
          <p:nvPr/>
        </p:nvSpPr>
        <p:spPr>
          <a:xfrm>
            <a:off x="728663" y="1685925"/>
            <a:ext cx="35719" cy="228600"/>
          </a:xfrm>
          <a:prstGeom prst="roundRect">
            <a:avLst>
              <a:gd name="adj" fmla="val 16667"/>
            </a:avLst>
          </a:prstGeom>
          <a:solidFill>
            <a:srgbClr val="8B909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56"/>
          <p:cNvSpPr txBox="1"/>
          <p:nvPr/>
        </p:nvSpPr>
        <p:spPr>
          <a:xfrm>
            <a:off x="857250" y="1657350"/>
            <a:ext cx="2143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육안 검사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6"/>
          <p:cNvSpPr txBox="1"/>
          <p:nvPr/>
        </p:nvSpPr>
        <p:spPr>
          <a:xfrm>
            <a:off x="728663" y="2043113"/>
            <a:ext cx="2257349" cy="47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 피로도에 따라 판정 일관성이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떨어지고, 장시간 반복 시 신뢰도 저하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6"/>
          <p:cNvSpPr/>
          <p:nvPr/>
        </p:nvSpPr>
        <p:spPr>
          <a:xfrm>
            <a:off x="3286049" y="1543050"/>
            <a:ext cx="2571674" cy="1057275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56"/>
          <p:cNvSpPr/>
          <p:nvPr/>
        </p:nvSpPr>
        <p:spPr>
          <a:xfrm>
            <a:off x="3443211" y="1685925"/>
            <a:ext cx="35719" cy="228600"/>
          </a:xfrm>
          <a:prstGeom prst="roundRect">
            <a:avLst>
              <a:gd name="adj" fmla="val 16667"/>
            </a:avLst>
          </a:prstGeom>
          <a:solidFill>
            <a:srgbClr val="8B909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56"/>
          <p:cNvSpPr txBox="1"/>
          <p:nvPr/>
        </p:nvSpPr>
        <p:spPr>
          <a:xfrm>
            <a:off x="3571799" y="1657350"/>
            <a:ext cx="21430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Rule-based AOI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6"/>
          <p:cNvSpPr txBox="1"/>
          <p:nvPr/>
        </p:nvSpPr>
        <p:spPr>
          <a:xfrm>
            <a:off x="3443211" y="2043113"/>
            <a:ext cx="2257349" cy="47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사전에 정의한 규칙 밖의 신규·변형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유형에는 취약하게 대응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6"/>
          <p:cNvSpPr/>
          <p:nvPr/>
        </p:nvSpPr>
        <p:spPr>
          <a:xfrm>
            <a:off x="6000598" y="1543050"/>
            <a:ext cx="2571673" cy="1057275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56"/>
          <p:cNvSpPr/>
          <p:nvPr/>
        </p:nvSpPr>
        <p:spPr>
          <a:xfrm>
            <a:off x="6157760" y="1685925"/>
            <a:ext cx="35719" cy="228600"/>
          </a:xfrm>
          <a:prstGeom prst="roundRect">
            <a:avLst>
              <a:gd name="adj" fmla="val 16667"/>
            </a:avLst>
          </a:prstGeom>
          <a:solidFill>
            <a:srgbClr val="8B909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56"/>
          <p:cNvSpPr txBox="1"/>
          <p:nvPr/>
        </p:nvSpPr>
        <p:spPr>
          <a:xfrm>
            <a:off x="6286348" y="1657350"/>
            <a:ext cx="214304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지도학습 모델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6"/>
          <p:cNvSpPr txBox="1"/>
          <p:nvPr/>
        </p:nvSpPr>
        <p:spPr>
          <a:xfrm>
            <a:off x="6157760" y="2043113"/>
            <a:ext cx="2257348" cy="47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대비 불량 샘플이 극소수라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 확보가 현실적으로 어려움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6"/>
          <p:cNvSpPr/>
          <p:nvPr/>
        </p:nvSpPr>
        <p:spPr>
          <a:xfrm>
            <a:off x="571500" y="2714625"/>
            <a:ext cx="3678917" cy="1228725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56"/>
          <p:cNvSpPr/>
          <p:nvPr/>
        </p:nvSpPr>
        <p:spPr>
          <a:xfrm>
            <a:off x="728663" y="2843213"/>
            <a:ext cx="600075" cy="185738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6"/>
          <p:cNvSpPr txBox="1"/>
          <p:nvPr/>
        </p:nvSpPr>
        <p:spPr>
          <a:xfrm>
            <a:off x="728663" y="2843213"/>
            <a:ext cx="60007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A5C"/>
              </a:buClr>
              <a:buSzPts val="600"/>
              <a:buFont typeface="Malgun Gothic"/>
              <a:buNone/>
            </a:pPr>
            <a:r>
              <a:rPr lang="ko" sz="700" b="1">
                <a:solidFill>
                  <a:srgbClr val="1E8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충분함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6"/>
          <p:cNvSpPr txBox="1"/>
          <p:nvPr/>
        </p:nvSpPr>
        <p:spPr>
          <a:xfrm>
            <a:off x="728663" y="3100388"/>
            <a:ext cx="3364592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PCB 이미지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6"/>
          <p:cNvSpPr txBox="1"/>
          <p:nvPr/>
        </p:nvSpPr>
        <p:spPr>
          <a:xfrm>
            <a:off x="728663" y="3343275"/>
            <a:ext cx="33645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조건에서 대량 촬영이 가능해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수백 장 단위로 쉽게 확보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6"/>
          <p:cNvSpPr/>
          <p:nvPr/>
        </p:nvSpPr>
        <p:spPr>
          <a:xfrm>
            <a:off x="4893355" y="2714625"/>
            <a:ext cx="3678917" cy="1228725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56"/>
          <p:cNvSpPr/>
          <p:nvPr/>
        </p:nvSpPr>
        <p:spPr>
          <a:xfrm>
            <a:off x="5050517" y="2843213"/>
            <a:ext cx="600075" cy="185738"/>
          </a:xfrm>
          <a:prstGeom prst="roundRect">
            <a:avLst>
              <a:gd name="adj" fmla="val 50000"/>
            </a:avLst>
          </a:prstGeom>
          <a:solidFill>
            <a:srgbClr val="F1E1D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56"/>
          <p:cNvSpPr txBox="1"/>
          <p:nvPr/>
        </p:nvSpPr>
        <p:spPr>
          <a:xfrm>
            <a:off x="5050517" y="2843213"/>
            <a:ext cx="60007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D5B30"/>
              </a:buClr>
              <a:buSzPts val="600"/>
              <a:buFont typeface="Malgun Gothic"/>
              <a:buNone/>
            </a:pPr>
            <a:r>
              <a:rPr lang="ko" sz="600" b="1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희소함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6"/>
          <p:cNvSpPr txBox="1"/>
          <p:nvPr/>
        </p:nvSpPr>
        <p:spPr>
          <a:xfrm>
            <a:off x="5050517" y="3100388"/>
            <a:ext cx="336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PCB 이미지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6"/>
          <p:cNvSpPr txBox="1"/>
          <p:nvPr/>
        </p:nvSpPr>
        <p:spPr>
          <a:xfrm>
            <a:off x="5050517" y="3343275"/>
            <a:ext cx="33645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유형이 다양하고 표본이 적어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지도학습용 데이터 확보가 비현실적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6"/>
          <p:cNvSpPr/>
          <p:nvPr/>
        </p:nvSpPr>
        <p:spPr>
          <a:xfrm>
            <a:off x="4414724" y="3214688"/>
            <a:ext cx="314325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09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56"/>
          <p:cNvSpPr/>
          <p:nvPr/>
        </p:nvSpPr>
        <p:spPr>
          <a:xfrm>
            <a:off x="571500" y="4043363"/>
            <a:ext cx="8000771" cy="400050"/>
          </a:xfrm>
          <a:prstGeom prst="roundRect">
            <a:avLst>
              <a:gd name="adj" fmla="val 25000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6"/>
          <p:cNvSpPr txBox="1"/>
          <p:nvPr/>
        </p:nvSpPr>
        <p:spPr>
          <a:xfrm>
            <a:off x="771525" y="4043363"/>
            <a:ext cx="76007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 </a:t>
            </a:r>
            <a:r>
              <a:rPr lang="ko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패턴만 학습하여 벗어난 것을 탐지하는 One-Class / 비지도 이상탐지 방식</a:t>
            </a:r>
            <a:endParaRPr sz="1000" b="1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p56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AOI: 카메라로 제품을 자동 촬영·검사하는 광학 검사 장비  ·  One-Class: 정상 데이터만 학습해 이상 여부를 판별하는 학습 방식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D5B30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7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목표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7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 배경을 바탕으로 세운 두 가지 목표와 최종 완성 시스템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p57"/>
          <p:cNvSpPr/>
          <p:nvPr/>
        </p:nvSpPr>
        <p:spPr>
          <a:xfrm>
            <a:off x="571500" y="1543050"/>
            <a:ext cx="3914661" cy="2857500"/>
          </a:xfrm>
          <a:prstGeom prst="roundRect">
            <a:avLst>
              <a:gd name="adj" fmla="val 5500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7"/>
          <p:cNvSpPr txBox="1"/>
          <p:nvPr/>
        </p:nvSpPr>
        <p:spPr>
          <a:xfrm>
            <a:off x="771525" y="1728788"/>
            <a:ext cx="205740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CBD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7"/>
          <p:cNvSpPr txBox="1"/>
          <p:nvPr/>
        </p:nvSpPr>
        <p:spPr>
          <a:xfrm>
            <a:off x="771525" y="1957388"/>
            <a:ext cx="3514611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Vision AI 기반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판별 시스템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57"/>
          <p:cNvSpPr txBox="1"/>
          <p:nvPr/>
        </p:nvSpPr>
        <p:spPr>
          <a:xfrm>
            <a:off x="771525" y="2857500"/>
            <a:ext cx="3514611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EAF3"/>
              </a:buClr>
              <a:buSzPts val="900"/>
              <a:buFont typeface="Malgun Gothic"/>
              <a:buNone/>
            </a:pPr>
            <a:r>
              <a:rPr lang="ko" sz="1200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이미지에서 불량 여부를 판별하고,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EAF3"/>
              </a:buClr>
              <a:buSzPts val="900"/>
              <a:buFont typeface="Malgun Gothic"/>
              <a:buNone/>
            </a:pPr>
            <a:r>
              <a:rPr lang="ko" sz="1200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불량이 있는 경우 그 위치를 특정하며,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EAF3"/>
              </a:buClr>
              <a:buSzPts val="900"/>
              <a:buFont typeface="Malgun Gothic"/>
              <a:buNone/>
            </a:pPr>
            <a:r>
              <a:rPr lang="ko" sz="1200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원인까지 파악하는 시스템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57"/>
          <p:cNvCxnSpPr/>
          <p:nvPr/>
        </p:nvCxnSpPr>
        <p:spPr>
          <a:xfrm>
            <a:off x="771525" y="3747397"/>
            <a:ext cx="3514500" cy="0"/>
          </a:xfrm>
          <a:prstGeom prst="straightConnector1">
            <a:avLst/>
          </a:prstGeom>
          <a:noFill/>
          <a:ln w="12700" cap="flat" cmpd="sng">
            <a:solidFill>
              <a:srgbClr val="4E6E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4" name="Google Shape;374;p57"/>
          <p:cNvSpPr txBox="1"/>
          <p:nvPr/>
        </p:nvSpPr>
        <p:spPr>
          <a:xfrm>
            <a:off x="1500075" y="3863622"/>
            <a:ext cx="20574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9BEDA"/>
              </a:buClr>
              <a:buSzPts val="600"/>
              <a:buFont typeface="Malgun Gothic"/>
              <a:buNone/>
            </a:pPr>
            <a:r>
              <a:rPr lang="ko" sz="900">
                <a:solidFill>
                  <a:srgbClr val="A9BED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달성 목표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57"/>
          <p:cNvSpPr txBox="1"/>
          <p:nvPr/>
        </p:nvSpPr>
        <p:spPr>
          <a:xfrm>
            <a:off x="1453771" y="4065125"/>
            <a:ext cx="23145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검증 → 벨트 실환경까지 구현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7"/>
          <p:cNvSpPr/>
          <p:nvPr/>
        </p:nvSpPr>
        <p:spPr>
          <a:xfrm>
            <a:off x="4657611" y="1543050"/>
            <a:ext cx="3914661" cy="2857500"/>
          </a:xfrm>
          <a:prstGeom prst="roundRect">
            <a:avLst>
              <a:gd name="adj" fmla="val 55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57"/>
          <p:cNvSpPr txBox="1"/>
          <p:nvPr/>
        </p:nvSpPr>
        <p:spPr>
          <a:xfrm>
            <a:off x="4857636" y="1728788"/>
            <a:ext cx="205740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E9E3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D3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7"/>
          <p:cNvSpPr txBox="1"/>
          <p:nvPr/>
        </p:nvSpPr>
        <p:spPr>
          <a:xfrm>
            <a:off x="4857636" y="1957388"/>
            <a:ext cx="3514611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AI–MCU 연동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제어 시스템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57"/>
          <p:cNvSpPr txBox="1"/>
          <p:nvPr/>
        </p:nvSpPr>
        <p:spPr>
          <a:xfrm>
            <a:off x="4857636" y="2857500"/>
            <a:ext cx="3514611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FEC"/>
              </a:buClr>
              <a:buSzPts val="900"/>
              <a:buFont typeface="Malgun Gothic"/>
              <a:buNone/>
            </a:pPr>
            <a:r>
              <a:rPr lang="ko" sz="1200">
                <a:solidFill>
                  <a:srgbClr val="E1EFE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이상탐지 추론 결과와 MCU 기반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FEC"/>
              </a:buClr>
              <a:buSzPts val="900"/>
              <a:buFont typeface="Malgun Gothic"/>
              <a:buNone/>
            </a:pPr>
            <a:r>
              <a:rPr lang="ko" sz="1200">
                <a:solidFill>
                  <a:srgbClr val="E1EFEC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시스템을 연동하여, 정상/비정상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FEC"/>
              </a:buClr>
              <a:buSzPts val="900"/>
              <a:buFont typeface="Malgun Gothic"/>
              <a:buNone/>
            </a:pPr>
            <a:r>
              <a:rPr lang="ko" sz="1200">
                <a:solidFill>
                  <a:srgbClr val="E1EFE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선별 및 원인 분석까지 수행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57"/>
          <p:cNvCxnSpPr/>
          <p:nvPr/>
        </p:nvCxnSpPr>
        <p:spPr>
          <a:xfrm>
            <a:off x="4857636" y="3747397"/>
            <a:ext cx="3514500" cy="0"/>
          </a:xfrm>
          <a:prstGeom prst="straightConnector1">
            <a:avLst/>
          </a:prstGeom>
          <a:noFill/>
          <a:ln w="12700" cap="flat" cmpd="sng">
            <a:solidFill>
              <a:srgbClr val="5A918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" name="Google Shape;381;p57"/>
          <p:cNvSpPr txBox="1"/>
          <p:nvPr/>
        </p:nvSpPr>
        <p:spPr>
          <a:xfrm>
            <a:off x="5634886" y="3863616"/>
            <a:ext cx="20574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EE0D8"/>
              </a:buClr>
              <a:buSzPts val="600"/>
              <a:buFont typeface="Malgun Gothic"/>
              <a:buNone/>
            </a:pPr>
            <a:r>
              <a:rPr lang="ko" sz="900">
                <a:solidFill>
                  <a:srgbClr val="BEE0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달성 목표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7"/>
          <p:cNvSpPr txBox="1"/>
          <p:nvPr/>
        </p:nvSpPr>
        <p:spPr>
          <a:xfrm>
            <a:off x="5332017" y="4065124"/>
            <a:ext cx="2663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LED · 모터 제어까지 컨베이어 벨트 연동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8"/>
          <p:cNvSpPr/>
          <p:nvPr/>
        </p:nvSpPr>
        <p:spPr>
          <a:xfrm>
            <a:off x="571500" y="1357313"/>
            <a:ext cx="457200" cy="5715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58"/>
          <p:cNvSpPr txBox="1"/>
          <p:nvPr/>
        </p:nvSpPr>
        <p:spPr>
          <a:xfrm>
            <a:off x="571500" y="1500188"/>
            <a:ext cx="4114800" cy="107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36"/>
              </a:buClr>
              <a:buSzPts val="7900"/>
              <a:buFont typeface="Malgun Gothic"/>
              <a:buNone/>
            </a:pPr>
            <a:r>
              <a:rPr lang="ko" sz="79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7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58"/>
          <p:cNvSpPr txBox="1"/>
          <p:nvPr/>
        </p:nvSpPr>
        <p:spPr>
          <a:xfrm>
            <a:off x="571500" y="2928938"/>
            <a:ext cx="720090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algun Gothic"/>
              <a:buNone/>
            </a:pPr>
            <a:r>
              <a:rPr lang="ko"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 및 개발환경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8"/>
          <p:cNvSpPr txBox="1"/>
          <p:nvPr/>
        </p:nvSpPr>
        <p:spPr>
          <a:xfrm>
            <a:off x="571500" y="3614738"/>
            <a:ext cx="65151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B7BCC4"/>
                </a:solidFill>
                <a:latin typeface="Malgun Gothic"/>
                <a:ea typeface="Malgun Gothic"/>
                <a:cs typeface="Malgun Gothic"/>
                <a:sym typeface="Malgun Gothic"/>
              </a:rPr>
              <a:t>HW · SW 구성부터 전체 파이프라인까지, 시스템 설계</a:t>
            </a:r>
            <a:endParaRPr sz="1200">
              <a:solidFill>
                <a:srgbClr val="B7BCC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9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5577E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 및 개발환경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9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환경 — HW 구성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9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촬영, 판정, 자동 제어 통합 시스템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p59"/>
          <p:cNvSpPr/>
          <p:nvPr/>
        </p:nvSpPr>
        <p:spPr>
          <a:xfrm>
            <a:off x="571500" y="1543050"/>
            <a:ext cx="2571674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9"/>
          <p:cNvSpPr/>
          <p:nvPr/>
        </p:nvSpPr>
        <p:spPr>
          <a:xfrm>
            <a:off x="700088" y="1671638"/>
            <a:ext cx="271463" cy="271463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9"/>
          <p:cNvSpPr txBox="1"/>
          <p:nvPr/>
        </p:nvSpPr>
        <p:spPr>
          <a:xfrm>
            <a:off x="700088" y="1671638"/>
            <a:ext cx="27146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9"/>
          <p:cNvSpPr txBox="1"/>
          <p:nvPr/>
        </p:nvSpPr>
        <p:spPr>
          <a:xfrm>
            <a:off x="1035838" y="1721650"/>
            <a:ext cx="231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NVIDIA Jetson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9"/>
          <p:cNvSpPr txBox="1"/>
          <p:nvPr/>
        </p:nvSpPr>
        <p:spPr>
          <a:xfrm>
            <a:off x="708669" y="2088678"/>
            <a:ext cx="231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프레임 캡처 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TensorRT 실시간 추론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9"/>
          <p:cNvSpPr/>
          <p:nvPr/>
        </p:nvSpPr>
        <p:spPr>
          <a:xfrm>
            <a:off x="3286049" y="1543050"/>
            <a:ext cx="2571674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9"/>
          <p:cNvSpPr/>
          <p:nvPr/>
        </p:nvSpPr>
        <p:spPr>
          <a:xfrm>
            <a:off x="3414636" y="1671638"/>
            <a:ext cx="271463" cy="271463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59"/>
          <p:cNvSpPr txBox="1"/>
          <p:nvPr/>
        </p:nvSpPr>
        <p:spPr>
          <a:xfrm>
            <a:off x="3414636" y="1671638"/>
            <a:ext cx="27146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9"/>
          <p:cNvSpPr txBox="1"/>
          <p:nvPr/>
        </p:nvSpPr>
        <p:spPr>
          <a:xfrm>
            <a:off x="3750386" y="1721650"/>
            <a:ext cx="231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IP 카메라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9"/>
          <p:cNvSpPr txBox="1"/>
          <p:nvPr/>
        </p:nvSpPr>
        <p:spPr>
          <a:xfrm>
            <a:off x="3423217" y="2088678"/>
            <a:ext cx="231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네트워크 스트림 기반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PCB 영상 획득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9"/>
          <p:cNvSpPr/>
          <p:nvPr/>
        </p:nvSpPr>
        <p:spPr>
          <a:xfrm>
            <a:off x="6000598" y="1543050"/>
            <a:ext cx="2571673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59"/>
          <p:cNvSpPr/>
          <p:nvPr/>
        </p:nvSpPr>
        <p:spPr>
          <a:xfrm>
            <a:off x="6129185" y="1671638"/>
            <a:ext cx="271463" cy="271463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59"/>
          <p:cNvSpPr txBox="1"/>
          <p:nvPr/>
        </p:nvSpPr>
        <p:spPr>
          <a:xfrm>
            <a:off x="6129185" y="1671638"/>
            <a:ext cx="27146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9"/>
          <p:cNvSpPr txBox="1"/>
          <p:nvPr/>
        </p:nvSpPr>
        <p:spPr>
          <a:xfrm>
            <a:off x="6464935" y="1721650"/>
            <a:ext cx="231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대상 PCB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9"/>
          <p:cNvSpPr txBox="1"/>
          <p:nvPr/>
        </p:nvSpPr>
        <p:spPr>
          <a:xfrm>
            <a:off x="6137766" y="2088678"/>
            <a:ext cx="231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HC-SR04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초음파 센서 모듈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9"/>
          <p:cNvSpPr/>
          <p:nvPr/>
        </p:nvSpPr>
        <p:spPr>
          <a:xfrm>
            <a:off x="571500" y="2871788"/>
            <a:ext cx="2571674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9"/>
          <p:cNvSpPr/>
          <p:nvPr/>
        </p:nvSpPr>
        <p:spPr>
          <a:xfrm>
            <a:off x="700088" y="3000375"/>
            <a:ext cx="271463" cy="271463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9"/>
          <p:cNvSpPr txBox="1"/>
          <p:nvPr/>
        </p:nvSpPr>
        <p:spPr>
          <a:xfrm>
            <a:off x="700088" y="3000375"/>
            <a:ext cx="27146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9"/>
          <p:cNvSpPr txBox="1"/>
          <p:nvPr/>
        </p:nvSpPr>
        <p:spPr>
          <a:xfrm>
            <a:off x="1035825" y="3064663"/>
            <a:ext cx="231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MCU (M4 보드)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9"/>
          <p:cNvSpPr txBox="1"/>
          <p:nvPr/>
        </p:nvSpPr>
        <p:spPr>
          <a:xfrm>
            <a:off x="708669" y="3417416"/>
            <a:ext cx="231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GPIO 인터럽트 기반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Object 방식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9"/>
          <p:cNvSpPr/>
          <p:nvPr/>
        </p:nvSpPr>
        <p:spPr>
          <a:xfrm>
            <a:off x="3286049" y="2871788"/>
            <a:ext cx="2571674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59"/>
          <p:cNvSpPr/>
          <p:nvPr/>
        </p:nvSpPr>
        <p:spPr>
          <a:xfrm>
            <a:off x="3414636" y="3000375"/>
            <a:ext cx="271463" cy="271463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59"/>
          <p:cNvSpPr txBox="1"/>
          <p:nvPr/>
        </p:nvSpPr>
        <p:spPr>
          <a:xfrm>
            <a:off x="3414636" y="3000375"/>
            <a:ext cx="27146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9"/>
          <p:cNvSpPr txBox="1"/>
          <p:nvPr/>
        </p:nvSpPr>
        <p:spPr>
          <a:xfrm>
            <a:off x="3750399" y="3050858"/>
            <a:ext cx="231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Actuator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9"/>
          <p:cNvSpPr txBox="1"/>
          <p:nvPr/>
        </p:nvSpPr>
        <p:spPr>
          <a:xfrm>
            <a:off x="3423217" y="3417416"/>
            <a:ext cx="231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스텝 모터로 이송,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서보 모터로 불량 배출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9"/>
          <p:cNvSpPr/>
          <p:nvPr/>
        </p:nvSpPr>
        <p:spPr>
          <a:xfrm>
            <a:off x="6000598" y="2871788"/>
            <a:ext cx="2571673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59"/>
          <p:cNvSpPr/>
          <p:nvPr/>
        </p:nvSpPr>
        <p:spPr>
          <a:xfrm>
            <a:off x="6129185" y="3000375"/>
            <a:ext cx="271463" cy="271463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59"/>
          <p:cNvSpPr txBox="1"/>
          <p:nvPr/>
        </p:nvSpPr>
        <p:spPr>
          <a:xfrm>
            <a:off x="6129185" y="3000375"/>
            <a:ext cx="27146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9"/>
          <p:cNvSpPr txBox="1"/>
          <p:nvPr/>
        </p:nvSpPr>
        <p:spPr>
          <a:xfrm>
            <a:off x="6464935" y="3064663"/>
            <a:ext cx="2314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2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표시 LED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9"/>
          <p:cNvSpPr txBox="1"/>
          <p:nvPr/>
        </p:nvSpPr>
        <p:spPr>
          <a:xfrm>
            <a:off x="6137766" y="3417416"/>
            <a:ext cx="231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정상(녹색) · 비정상(빨간색)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상태 실시간 표시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9"/>
          <p:cNvSpPr/>
          <p:nvPr/>
        </p:nvSpPr>
        <p:spPr>
          <a:xfrm>
            <a:off x="571500" y="4171950"/>
            <a:ext cx="8000771" cy="371475"/>
          </a:xfrm>
          <a:prstGeom prst="roundRect">
            <a:avLst>
              <a:gd name="adj" fmla="val 26923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59"/>
          <p:cNvSpPr txBox="1"/>
          <p:nvPr/>
        </p:nvSpPr>
        <p:spPr>
          <a:xfrm>
            <a:off x="742950" y="4171950"/>
            <a:ext cx="765787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기구물: 초기 폼보드 박스 =&gt; 최종 컨베이어 벨트 구조로 전환</a:t>
            </a:r>
            <a:endParaRPr sz="80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2" name="Google Shape;432;p59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Active Object: 요청을 큐에 쌓아 하나씩 순차 처리하는 비동기 실행 방식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0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5577E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 및 개발환경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0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환경 — SW 구성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60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추론, 판정 로직, 제어, 기록을 구현한 전 영역 소프트웨어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60"/>
          <p:cNvSpPr/>
          <p:nvPr/>
        </p:nvSpPr>
        <p:spPr>
          <a:xfrm>
            <a:off x="571500" y="1543050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60"/>
          <p:cNvSpPr/>
          <p:nvPr/>
        </p:nvSpPr>
        <p:spPr>
          <a:xfrm>
            <a:off x="700088" y="1671638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60"/>
          <p:cNvSpPr txBox="1"/>
          <p:nvPr/>
        </p:nvSpPr>
        <p:spPr>
          <a:xfrm>
            <a:off x="800100" y="1643063"/>
            <a:ext cx="154656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· OpenCV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0"/>
          <p:cNvSpPr txBox="1"/>
          <p:nvPr/>
        </p:nvSpPr>
        <p:spPr>
          <a:xfrm>
            <a:off x="700088" y="2171700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캡처, 스레드 분리 처리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0"/>
          <p:cNvSpPr/>
          <p:nvPr/>
        </p:nvSpPr>
        <p:spPr>
          <a:xfrm>
            <a:off x="2603839" y="1543050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60"/>
          <p:cNvSpPr/>
          <p:nvPr/>
        </p:nvSpPr>
        <p:spPr>
          <a:xfrm>
            <a:off x="2732427" y="1671638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60"/>
          <p:cNvSpPr txBox="1"/>
          <p:nvPr/>
        </p:nvSpPr>
        <p:spPr>
          <a:xfrm>
            <a:off x="2832439" y="1643063"/>
            <a:ext cx="154656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0"/>
          <p:cNvSpPr txBox="1"/>
          <p:nvPr/>
        </p:nvSpPr>
        <p:spPr>
          <a:xfrm>
            <a:off x="2732427" y="2171700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비지도 이상탐지 모델 학습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4636180" y="1543050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60"/>
          <p:cNvSpPr/>
          <p:nvPr/>
        </p:nvSpPr>
        <p:spPr>
          <a:xfrm>
            <a:off x="4764767" y="1671638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60"/>
          <p:cNvSpPr txBox="1"/>
          <p:nvPr/>
        </p:nvSpPr>
        <p:spPr>
          <a:xfrm>
            <a:off x="4864780" y="1643063"/>
            <a:ext cx="154656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ONNX → TensorRT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0"/>
          <p:cNvSpPr txBox="1"/>
          <p:nvPr/>
        </p:nvSpPr>
        <p:spPr>
          <a:xfrm>
            <a:off x="4764767" y="2171700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 실시간 추론 엔진 변환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60"/>
          <p:cNvSpPr/>
          <p:nvPr/>
        </p:nvSpPr>
        <p:spPr>
          <a:xfrm>
            <a:off x="6668519" y="1543050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60"/>
          <p:cNvSpPr/>
          <p:nvPr/>
        </p:nvSpPr>
        <p:spPr>
          <a:xfrm>
            <a:off x="6797107" y="1671638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60"/>
          <p:cNvSpPr txBox="1"/>
          <p:nvPr/>
        </p:nvSpPr>
        <p:spPr>
          <a:xfrm>
            <a:off x="6897119" y="1643063"/>
            <a:ext cx="154656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resnet18 / wide_resnet50_2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0"/>
          <p:cNvSpPr txBox="1"/>
          <p:nvPr/>
        </p:nvSpPr>
        <p:spPr>
          <a:xfrm>
            <a:off x="6797107" y="2171700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이상탐지 backbone 비교 검증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0"/>
          <p:cNvSpPr/>
          <p:nvPr/>
        </p:nvSpPr>
        <p:spPr>
          <a:xfrm>
            <a:off x="571500" y="2921794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60"/>
          <p:cNvSpPr/>
          <p:nvPr/>
        </p:nvSpPr>
        <p:spPr>
          <a:xfrm>
            <a:off x="700088" y="3050381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60"/>
          <p:cNvSpPr txBox="1"/>
          <p:nvPr/>
        </p:nvSpPr>
        <p:spPr>
          <a:xfrm>
            <a:off x="800100" y="3021806"/>
            <a:ext cx="154656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resnet18 + 1-NN 임베딩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60"/>
          <p:cNvSpPr txBox="1"/>
          <p:nvPr/>
        </p:nvSpPr>
        <p:spPr>
          <a:xfrm>
            <a:off x="700088" y="3550444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유형 분류 (12종)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60"/>
          <p:cNvSpPr/>
          <p:nvPr/>
        </p:nvSpPr>
        <p:spPr>
          <a:xfrm>
            <a:off x="2603839" y="2921794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60"/>
          <p:cNvSpPr/>
          <p:nvPr/>
        </p:nvSpPr>
        <p:spPr>
          <a:xfrm>
            <a:off x="2732427" y="3050381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60"/>
          <p:cNvSpPr txBox="1"/>
          <p:nvPr/>
        </p:nvSpPr>
        <p:spPr>
          <a:xfrm>
            <a:off x="2832439" y="3021806"/>
            <a:ext cx="154656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+ Web UI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60"/>
          <p:cNvSpPr txBox="1"/>
          <p:nvPr/>
        </p:nvSpPr>
        <p:spPr>
          <a:xfrm>
            <a:off x="2732427" y="3550444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이력 저장 및 실시간 대시보드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0"/>
          <p:cNvSpPr/>
          <p:nvPr/>
        </p:nvSpPr>
        <p:spPr>
          <a:xfrm>
            <a:off x="4636180" y="2921794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60"/>
          <p:cNvSpPr/>
          <p:nvPr/>
        </p:nvSpPr>
        <p:spPr>
          <a:xfrm>
            <a:off x="4764767" y="3050381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60"/>
          <p:cNvSpPr txBox="1"/>
          <p:nvPr/>
        </p:nvSpPr>
        <p:spPr>
          <a:xfrm>
            <a:off x="4864780" y="3021806"/>
            <a:ext cx="154656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GPIO 제어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0"/>
          <p:cNvSpPr txBox="1"/>
          <p:nvPr/>
        </p:nvSpPr>
        <p:spPr>
          <a:xfrm>
            <a:off x="4764767" y="3550444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 ↔ M4 MCU 신호 통신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0"/>
          <p:cNvSpPr/>
          <p:nvPr/>
        </p:nvSpPr>
        <p:spPr>
          <a:xfrm>
            <a:off x="6668519" y="2921794"/>
            <a:ext cx="1903752" cy="1250156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60"/>
          <p:cNvSpPr/>
          <p:nvPr/>
        </p:nvSpPr>
        <p:spPr>
          <a:xfrm>
            <a:off x="6797107" y="3050381"/>
            <a:ext cx="28575" cy="200025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60"/>
          <p:cNvSpPr txBox="1"/>
          <p:nvPr/>
        </p:nvSpPr>
        <p:spPr>
          <a:xfrm>
            <a:off x="6897119" y="3021806"/>
            <a:ext cx="154656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 Queue FSM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0"/>
          <p:cNvSpPr txBox="1"/>
          <p:nvPr/>
        </p:nvSpPr>
        <p:spPr>
          <a:xfrm>
            <a:off x="6797107" y="3550444"/>
            <a:ext cx="16467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기반 컨베이어 제어 로직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0"/>
          <p:cNvSpPr/>
          <p:nvPr/>
        </p:nvSpPr>
        <p:spPr>
          <a:xfrm>
            <a:off x="571500" y="4257675"/>
            <a:ext cx="8000771" cy="385763"/>
          </a:xfrm>
          <a:prstGeom prst="roundRect">
            <a:avLst>
              <a:gd name="adj" fmla="val 25926"/>
            </a:avLst>
          </a:prstGeom>
          <a:solidFill>
            <a:srgbClr val="DCE4E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60"/>
          <p:cNvSpPr txBox="1"/>
          <p:nvPr/>
        </p:nvSpPr>
        <p:spPr>
          <a:xfrm>
            <a:off x="742950" y="4257675"/>
            <a:ext cx="7657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PatchCore(anomalib) 기반 이상탐지, 임베딩 결함 분류, MCU 제어 로직 구현</a:t>
            </a:r>
            <a:endParaRPr sz="1000" b="1">
              <a:solidFill>
                <a:srgbClr val="35577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60"/>
          <p:cNvSpPr txBox="1"/>
          <p:nvPr/>
        </p:nvSpPr>
        <p:spPr>
          <a:xfrm>
            <a:off x="571500" y="4729200"/>
            <a:ext cx="800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backbone: 이미지 특징을 추출하는 신경망 구조  ·  1-NN: 가장 가까운 데이터를 찾아 분류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1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5577E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 및 개발환경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1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1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· AI 추론 · 판정 · MCU 제어 · UI 기록 파이프라인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4" name="Google Shape;484;p61"/>
          <p:cNvSpPr/>
          <p:nvPr/>
        </p:nvSpPr>
        <p:spPr>
          <a:xfrm>
            <a:off x="571500" y="1543050"/>
            <a:ext cx="1497300" cy="27507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61"/>
          <p:cNvSpPr/>
          <p:nvPr/>
        </p:nvSpPr>
        <p:spPr>
          <a:xfrm>
            <a:off x="1092950" y="1803650"/>
            <a:ext cx="483000" cy="4923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61"/>
          <p:cNvSpPr txBox="1"/>
          <p:nvPr/>
        </p:nvSpPr>
        <p:spPr>
          <a:xfrm>
            <a:off x="1212915" y="1803657"/>
            <a:ext cx="243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1"/>
          <p:cNvSpPr txBox="1"/>
          <p:nvPr/>
        </p:nvSpPr>
        <p:spPr>
          <a:xfrm>
            <a:off x="664613" y="2440696"/>
            <a:ext cx="13545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· Jetson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61"/>
          <p:cNvSpPr txBox="1"/>
          <p:nvPr/>
        </p:nvSpPr>
        <p:spPr>
          <a:xfrm>
            <a:off x="642938" y="3135647"/>
            <a:ext cx="1354500" cy="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프레임 캡처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(스레드 분리)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61"/>
          <p:cNvSpPr/>
          <p:nvPr/>
        </p:nvSpPr>
        <p:spPr>
          <a:xfrm>
            <a:off x="2075929" y="2788172"/>
            <a:ext cx="114300" cy="26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61"/>
          <p:cNvSpPr/>
          <p:nvPr/>
        </p:nvSpPr>
        <p:spPr>
          <a:xfrm>
            <a:off x="2197373" y="1543050"/>
            <a:ext cx="1497300" cy="27507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61"/>
          <p:cNvSpPr txBox="1"/>
          <p:nvPr/>
        </p:nvSpPr>
        <p:spPr>
          <a:xfrm>
            <a:off x="2290485" y="2440696"/>
            <a:ext cx="13545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이상탐지 (AI)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p61"/>
          <p:cNvSpPr txBox="1"/>
          <p:nvPr/>
        </p:nvSpPr>
        <p:spPr>
          <a:xfrm>
            <a:off x="2268810" y="3135647"/>
            <a:ext cx="1354500" cy="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anomaly score /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위치 산출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61"/>
          <p:cNvSpPr/>
          <p:nvPr/>
        </p:nvSpPr>
        <p:spPr>
          <a:xfrm>
            <a:off x="3701801" y="2788172"/>
            <a:ext cx="114300" cy="26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61"/>
          <p:cNvSpPr/>
          <p:nvPr/>
        </p:nvSpPr>
        <p:spPr>
          <a:xfrm>
            <a:off x="3823245" y="1543050"/>
            <a:ext cx="1497300" cy="27507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61"/>
          <p:cNvSpPr txBox="1"/>
          <p:nvPr/>
        </p:nvSpPr>
        <p:spPr>
          <a:xfrm>
            <a:off x="3916358" y="2502815"/>
            <a:ext cx="13545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위치 · 유형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61"/>
          <p:cNvSpPr txBox="1"/>
          <p:nvPr/>
        </p:nvSpPr>
        <p:spPr>
          <a:xfrm>
            <a:off x="3894683" y="3135647"/>
            <a:ext cx="1354500" cy="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좌표 영역 매핑,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12종 유형 분류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61"/>
          <p:cNvSpPr/>
          <p:nvPr/>
        </p:nvSpPr>
        <p:spPr>
          <a:xfrm>
            <a:off x="5327674" y="2788172"/>
            <a:ext cx="114300" cy="26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61"/>
          <p:cNvSpPr/>
          <p:nvPr/>
        </p:nvSpPr>
        <p:spPr>
          <a:xfrm>
            <a:off x="5449118" y="1543050"/>
            <a:ext cx="1497300" cy="27507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61"/>
          <p:cNvSpPr txBox="1"/>
          <p:nvPr/>
        </p:nvSpPr>
        <p:spPr>
          <a:xfrm>
            <a:off x="5520555" y="2440696"/>
            <a:ext cx="1354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MCU (M4) 제어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0" name="Google Shape;500;p61"/>
          <p:cNvSpPr txBox="1"/>
          <p:nvPr/>
        </p:nvSpPr>
        <p:spPr>
          <a:xfrm>
            <a:off x="5520555" y="3135647"/>
            <a:ext cx="1354500" cy="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LED · 스텝모터 ·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서보모터 구동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6953546" y="2788172"/>
            <a:ext cx="114300" cy="26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61"/>
          <p:cNvSpPr/>
          <p:nvPr/>
        </p:nvSpPr>
        <p:spPr>
          <a:xfrm>
            <a:off x="7074990" y="1543050"/>
            <a:ext cx="1497300" cy="27507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61"/>
          <p:cNvSpPr txBox="1"/>
          <p:nvPr/>
        </p:nvSpPr>
        <p:spPr>
          <a:xfrm>
            <a:off x="7146428" y="2440696"/>
            <a:ext cx="1354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4" name="Google Shape;504;p61"/>
          <p:cNvSpPr txBox="1"/>
          <p:nvPr/>
        </p:nvSpPr>
        <p:spPr>
          <a:xfrm>
            <a:off x="7146428" y="3135647"/>
            <a:ext cx="1354500" cy="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저장,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대시보드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61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anomaly score: 정상 패턴과 다른 정도를 수치로 나타낸 이상 점수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2718775" y="1814600"/>
            <a:ext cx="483000" cy="492300"/>
          </a:xfrm>
          <a:prstGeom prst="ellipse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61"/>
          <p:cNvSpPr txBox="1"/>
          <p:nvPr/>
        </p:nvSpPr>
        <p:spPr>
          <a:xfrm>
            <a:off x="2845849" y="1814607"/>
            <a:ext cx="243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61"/>
          <p:cNvSpPr/>
          <p:nvPr/>
        </p:nvSpPr>
        <p:spPr>
          <a:xfrm>
            <a:off x="4366350" y="1814600"/>
            <a:ext cx="483000" cy="492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61"/>
          <p:cNvSpPr txBox="1"/>
          <p:nvPr/>
        </p:nvSpPr>
        <p:spPr>
          <a:xfrm>
            <a:off x="4486315" y="1814607"/>
            <a:ext cx="243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61"/>
          <p:cNvSpPr/>
          <p:nvPr/>
        </p:nvSpPr>
        <p:spPr>
          <a:xfrm>
            <a:off x="5970525" y="1814600"/>
            <a:ext cx="483000" cy="492300"/>
          </a:xfrm>
          <a:prstGeom prst="ellipse">
            <a:avLst/>
          </a:prstGeom>
          <a:solidFill>
            <a:srgbClr val="CC41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61"/>
          <p:cNvSpPr txBox="1"/>
          <p:nvPr/>
        </p:nvSpPr>
        <p:spPr>
          <a:xfrm>
            <a:off x="6090490" y="1814607"/>
            <a:ext cx="243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61"/>
          <p:cNvSpPr/>
          <p:nvPr/>
        </p:nvSpPr>
        <p:spPr>
          <a:xfrm>
            <a:off x="7639750" y="1814600"/>
            <a:ext cx="483000" cy="492300"/>
          </a:xfrm>
          <a:prstGeom prst="ellipse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61"/>
          <p:cNvSpPr txBox="1"/>
          <p:nvPr/>
        </p:nvSpPr>
        <p:spPr>
          <a:xfrm>
            <a:off x="7766824" y="1814607"/>
            <a:ext cx="243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/>
          <p:nvPr/>
        </p:nvSpPr>
        <p:spPr>
          <a:xfrm>
            <a:off x="571500" y="1357313"/>
            <a:ext cx="457200" cy="57150"/>
          </a:xfrm>
          <a:prstGeom prst="rect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62"/>
          <p:cNvSpPr txBox="1"/>
          <p:nvPr/>
        </p:nvSpPr>
        <p:spPr>
          <a:xfrm>
            <a:off x="571500" y="1500188"/>
            <a:ext cx="4114800" cy="107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36"/>
              </a:buClr>
              <a:buSzPts val="7900"/>
              <a:buFont typeface="Malgun Gothic"/>
              <a:buNone/>
            </a:pPr>
            <a:r>
              <a:rPr lang="ko" sz="79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7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62"/>
          <p:cNvSpPr txBox="1"/>
          <p:nvPr/>
        </p:nvSpPr>
        <p:spPr>
          <a:xfrm>
            <a:off x="571500" y="2928938"/>
            <a:ext cx="720090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algun Gothic"/>
              <a:buNone/>
            </a:pPr>
            <a:r>
              <a:rPr lang="ko"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62"/>
          <p:cNvSpPr txBox="1"/>
          <p:nvPr/>
        </p:nvSpPr>
        <p:spPr>
          <a:xfrm>
            <a:off x="571500" y="3614738"/>
            <a:ext cx="65151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BCC4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B7BCC4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 이상탐지 및 결함 위치·유형 분석, 벨트 대응 기술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3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3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모델: PatchCore 이상탐지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3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이미지만으로 학습하는 비지도 이상탐지 알고리즘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3"/>
          <p:cNvSpPr/>
          <p:nvPr/>
        </p:nvSpPr>
        <p:spPr>
          <a:xfrm>
            <a:off x="571500" y="1543050"/>
            <a:ext cx="3071813" cy="2143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63" descr="/home/claude/work3/assets/heatmap_back_gri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657350"/>
            <a:ext cx="2843213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3"/>
          <p:cNvSpPr txBox="1"/>
          <p:nvPr/>
        </p:nvSpPr>
        <p:spPr>
          <a:xfrm>
            <a:off x="571500" y="3771900"/>
            <a:ext cx="3071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 Anomaly Heatmap 예시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3"/>
          <p:cNvSpPr/>
          <p:nvPr/>
        </p:nvSpPr>
        <p:spPr>
          <a:xfrm>
            <a:off x="3900488" y="1440077"/>
            <a:ext cx="28500" cy="485700"/>
          </a:xfrm>
          <a:prstGeom prst="roundRect">
            <a:avLst>
              <a:gd name="adj" fmla="val 16667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63"/>
          <p:cNvSpPr txBox="1"/>
          <p:nvPr/>
        </p:nvSpPr>
        <p:spPr>
          <a:xfrm>
            <a:off x="4043363" y="1440077"/>
            <a:ext cx="45288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비지도 학습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3"/>
          <p:cNvSpPr txBox="1"/>
          <p:nvPr/>
        </p:nvSpPr>
        <p:spPr>
          <a:xfrm>
            <a:off x="4043363" y="1611527"/>
            <a:ext cx="4528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데이터의 특징(feature)만으로</a:t>
            </a: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Memory Bank를 구성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3"/>
          <p:cNvSpPr/>
          <p:nvPr/>
        </p:nvSpPr>
        <p:spPr>
          <a:xfrm>
            <a:off x="3900488" y="2091627"/>
            <a:ext cx="28500" cy="485700"/>
          </a:xfrm>
          <a:prstGeom prst="roundRect">
            <a:avLst>
              <a:gd name="adj" fmla="val 16667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63"/>
          <p:cNvSpPr txBox="1"/>
          <p:nvPr/>
        </p:nvSpPr>
        <p:spPr>
          <a:xfrm>
            <a:off x="4043363" y="2091627"/>
            <a:ext cx="45288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Coreset Sampling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63"/>
          <p:cNvSpPr txBox="1"/>
          <p:nvPr/>
        </p:nvSpPr>
        <p:spPr>
          <a:xfrm>
            <a:off x="4043363" y="2263077"/>
            <a:ext cx="4528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정상 패치만 선별 저장하여</a:t>
            </a: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연산량과 속도를 최적화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3"/>
          <p:cNvSpPr/>
          <p:nvPr/>
        </p:nvSpPr>
        <p:spPr>
          <a:xfrm>
            <a:off x="3900488" y="2753188"/>
            <a:ext cx="28500" cy="485700"/>
          </a:xfrm>
          <a:prstGeom prst="roundRect">
            <a:avLst>
              <a:gd name="adj" fmla="val 16667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63"/>
          <p:cNvSpPr txBox="1"/>
          <p:nvPr/>
        </p:nvSpPr>
        <p:spPr>
          <a:xfrm>
            <a:off x="4043363" y="2753188"/>
            <a:ext cx="45288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3"/>
          <p:cNvSpPr txBox="1"/>
          <p:nvPr/>
        </p:nvSpPr>
        <p:spPr>
          <a:xfrm>
            <a:off x="4043363" y="2924638"/>
            <a:ext cx="4528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resnet18 / wide_resnet50_2 비교 검증,</a:t>
            </a: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 특성에 맞게 선택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3"/>
          <p:cNvSpPr/>
          <p:nvPr/>
        </p:nvSpPr>
        <p:spPr>
          <a:xfrm>
            <a:off x="3900488" y="3414713"/>
            <a:ext cx="28500" cy="485700"/>
          </a:xfrm>
          <a:prstGeom prst="roundRect">
            <a:avLst>
              <a:gd name="adj" fmla="val 16667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63"/>
          <p:cNvSpPr txBox="1"/>
          <p:nvPr/>
        </p:nvSpPr>
        <p:spPr>
          <a:xfrm>
            <a:off x="4043363" y="3414713"/>
            <a:ext cx="45288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Anomaly Map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3"/>
          <p:cNvSpPr txBox="1"/>
          <p:nvPr/>
        </p:nvSpPr>
        <p:spPr>
          <a:xfrm>
            <a:off x="4043363" y="3586163"/>
            <a:ext cx="4528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패턴과의 거리로 픽셀 단위</a:t>
            </a: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점수 및 결함 위치 시각화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63"/>
          <p:cNvSpPr/>
          <p:nvPr/>
        </p:nvSpPr>
        <p:spPr>
          <a:xfrm>
            <a:off x="571500" y="4086225"/>
            <a:ext cx="2571674" cy="557213"/>
          </a:xfrm>
          <a:prstGeom prst="roundRect">
            <a:avLst>
              <a:gd name="adj" fmla="val 1794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63"/>
          <p:cNvSpPr txBox="1"/>
          <p:nvPr/>
        </p:nvSpPr>
        <p:spPr>
          <a:xfrm>
            <a:off x="700088" y="4171950"/>
            <a:ext cx="23144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resnet18 / wide_resnet50_2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63"/>
          <p:cNvSpPr txBox="1"/>
          <p:nvPr/>
        </p:nvSpPr>
        <p:spPr>
          <a:xfrm>
            <a:off x="700088" y="4400550"/>
            <a:ext cx="231449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63"/>
          <p:cNvSpPr/>
          <p:nvPr/>
        </p:nvSpPr>
        <p:spPr>
          <a:xfrm>
            <a:off x="3286049" y="4086225"/>
            <a:ext cx="2571674" cy="557213"/>
          </a:xfrm>
          <a:prstGeom prst="roundRect">
            <a:avLst>
              <a:gd name="adj" fmla="val 1794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63"/>
          <p:cNvSpPr txBox="1"/>
          <p:nvPr/>
        </p:nvSpPr>
        <p:spPr>
          <a:xfrm>
            <a:off x="3414636" y="4171950"/>
            <a:ext cx="23144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0.15 ~ 0.2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63"/>
          <p:cNvSpPr txBox="1"/>
          <p:nvPr/>
        </p:nvSpPr>
        <p:spPr>
          <a:xfrm>
            <a:off x="3414636" y="4400550"/>
            <a:ext cx="231449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Coreset Sampling Ratio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63"/>
          <p:cNvSpPr/>
          <p:nvPr/>
        </p:nvSpPr>
        <p:spPr>
          <a:xfrm>
            <a:off x="6000598" y="4086225"/>
            <a:ext cx="2571673" cy="557213"/>
          </a:xfrm>
          <a:prstGeom prst="roundRect">
            <a:avLst>
              <a:gd name="adj" fmla="val 1794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63"/>
          <p:cNvSpPr txBox="1"/>
          <p:nvPr/>
        </p:nvSpPr>
        <p:spPr>
          <a:xfrm>
            <a:off x="6129185" y="4171950"/>
            <a:ext cx="231449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0.4 ~ 0.5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63"/>
          <p:cNvSpPr txBox="1"/>
          <p:nvPr/>
        </p:nvSpPr>
        <p:spPr>
          <a:xfrm>
            <a:off x="6129185" y="4400550"/>
            <a:ext cx="231449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PASS/FAIL Threshold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63"/>
          <p:cNvSpPr txBox="1"/>
          <p:nvPr/>
        </p:nvSpPr>
        <p:spPr>
          <a:xfrm>
            <a:off x="571500" y="4657725"/>
            <a:ext cx="83733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Coreset Sampling: 대표성이 큰 데이터만 선별해 저장하는 압축 기법  /  Memory Bank: 정상 특징을 모아둔 참조 데이터 저장소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4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4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위치 매핑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4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좌표 영역을 미리 정의하고 결함 위치와 겹치는 영역을 계산해 이름으로 출력하는 방식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4" name="Google Shape;564;p64"/>
          <p:cNvSpPr/>
          <p:nvPr/>
        </p:nvSpPr>
        <p:spPr>
          <a:xfrm>
            <a:off x="5500459" y="1543050"/>
            <a:ext cx="3071813" cy="2143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5" name="Google Shape;565;p64" descr="/home/claude/work3/assets/fail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4759" y="1657350"/>
            <a:ext cx="2843213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4"/>
          <p:cNvSpPr txBox="1"/>
          <p:nvPr/>
        </p:nvSpPr>
        <p:spPr>
          <a:xfrm>
            <a:off x="5500459" y="3771900"/>
            <a:ext cx="3071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판정 화면 — 결함 위치 · 영역 라벨 표시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4"/>
          <p:cNvSpPr/>
          <p:nvPr/>
        </p:nvSpPr>
        <p:spPr>
          <a:xfrm>
            <a:off x="571500" y="1543050"/>
            <a:ext cx="242888" cy="242888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64"/>
          <p:cNvSpPr txBox="1"/>
          <p:nvPr/>
        </p:nvSpPr>
        <p:spPr>
          <a:xfrm>
            <a:off x="571500" y="1543050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64"/>
          <p:cNvSpPr txBox="1"/>
          <p:nvPr/>
        </p:nvSpPr>
        <p:spPr>
          <a:xfrm>
            <a:off x="914400" y="1528763"/>
            <a:ext cx="4328884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좌표 영역 정의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64"/>
          <p:cNvSpPr txBox="1"/>
          <p:nvPr/>
        </p:nvSpPr>
        <p:spPr>
          <a:xfrm>
            <a:off x="914400" y="1743075"/>
            <a:ext cx="432888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PCB 사진 1장을 기준으로 IC 칩, 핀 영역,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납땜 패드 등 좌표 영역을 JSON으로 정의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4"/>
          <p:cNvSpPr/>
          <p:nvPr/>
        </p:nvSpPr>
        <p:spPr>
          <a:xfrm>
            <a:off x="571500" y="2257425"/>
            <a:ext cx="242888" cy="242888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64"/>
          <p:cNvSpPr txBox="1"/>
          <p:nvPr/>
        </p:nvSpPr>
        <p:spPr>
          <a:xfrm>
            <a:off x="571500" y="2257425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64"/>
          <p:cNvSpPr txBox="1"/>
          <p:nvPr/>
        </p:nvSpPr>
        <p:spPr>
          <a:xfrm>
            <a:off x="914400" y="2243138"/>
            <a:ext cx="4328884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결함 박스 겹침 계산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64"/>
          <p:cNvSpPr txBox="1"/>
          <p:nvPr/>
        </p:nvSpPr>
        <p:spPr>
          <a:xfrm>
            <a:off x="914400" y="2457450"/>
            <a:ext cx="432888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PatchCore가 산출한 결함 위치(defect box)가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어느 정의 영역과 겹치는지 계산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64"/>
          <p:cNvSpPr/>
          <p:nvPr/>
        </p:nvSpPr>
        <p:spPr>
          <a:xfrm>
            <a:off x="571500" y="2971800"/>
            <a:ext cx="242888" cy="242888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64"/>
          <p:cNvSpPr txBox="1"/>
          <p:nvPr/>
        </p:nvSpPr>
        <p:spPr>
          <a:xfrm>
            <a:off x="571500" y="2971800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64"/>
          <p:cNvSpPr txBox="1"/>
          <p:nvPr/>
        </p:nvSpPr>
        <p:spPr>
          <a:xfrm>
            <a:off x="914400" y="2957513"/>
            <a:ext cx="4328884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영역명으로 출력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64"/>
          <p:cNvSpPr txBox="1"/>
          <p:nvPr/>
        </p:nvSpPr>
        <p:spPr>
          <a:xfrm>
            <a:off x="914400" y="3171825"/>
            <a:ext cx="432888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겹치는 영역 이름을 PIN_AREA, RESISTOR_AREA1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처럼 실시간 판정 결과에 함께 표시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4"/>
          <p:cNvSpPr/>
          <p:nvPr/>
        </p:nvSpPr>
        <p:spPr>
          <a:xfrm>
            <a:off x="571500" y="4086225"/>
            <a:ext cx="8000771" cy="500063"/>
          </a:xfrm>
          <a:prstGeom prst="roundRect">
            <a:avLst>
              <a:gd name="adj" fmla="val 22857"/>
            </a:avLst>
          </a:prstGeom>
          <a:solidFill>
            <a:srgbClr val="DEEBE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64"/>
          <p:cNvSpPr txBox="1"/>
          <p:nvPr/>
        </p:nvSpPr>
        <p:spPr>
          <a:xfrm>
            <a:off x="742950" y="4086225"/>
            <a:ext cx="7657871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PIN_AREA / PIN_BENT 처럼 ‘영역 + 결함 유형’을 함께 출력해 문제 위치를 한눈에 확인 가능</a:t>
            </a:r>
            <a:endParaRPr sz="1000" b="1">
              <a:solidFill>
                <a:srgbClr val="3E7B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1" name="Google Shape;581;p64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JSON: 데이터를 저장·교환할 때 쓰는 텍스트 기반 데이터 형식  ·  defect box: AI가 결함으로 판단해 표시한 사각 영역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5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5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유형 분류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5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지도학습(YOLO) 대신 임베딩 기반 방식으로 전환한 결함 유형 세분화 판정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0" name="Google Shape;590;p65"/>
          <p:cNvSpPr/>
          <p:nvPr/>
        </p:nvSpPr>
        <p:spPr>
          <a:xfrm>
            <a:off x="571500" y="1543050"/>
            <a:ext cx="3071813" cy="2143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1" name="Google Shape;591;p65" descr="/home/claude/work3/assets/fail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657350"/>
            <a:ext cx="2843213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5"/>
          <p:cNvSpPr txBox="1"/>
          <p:nvPr/>
        </p:nvSpPr>
        <p:spPr>
          <a:xfrm>
            <a:off x="571500" y="3771900"/>
            <a:ext cx="3071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화면에서 여러 결함 유형을 동시 검출한 예시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5"/>
          <p:cNvSpPr txBox="1"/>
          <p:nvPr/>
        </p:nvSpPr>
        <p:spPr>
          <a:xfrm>
            <a:off x="3900488" y="1543050"/>
            <a:ext cx="46717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resnet18 + 1-NN 임베딩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5"/>
          <p:cNvSpPr txBox="1"/>
          <p:nvPr/>
        </p:nvSpPr>
        <p:spPr>
          <a:xfrm>
            <a:off x="3900488" y="1771650"/>
            <a:ext cx="467178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클래스별 표본 이미지 대량 확보의 어려움을 고려해 YOLO 지도학습 대신 임베딩 유사도 기반 1-NN 분류 방식으로 전환 — 총 12종 결함 유형 세분화 판정</a:t>
            </a:r>
            <a:endParaRPr sz="10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5" name="Google Shape;595;p65"/>
          <p:cNvSpPr/>
          <p:nvPr/>
        </p:nvSpPr>
        <p:spPr>
          <a:xfrm>
            <a:off x="3900488" y="242887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65"/>
          <p:cNvSpPr txBox="1"/>
          <p:nvPr/>
        </p:nvSpPr>
        <p:spPr>
          <a:xfrm>
            <a:off x="3900488" y="242887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PIN_BENT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65"/>
          <p:cNvSpPr/>
          <p:nvPr/>
        </p:nvSpPr>
        <p:spPr>
          <a:xfrm>
            <a:off x="5481561" y="242887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65"/>
          <p:cNvSpPr txBox="1"/>
          <p:nvPr/>
        </p:nvSpPr>
        <p:spPr>
          <a:xfrm>
            <a:off x="5481561" y="242887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PIN_MISSING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7062635" y="242887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65"/>
          <p:cNvSpPr txBox="1"/>
          <p:nvPr/>
        </p:nvSpPr>
        <p:spPr>
          <a:xfrm>
            <a:off x="7062635" y="242887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SOLDER_DEFECT</a:t>
            </a:r>
            <a:endParaRPr sz="800" b="1">
              <a:solidFill>
                <a:srgbClr val="7A5D8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p65"/>
          <p:cNvSpPr/>
          <p:nvPr/>
        </p:nvSpPr>
        <p:spPr>
          <a:xfrm>
            <a:off x="3900488" y="282892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65"/>
          <p:cNvSpPr txBox="1"/>
          <p:nvPr/>
        </p:nvSpPr>
        <p:spPr>
          <a:xfrm>
            <a:off x="3900488" y="282892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SCRATCH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65"/>
          <p:cNvSpPr/>
          <p:nvPr/>
        </p:nvSpPr>
        <p:spPr>
          <a:xfrm>
            <a:off x="5481561" y="282892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5"/>
          <p:cNvSpPr txBox="1"/>
          <p:nvPr/>
        </p:nvSpPr>
        <p:spPr>
          <a:xfrm>
            <a:off x="5481561" y="282892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IC_MISSING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5"/>
          <p:cNvSpPr/>
          <p:nvPr/>
        </p:nvSpPr>
        <p:spPr>
          <a:xfrm>
            <a:off x="7062635" y="282892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65"/>
          <p:cNvSpPr txBox="1"/>
          <p:nvPr/>
        </p:nvSpPr>
        <p:spPr>
          <a:xfrm>
            <a:off x="7062635" y="282892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IC_DAMAGED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5"/>
          <p:cNvSpPr/>
          <p:nvPr/>
        </p:nvSpPr>
        <p:spPr>
          <a:xfrm>
            <a:off x="3900488" y="322897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5"/>
          <p:cNvSpPr txBox="1"/>
          <p:nvPr/>
        </p:nvSpPr>
        <p:spPr>
          <a:xfrm>
            <a:off x="3900488" y="322897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TX_DEFECT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5"/>
          <p:cNvSpPr/>
          <p:nvPr/>
        </p:nvSpPr>
        <p:spPr>
          <a:xfrm>
            <a:off x="5481561" y="322897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65"/>
          <p:cNvSpPr txBox="1"/>
          <p:nvPr/>
        </p:nvSpPr>
        <p:spPr>
          <a:xfrm>
            <a:off x="5481561" y="322897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RX_DEFECT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7062635" y="3228975"/>
            <a:ext cx="1509636" cy="328613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5"/>
          <p:cNvSpPr txBox="1"/>
          <p:nvPr/>
        </p:nvSpPr>
        <p:spPr>
          <a:xfrm>
            <a:off x="7062635" y="3228975"/>
            <a:ext cx="1509636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CRYSTAL_MISSING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5"/>
          <p:cNvSpPr txBox="1"/>
          <p:nvPr/>
        </p:nvSpPr>
        <p:spPr>
          <a:xfrm>
            <a:off x="5690226" y="4028950"/>
            <a:ext cx="1092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12종 결함 유형 분류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5"/>
          <p:cNvSpPr/>
          <p:nvPr/>
        </p:nvSpPr>
        <p:spPr>
          <a:xfrm>
            <a:off x="3900514" y="3629013"/>
            <a:ext cx="1509600" cy="328500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65"/>
          <p:cNvSpPr txBox="1"/>
          <p:nvPr/>
        </p:nvSpPr>
        <p:spPr>
          <a:xfrm>
            <a:off x="3900514" y="3629013"/>
            <a:ext cx="15096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CRYSTAL_DAMAGED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5"/>
          <p:cNvSpPr/>
          <p:nvPr/>
        </p:nvSpPr>
        <p:spPr>
          <a:xfrm>
            <a:off x="5481588" y="3629013"/>
            <a:ext cx="1509600" cy="328500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65"/>
          <p:cNvSpPr txBox="1"/>
          <p:nvPr/>
        </p:nvSpPr>
        <p:spPr>
          <a:xfrm>
            <a:off x="5481588" y="3629013"/>
            <a:ext cx="15096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RC_MISSING</a:t>
            </a:r>
            <a:endParaRPr sz="800" b="1">
              <a:solidFill>
                <a:srgbClr val="7A5D8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8" name="Google Shape;618;p65"/>
          <p:cNvSpPr/>
          <p:nvPr/>
        </p:nvSpPr>
        <p:spPr>
          <a:xfrm>
            <a:off x="7062662" y="3629013"/>
            <a:ext cx="1509600" cy="328500"/>
          </a:xfrm>
          <a:prstGeom prst="roundRect">
            <a:avLst>
              <a:gd name="adj" fmla="val 21739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5"/>
          <p:cNvSpPr txBox="1"/>
          <p:nvPr/>
        </p:nvSpPr>
        <p:spPr>
          <a:xfrm>
            <a:off x="7062662" y="3629013"/>
            <a:ext cx="15096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600"/>
              <a:buFont typeface="Malgun Gothic"/>
              <a:buNone/>
            </a:pPr>
            <a:r>
              <a:rPr lang="ko" sz="8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MOUNTING_HOLE_DAMAGED</a:t>
            </a:r>
            <a:endParaRPr sz="800" b="1">
              <a:solidFill>
                <a:srgbClr val="7A5D8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6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벨트 환경 대응 판정 · 제어 로직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6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기구물과 다른 컨베이어 벨트 환경에 맞춰 새로 설계한 판정 로직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8" name="Google Shape;628;p66"/>
          <p:cNvSpPr/>
          <p:nvPr/>
        </p:nvSpPr>
        <p:spPr>
          <a:xfrm>
            <a:off x="571500" y="1543050"/>
            <a:ext cx="2552624" cy="185737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66"/>
          <p:cNvSpPr/>
          <p:nvPr/>
        </p:nvSpPr>
        <p:spPr>
          <a:xfrm>
            <a:off x="742950" y="1714500"/>
            <a:ext cx="314325" cy="314325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66"/>
          <p:cNvSpPr txBox="1"/>
          <p:nvPr/>
        </p:nvSpPr>
        <p:spPr>
          <a:xfrm>
            <a:off x="742950" y="1714500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6"/>
          <p:cNvSpPr txBox="1"/>
          <p:nvPr/>
        </p:nvSpPr>
        <p:spPr>
          <a:xfrm>
            <a:off x="742950" y="2082454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배경 기준 PCB 존재 검출</a:t>
            </a:r>
            <a:endParaRPr sz="1000" b="1">
              <a:solidFill>
                <a:srgbClr val="0A0A0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(단일 기준 이미지)</a:t>
            </a:r>
            <a:endParaRPr sz="1000" b="1">
              <a:solidFill>
                <a:srgbClr val="0A0A0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2" name="Google Shape;632;p66"/>
          <p:cNvSpPr txBox="1"/>
          <p:nvPr/>
        </p:nvSpPr>
        <p:spPr>
          <a:xfrm>
            <a:off x="742950" y="2643125"/>
            <a:ext cx="22098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빈 벨트 배경 사진 한 장을 기준으로 현재 프레임과 픽셀 차이를 계산해 PCB 진입 여부를 실시간 감지하고, PCB가 없는 경우 AI 추론을 수행하지 않도록 구성 </a:t>
            </a:r>
            <a:endParaRPr sz="9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3" name="Google Shape;633;p66"/>
          <p:cNvSpPr/>
          <p:nvPr/>
        </p:nvSpPr>
        <p:spPr>
          <a:xfrm>
            <a:off x="3295574" y="1543050"/>
            <a:ext cx="2552624" cy="185737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66"/>
          <p:cNvSpPr/>
          <p:nvPr/>
        </p:nvSpPr>
        <p:spPr>
          <a:xfrm>
            <a:off x="3467024" y="1714500"/>
            <a:ext cx="314325" cy="314325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66"/>
          <p:cNvSpPr txBox="1"/>
          <p:nvPr/>
        </p:nvSpPr>
        <p:spPr>
          <a:xfrm>
            <a:off x="3467024" y="1714500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66"/>
          <p:cNvSpPr txBox="1"/>
          <p:nvPr/>
        </p:nvSpPr>
        <p:spPr>
          <a:xfrm>
            <a:off x="3467025" y="2082450"/>
            <a:ext cx="234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다중 프레임 투표 기반 판정 상태머신</a:t>
            </a:r>
            <a:endParaRPr sz="1000" b="1">
              <a:solidFill>
                <a:srgbClr val="0A0A0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(MISSING → INSPECTING → 결과 고정)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6"/>
          <p:cNvSpPr txBox="1"/>
          <p:nvPr/>
        </p:nvSpPr>
        <p:spPr>
          <a:xfrm>
            <a:off x="3467024" y="2643188"/>
            <a:ext cx="2209724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진입 후 60프레임의 PASS/FAIL 판정 결과를 누적하고 다수결로 최종 결과를 확정 → PCB가 이탈할 때까지 결과를 유지하여 프레임별 판정 흔들림 방지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6"/>
          <p:cNvSpPr/>
          <p:nvPr/>
        </p:nvSpPr>
        <p:spPr>
          <a:xfrm>
            <a:off x="6019648" y="1543050"/>
            <a:ext cx="2552624" cy="185737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66"/>
          <p:cNvSpPr/>
          <p:nvPr/>
        </p:nvSpPr>
        <p:spPr>
          <a:xfrm>
            <a:off x="6191098" y="1714500"/>
            <a:ext cx="314325" cy="314325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66"/>
          <p:cNvSpPr txBox="1"/>
          <p:nvPr/>
        </p:nvSpPr>
        <p:spPr>
          <a:xfrm>
            <a:off x="6191098" y="1714500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6"/>
          <p:cNvSpPr txBox="1"/>
          <p:nvPr/>
        </p:nvSpPr>
        <p:spPr>
          <a:xfrm>
            <a:off x="6191098" y="2082454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MCU 이벤트 큐 기반 상태머신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6"/>
          <p:cNvSpPr txBox="1"/>
          <p:nvPr/>
        </p:nvSpPr>
        <p:spPr>
          <a:xfrm>
            <a:off x="6191098" y="2643188"/>
            <a:ext cx="2209723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8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Jetson의 STOP/PASS/FAIL 신호를 GPIO로 M4에 전달하고, 이벤트 큐 기반 상태머신으로 LED·스텝모터·서보모터를 제어하여 정상/불량 자동 선별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66"/>
          <p:cNvSpPr/>
          <p:nvPr/>
        </p:nvSpPr>
        <p:spPr>
          <a:xfrm>
            <a:off x="571500" y="3571875"/>
            <a:ext cx="8000771" cy="500063"/>
          </a:xfrm>
          <a:prstGeom prst="roundRect">
            <a:avLst>
              <a:gd name="adj" fmla="val 22857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66"/>
          <p:cNvSpPr txBox="1"/>
          <p:nvPr/>
        </p:nvSpPr>
        <p:spPr>
          <a:xfrm>
            <a:off x="771525" y="3571875"/>
            <a:ext cx="7600721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기술의 결합으로 컨베이어 환경에서 안정적인 판정과 자동 배출 제어를 구현 </a:t>
            </a:r>
            <a:endParaRPr sz="1000" b="1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66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ROI(Region of Interest): 판정에 사용할 관심 영역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7"/>
          <p:cNvSpPr txBox="1"/>
          <p:nvPr/>
        </p:nvSpPr>
        <p:spPr>
          <a:xfrm>
            <a:off x="566928" y="314553"/>
            <a:ext cx="8001000" cy="1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/>
          </a:p>
        </p:txBody>
      </p:sp>
      <p:sp>
        <p:nvSpPr>
          <p:cNvPr id="651" name="Google Shape;651;p67"/>
          <p:cNvSpPr txBox="1"/>
          <p:nvPr/>
        </p:nvSpPr>
        <p:spPr>
          <a:xfrm>
            <a:off x="566928" y="571500"/>
            <a:ext cx="800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 아키텍처 — </a:t>
            </a: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카메라·AI·웹 처리 분리 구조 </a:t>
            </a:r>
            <a:endParaRPr/>
          </a:p>
        </p:txBody>
      </p:sp>
      <p:sp>
        <p:nvSpPr>
          <p:cNvPr id="652" name="Google Shape;652;p67"/>
          <p:cNvSpPr txBox="1"/>
          <p:nvPr/>
        </p:nvSpPr>
        <p:spPr>
          <a:xfrm>
            <a:off x="566928" y="1057046"/>
            <a:ext cx="8001000" cy="32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수신 · AI 추론 · 웹 서비스를 독립 스레드로 분리해 응답성과 안정성을 확보</a:t>
            </a:r>
            <a:endParaRPr/>
          </a:p>
        </p:txBody>
      </p:sp>
      <p:sp>
        <p:nvSpPr>
          <p:cNvPr id="653" name="Google Shape;653;p67"/>
          <p:cNvSpPr/>
          <p:nvPr/>
        </p:nvSpPr>
        <p:spPr>
          <a:xfrm>
            <a:off x="566928" y="1543507"/>
            <a:ext cx="2551176" cy="18571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67"/>
          <p:cNvSpPr/>
          <p:nvPr/>
        </p:nvSpPr>
        <p:spPr>
          <a:xfrm>
            <a:off x="740664" y="1714499"/>
            <a:ext cx="310896" cy="314553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67"/>
          <p:cNvSpPr txBox="1"/>
          <p:nvPr/>
        </p:nvSpPr>
        <p:spPr>
          <a:xfrm>
            <a:off x="740664" y="1714499"/>
            <a:ext cx="310896" cy="31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656" name="Google Shape;656;p67"/>
          <p:cNvSpPr txBox="1"/>
          <p:nvPr/>
        </p:nvSpPr>
        <p:spPr>
          <a:xfrm>
            <a:off x="740664" y="2108090"/>
            <a:ext cx="220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스레드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camera_thread()</a:t>
            </a:r>
            <a:endParaRPr sz="1000"/>
          </a:p>
        </p:txBody>
      </p:sp>
      <p:sp>
        <p:nvSpPr>
          <p:cNvPr id="657" name="Google Shape;657;p67"/>
          <p:cNvSpPr txBox="1"/>
          <p:nvPr/>
        </p:nvSpPr>
        <p:spPr>
          <a:xfrm>
            <a:off x="740664" y="2585922"/>
            <a:ext cx="22038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프레임을 지속 수신하고 연결이 끊기면</a:t>
            </a:r>
            <a:endParaRPr sz="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재시도. 상태를 live / reconnecting /</a:t>
            </a:r>
            <a:endParaRPr sz="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offline / connecting </a:t>
            </a:r>
            <a:r>
              <a:rPr lang="ko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"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단계로 나눠 대시보드에 실시간 반영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658" name="Google Shape;658;p67"/>
          <p:cNvSpPr/>
          <p:nvPr/>
        </p:nvSpPr>
        <p:spPr>
          <a:xfrm>
            <a:off x="3291840" y="1543507"/>
            <a:ext cx="2551176" cy="18571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67"/>
          <p:cNvSpPr/>
          <p:nvPr/>
        </p:nvSpPr>
        <p:spPr>
          <a:xfrm>
            <a:off x="3465576" y="1714499"/>
            <a:ext cx="310896" cy="314553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67"/>
          <p:cNvSpPr txBox="1"/>
          <p:nvPr/>
        </p:nvSpPr>
        <p:spPr>
          <a:xfrm>
            <a:off x="3465576" y="1714499"/>
            <a:ext cx="310896" cy="31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661" name="Google Shape;661;p67"/>
          <p:cNvSpPr txBox="1"/>
          <p:nvPr/>
        </p:nvSpPr>
        <p:spPr>
          <a:xfrm>
            <a:off x="3465576" y="2108090"/>
            <a:ext cx="220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추론 스레드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inspection_worker()</a:t>
            </a:r>
            <a:endParaRPr sz="1000"/>
          </a:p>
        </p:txBody>
      </p:sp>
      <p:sp>
        <p:nvSpPr>
          <p:cNvPr id="662" name="Google Shape;662;p67"/>
          <p:cNvSpPr txBox="1"/>
          <p:nvPr/>
        </p:nvSpPr>
        <p:spPr>
          <a:xfrm>
            <a:off x="3465576" y="2585922"/>
            <a:ext cx="22038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프레임을 받아 앞면·뒷면 PatchCore 모델로 실시간 불량 판정을 수행. 여러 프레임을 모아 결과가 확정되면 그때만 데이터베이스에 저장 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3" name="Google Shape;663;p67"/>
          <p:cNvSpPr/>
          <p:nvPr/>
        </p:nvSpPr>
        <p:spPr>
          <a:xfrm>
            <a:off x="6016752" y="1543507"/>
            <a:ext cx="2551176" cy="18571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67"/>
          <p:cNvSpPr/>
          <p:nvPr/>
        </p:nvSpPr>
        <p:spPr>
          <a:xfrm>
            <a:off x="6190488" y="1714499"/>
            <a:ext cx="310896" cy="314553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67"/>
          <p:cNvSpPr txBox="1"/>
          <p:nvPr/>
        </p:nvSpPr>
        <p:spPr>
          <a:xfrm>
            <a:off x="6190488" y="1714499"/>
            <a:ext cx="310896" cy="31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666" name="Google Shape;666;p67"/>
          <p:cNvSpPr txBox="1"/>
          <p:nvPr/>
        </p:nvSpPr>
        <p:spPr>
          <a:xfrm>
            <a:off x="6190488" y="2108090"/>
            <a:ext cx="220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서비스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Flask REST API</a:t>
            </a:r>
            <a:endParaRPr sz="1000"/>
          </a:p>
        </p:txBody>
      </p:sp>
      <p:sp>
        <p:nvSpPr>
          <p:cNvPr id="667" name="Google Shape;667;p67"/>
          <p:cNvSpPr txBox="1"/>
          <p:nvPr/>
        </p:nvSpPr>
        <p:spPr>
          <a:xfrm>
            <a:off x="6190488" y="2585922"/>
            <a:ext cx="22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880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/video_feed</a:t>
            </a:r>
            <a:r>
              <a:rPr lang="ko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영상 스트리밍과 </a:t>
            </a:r>
            <a:r>
              <a:rPr lang="ko" sz="900">
                <a:solidFill>
                  <a:srgbClr val="1880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/inspection</a:t>
            </a:r>
            <a:r>
              <a:rPr lang="ko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 검사 API를 통해 대시보드에 실시간 상태 제공 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8" name="Google Shape;668;p67"/>
          <p:cNvSpPr/>
          <p:nvPr/>
        </p:nvSpPr>
        <p:spPr>
          <a:xfrm>
            <a:off x="566928" y="3571646"/>
            <a:ext cx="8001000" cy="54864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7"/>
          <p:cNvSpPr txBox="1"/>
          <p:nvPr/>
        </p:nvSpPr>
        <p:spPr>
          <a:xfrm>
            <a:off x="740675" y="3735040"/>
            <a:ext cx="75987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추론이 느려져도 카메라 수신과 웹 서비스까지 같이 멈추지 않도록 각 작업의 실행 흐름을 분리</a:t>
            </a:r>
            <a:endParaRPr sz="1300" b="1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p67"/>
          <p:cNvSpPr txBox="1"/>
          <p:nvPr/>
        </p:nvSpPr>
        <p:spPr>
          <a:xfrm>
            <a:off x="566928" y="4657953"/>
            <a:ext cx="8001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 i="1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CUDA: GPU 병렬 연산을 위한 NVIDIA 플랫폼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8"/>
          <p:cNvSpPr txBox="1"/>
          <p:nvPr/>
        </p:nvSpPr>
        <p:spPr>
          <a:xfrm>
            <a:off x="566928" y="314553"/>
            <a:ext cx="8001000" cy="1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/>
          </a:p>
        </p:txBody>
      </p:sp>
      <p:sp>
        <p:nvSpPr>
          <p:cNvPr id="676" name="Google Shape;676;p68"/>
          <p:cNvSpPr txBox="1"/>
          <p:nvPr/>
        </p:nvSpPr>
        <p:spPr>
          <a:xfrm>
            <a:off x="566928" y="571500"/>
            <a:ext cx="8001000" cy="414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→ 제어 연동 — Jetson에서 MCU까지</a:t>
            </a:r>
            <a:endParaRPr/>
          </a:p>
        </p:txBody>
      </p:sp>
      <p:sp>
        <p:nvSpPr>
          <p:cNvPr id="677" name="Google Shape;677;p68"/>
          <p:cNvSpPr txBox="1"/>
          <p:nvPr/>
        </p:nvSpPr>
        <p:spPr>
          <a:xfrm>
            <a:off x="566928" y="1057046"/>
            <a:ext cx="800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상태머신과 GPIO 펄스로 판정 결과를 모터·LED 동작까지 연결하는 구조 </a:t>
            </a:r>
            <a:endParaRPr/>
          </a:p>
        </p:txBody>
      </p:sp>
      <p:sp>
        <p:nvSpPr>
          <p:cNvPr id="678" name="Google Shape;678;p68"/>
          <p:cNvSpPr/>
          <p:nvPr/>
        </p:nvSpPr>
        <p:spPr>
          <a:xfrm>
            <a:off x="566925" y="1532300"/>
            <a:ext cx="1410600" cy="13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05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68"/>
          <p:cNvSpPr/>
          <p:nvPr/>
        </p:nvSpPr>
        <p:spPr>
          <a:xfrm>
            <a:off x="670379" y="1597690"/>
            <a:ext cx="253800" cy="2502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8"/>
          <p:cNvSpPr txBox="1"/>
          <p:nvPr/>
        </p:nvSpPr>
        <p:spPr>
          <a:xfrm>
            <a:off x="670379" y="1663968"/>
            <a:ext cx="253800" cy="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2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440"/>
          </a:p>
        </p:txBody>
      </p:sp>
      <p:sp>
        <p:nvSpPr>
          <p:cNvPr id="681" name="Google Shape;681;p68"/>
          <p:cNvSpPr txBox="1"/>
          <p:nvPr/>
        </p:nvSpPr>
        <p:spPr>
          <a:xfrm>
            <a:off x="660974" y="1983734"/>
            <a:ext cx="12225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31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WAIT_ENTRY</a:t>
            </a:r>
            <a:endParaRPr sz="1131"/>
          </a:p>
        </p:txBody>
      </p:sp>
      <p:sp>
        <p:nvSpPr>
          <p:cNvPr id="682" name="Google Shape;682;p68"/>
          <p:cNvSpPr txBox="1"/>
          <p:nvPr/>
        </p:nvSpPr>
        <p:spPr>
          <a:xfrm>
            <a:off x="660974" y="2223759"/>
            <a:ext cx="12225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PCB가 지정 ROI에</a:t>
            </a:r>
            <a:endParaRPr sz="1029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들어올 때까지 대기</a:t>
            </a:r>
            <a:endParaRPr sz="1029"/>
          </a:p>
        </p:txBody>
      </p:sp>
      <p:sp>
        <p:nvSpPr>
          <p:cNvPr id="683" name="Google Shape;683;p68"/>
          <p:cNvSpPr/>
          <p:nvPr/>
        </p:nvSpPr>
        <p:spPr>
          <a:xfrm>
            <a:off x="2068184" y="2164307"/>
            <a:ext cx="112800" cy="13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8"/>
          <p:cNvSpPr/>
          <p:nvPr/>
        </p:nvSpPr>
        <p:spPr>
          <a:xfrm>
            <a:off x="2271565" y="1532300"/>
            <a:ext cx="1410600" cy="1395600"/>
          </a:xfrm>
          <a:prstGeom prst="roundRect">
            <a:avLst>
              <a:gd name="adj" fmla="val 1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8"/>
          <p:cNvSpPr/>
          <p:nvPr/>
        </p:nvSpPr>
        <p:spPr>
          <a:xfrm>
            <a:off x="2375019" y="1597690"/>
            <a:ext cx="253800" cy="25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68"/>
          <p:cNvSpPr txBox="1"/>
          <p:nvPr/>
        </p:nvSpPr>
        <p:spPr>
          <a:xfrm>
            <a:off x="2375019" y="1654046"/>
            <a:ext cx="253800" cy="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23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40"/>
          </a:p>
        </p:txBody>
      </p:sp>
      <p:sp>
        <p:nvSpPr>
          <p:cNvPr id="687" name="Google Shape;687;p68"/>
          <p:cNvSpPr txBox="1"/>
          <p:nvPr/>
        </p:nvSpPr>
        <p:spPr>
          <a:xfrm>
            <a:off x="2365614" y="1983734"/>
            <a:ext cx="12225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31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SETTLING</a:t>
            </a:r>
            <a:endParaRPr sz="1131"/>
          </a:p>
        </p:txBody>
      </p:sp>
      <p:sp>
        <p:nvSpPr>
          <p:cNvPr id="688" name="Google Shape;688;p68"/>
          <p:cNvSpPr txBox="1"/>
          <p:nvPr/>
        </p:nvSpPr>
        <p:spPr>
          <a:xfrm>
            <a:off x="2365614" y="2223759"/>
            <a:ext cx="12225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E5EEEC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신호(GPIO 29) 전송,</a:t>
            </a:r>
            <a:endParaRPr sz="1029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E5EEEC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0.3초 흔들림 안정화</a:t>
            </a:r>
            <a:endParaRPr sz="1029"/>
          </a:p>
        </p:txBody>
      </p:sp>
      <p:sp>
        <p:nvSpPr>
          <p:cNvPr id="689" name="Google Shape;689;p68"/>
          <p:cNvSpPr/>
          <p:nvPr/>
        </p:nvSpPr>
        <p:spPr>
          <a:xfrm>
            <a:off x="3772824" y="2164307"/>
            <a:ext cx="112800" cy="13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8"/>
          <p:cNvSpPr/>
          <p:nvPr/>
        </p:nvSpPr>
        <p:spPr>
          <a:xfrm>
            <a:off x="3976205" y="1532300"/>
            <a:ext cx="1410600" cy="13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05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8"/>
          <p:cNvSpPr/>
          <p:nvPr/>
        </p:nvSpPr>
        <p:spPr>
          <a:xfrm>
            <a:off x="4079659" y="1597690"/>
            <a:ext cx="253800" cy="2502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68"/>
          <p:cNvSpPr txBox="1"/>
          <p:nvPr/>
        </p:nvSpPr>
        <p:spPr>
          <a:xfrm>
            <a:off x="4079659" y="1663968"/>
            <a:ext cx="253800" cy="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2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440"/>
          </a:p>
        </p:txBody>
      </p:sp>
      <p:sp>
        <p:nvSpPr>
          <p:cNvPr id="693" name="Google Shape;693;p68"/>
          <p:cNvSpPr txBox="1"/>
          <p:nvPr/>
        </p:nvSpPr>
        <p:spPr>
          <a:xfrm>
            <a:off x="4070254" y="1983734"/>
            <a:ext cx="12225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31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VOTING</a:t>
            </a:r>
            <a:endParaRPr sz="1131"/>
          </a:p>
        </p:txBody>
      </p:sp>
      <p:sp>
        <p:nvSpPr>
          <p:cNvPr id="694" name="Google Shape;694;p68"/>
          <p:cNvSpPr txBox="1"/>
          <p:nvPr/>
        </p:nvSpPr>
        <p:spPr>
          <a:xfrm>
            <a:off x="4070254" y="2223759"/>
            <a:ext cx="12225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60프레임 다수결로</a:t>
            </a:r>
            <a:endParaRPr sz="1029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PASS/FAIL 확정</a:t>
            </a:r>
            <a:endParaRPr sz="1029"/>
          </a:p>
        </p:txBody>
      </p:sp>
      <p:sp>
        <p:nvSpPr>
          <p:cNvPr id="695" name="Google Shape;695;p68"/>
          <p:cNvSpPr/>
          <p:nvPr/>
        </p:nvSpPr>
        <p:spPr>
          <a:xfrm>
            <a:off x="5477464" y="2164307"/>
            <a:ext cx="112800" cy="13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68"/>
          <p:cNvSpPr/>
          <p:nvPr/>
        </p:nvSpPr>
        <p:spPr>
          <a:xfrm>
            <a:off x="5680845" y="1532300"/>
            <a:ext cx="1410600" cy="1395600"/>
          </a:xfrm>
          <a:prstGeom prst="roundRect">
            <a:avLst>
              <a:gd name="adj" fmla="val 1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68"/>
          <p:cNvSpPr/>
          <p:nvPr/>
        </p:nvSpPr>
        <p:spPr>
          <a:xfrm>
            <a:off x="5784299" y="1597690"/>
            <a:ext cx="253800" cy="25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8"/>
          <p:cNvSpPr txBox="1"/>
          <p:nvPr/>
        </p:nvSpPr>
        <p:spPr>
          <a:xfrm>
            <a:off x="5784299" y="1663968"/>
            <a:ext cx="253800" cy="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23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440"/>
          </a:p>
        </p:txBody>
      </p:sp>
      <p:sp>
        <p:nvSpPr>
          <p:cNvPr id="699" name="Google Shape;699;p68"/>
          <p:cNvSpPr txBox="1"/>
          <p:nvPr/>
        </p:nvSpPr>
        <p:spPr>
          <a:xfrm>
            <a:off x="5774894" y="1983734"/>
            <a:ext cx="12225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31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GPIO 펄스</a:t>
            </a:r>
            <a:endParaRPr sz="1131"/>
          </a:p>
        </p:txBody>
      </p:sp>
      <p:sp>
        <p:nvSpPr>
          <p:cNvPr id="700" name="Google Shape;700;p68"/>
          <p:cNvSpPr txBox="1"/>
          <p:nvPr/>
        </p:nvSpPr>
        <p:spPr>
          <a:xfrm>
            <a:off x="5774902" y="2223748"/>
            <a:ext cx="13167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E5EEE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PASS(33)/FAIL(31) 전송 →</a:t>
            </a:r>
            <a:endParaRPr sz="1029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E5EEEC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 EXTI 인터럽트</a:t>
            </a:r>
            <a:endParaRPr sz="1029"/>
          </a:p>
        </p:txBody>
      </p:sp>
      <p:sp>
        <p:nvSpPr>
          <p:cNvPr id="701" name="Google Shape;701;p68"/>
          <p:cNvSpPr/>
          <p:nvPr/>
        </p:nvSpPr>
        <p:spPr>
          <a:xfrm>
            <a:off x="7182104" y="2164307"/>
            <a:ext cx="112800" cy="13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3E6EA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68"/>
          <p:cNvSpPr/>
          <p:nvPr/>
        </p:nvSpPr>
        <p:spPr>
          <a:xfrm>
            <a:off x="7385485" y="1532300"/>
            <a:ext cx="1410600" cy="13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05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68"/>
          <p:cNvSpPr/>
          <p:nvPr/>
        </p:nvSpPr>
        <p:spPr>
          <a:xfrm>
            <a:off x="7488939" y="1597690"/>
            <a:ext cx="253800" cy="2502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68"/>
          <p:cNvSpPr txBox="1"/>
          <p:nvPr/>
        </p:nvSpPr>
        <p:spPr>
          <a:xfrm>
            <a:off x="7488939" y="1663968"/>
            <a:ext cx="253800" cy="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2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440"/>
          </a:p>
        </p:txBody>
      </p:sp>
      <p:sp>
        <p:nvSpPr>
          <p:cNvPr id="705" name="Google Shape;705;p68"/>
          <p:cNvSpPr txBox="1"/>
          <p:nvPr/>
        </p:nvSpPr>
        <p:spPr>
          <a:xfrm>
            <a:off x="7479534" y="1983734"/>
            <a:ext cx="12225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31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MCU 제어</a:t>
            </a:r>
            <a:endParaRPr sz="1131"/>
          </a:p>
        </p:txBody>
      </p:sp>
      <p:sp>
        <p:nvSpPr>
          <p:cNvPr id="706" name="Google Shape;706;p68"/>
          <p:cNvSpPr txBox="1"/>
          <p:nvPr/>
        </p:nvSpPr>
        <p:spPr>
          <a:xfrm>
            <a:off x="7479525" y="2223750"/>
            <a:ext cx="11775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REJECT_MOVE(스텝모터) →</a:t>
            </a:r>
            <a:endParaRPr sz="1029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29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REJECT(서보 Push) → RUN</a:t>
            </a:r>
            <a:endParaRPr sz="1029"/>
          </a:p>
        </p:txBody>
      </p:sp>
      <p:sp>
        <p:nvSpPr>
          <p:cNvPr id="707" name="Google Shape;707;p68"/>
          <p:cNvSpPr/>
          <p:nvPr/>
        </p:nvSpPr>
        <p:spPr>
          <a:xfrm>
            <a:off x="490728" y="3355848"/>
            <a:ext cx="3909000" cy="86880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673608" y="3474720"/>
            <a:ext cx="3543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 컨베이어 상태머신</a:t>
            </a:r>
            <a:endParaRPr sz="1100"/>
          </a:p>
        </p:txBody>
      </p:sp>
      <p:sp>
        <p:nvSpPr>
          <p:cNvPr id="709" name="Google Shape;709;p68"/>
          <p:cNvSpPr txBox="1"/>
          <p:nvPr/>
        </p:nvSpPr>
        <p:spPr>
          <a:xfrm>
            <a:off x="673608" y="3739896"/>
            <a:ext cx="3543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WAIT_ENTRY → SETTLING → VOTING → WAIT_EXIT</a:t>
            </a:r>
            <a:endParaRPr sz="10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1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(WAIT_EXIT: PCB가 0.5초 이상 화면을 벗어나야 재판정 허용)</a:t>
            </a:r>
            <a:endParaRPr sz="1000"/>
          </a:p>
        </p:txBody>
      </p:sp>
      <p:sp>
        <p:nvSpPr>
          <p:cNvPr id="710" name="Google Shape;710;p68"/>
          <p:cNvSpPr/>
          <p:nvPr/>
        </p:nvSpPr>
        <p:spPr>
          <a:xfrm>
            <a:off x="4582668" y="3355848"/>
            <a:ext cx="3909000" cy="86880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4765548" y="3474720"/>
            <a:ext cx="3543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 제어 상태머신</a:t>
            </a:r>
            <a:endParaRPr sz="1100"/>
          </a:p>
        </p:txBody>
      </p:sp>
      <p:sp>
        <p:nvSpPr>
          <p:cNvPr id="712" name="Google Shape;712;p68"/>
          <p:cNvSpPr txBox="1"/>
          <p:nvPr/>
        </p:nvSpPr>
        <p:spPr>
          <a:xfrm>
            <a:off x="4765550" y="3739900"/>
            <a:ext cx="37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 → INSPECT → REJECT_MOVE → REJECT → RUN</a:t>
            </a:r>
            <a:endParaRPr sz="10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1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(REJECT_MOVE 중엔 새 판정 무시, EVT_MOTOR_DONE만 대기)</a:t>
            </a:r>
            <a:endParaRPr sz="1000"/>
          </a:p>
        </p:txBody>
      </p:sp>
      <p:sp>
        <p:nvSpPr>
          <p:cNvPr id="713" name="Google Shape;713;p68"/>
          <p:cNvSpPr/>
          <p:nvPr/>
        </p:nvSpPr>
        <p:spPr>
          <a:xfrm>
            <a:off x="490728" y="4370832"/>
            <a:ext cx="8001000" cy="4299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68"/>
          <p:cNvSpPr txBox="1"/>
          <p:nvPr/>
        </p:nvSpPr>
        <p:spPr>
          <a:xfrm>
            <a:off x="691871" y="4497982"/>
            <a:ext cx="7598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→ 초록 LED·컨베이어 재가동   /   FAIL → 빨강 LED·스텝모터 1300스텝 이동 후 서보로 배출</a:t>
            </a:r>
            <a:endParaRPr sz="1100"/>
          </a:p>
        </p:txBody>
      </p:sp>
      <p:sp>
        <p:nvSpPr>
          <p:cNvPr id="715" name="Google Shape;715;p68"/>
          <p:cNvSpPr txBox="1"/>
          <p:nvPr/>
        </p:nvSpPr>
        <p:spPr>
          <a:xfrm>
            <a:off x="5715000" y="-1779100"/>
            <a:ext cx="57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9"/>
          <p:cNvSpPr txBox="1"/>
          <p:nvPr/>
        </p:nvSpPr>
        <p:spPr>
          <a:xfrm>
            <a:off x="566928" y="314553"/>
            <a:ext cx="8001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및 구현</a:t>
            </a:r>
            <a:endParaRPr/>
          </a:p>
        </p:txBody>
      </p:sp>
      <p:sp>
        <p:nvSpPr>
          <p:cNvPr id="721" name="Google Shape;721;p69"/>
          <p:cNvSpPr txBox="1"/>
          <p:nvPr/>
        </p:nvSpPr>
        <p:spPr>
          <a:xfrm>
            <a:off x="566928" y="571500"/>
            <a:ext cx="800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— 판정 로직 코드로 보기</a:t>
            </a:r>
            <a:endParaRPr/>
          </a:p>
        </p:txBody>
      </p:sp>
      <p:sp>
        <p:nvSpPr>
          <p:cNvPr id="722" name="Google Shape;722;p69"/>
          <p:cNvSpPr txBox="1"/>
          <p:nvPr/>
        </p:nvSpPr>
        <p:spPr>
          <a:xfrm>
            <a:off x="566928" y="1057046"/>
            <a:ext cx="800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60프레임 다수결 판정과 컨베이어 상태 전이의 핵심 로직</a:t>
            </a:r>
            <a:endParaRPr/>
          </a:p>
        </p:txBody>
      </p:sp>
      <p:sp>
        <p:nvSpPr>
          <p:cNvPr id="723" name="Google Shape;723;p69"/>
          <p:cNvSpPr/>
          <p:nvPr/>
        </p:nvSpPr>
        <p:spPr>
          <a:xfrm>
            <a:off x="566928" y="1543507"/>
            <a:ext cx="4892100" cy="3035700"/>
          </a:xfrm>
          <a:prstGeom prst="roundRect">
            <a:avLst>
              <a:gd name="adj" fmla="val 5000"/>
            </a:avLst>
          </a:prstGeom>
          <a:solidFill>
            <a:srgbClr val="111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69"/>
          <p:cNvSpPr txBox="1"/>
          <p:nvPr/>
        </p:nvSpPr>
        <p:spPr>
          <a:xfrm>
            <a:off x="822960" y="1726387"/>
            <a:ext cx="4434900" cy="2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 state_vote(history):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counts = Counter(history)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result, votes = counts.most_common(1)[0]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if votes &gt;= VOTE_THRESHOLD: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8FC9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return result   # PASS 또는 FAIL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return "INSPECTING"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 check_loop(...):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if state == WAIT_ENTRY and pcb_in_range():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8FC9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send_gpio_pulse(PIN_STOP)  # 29번 핀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state = SETTLING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elif state == VOTING: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result = state_vote(history)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if result != "INSPECTING":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8FC9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send_gpio_pulse(PIN_PASS/FAIL)</a:t>
            </a:r>
            <a:endParaRPr/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state = WAIT_EXIT</a:t>
            </a:r>
            <a:endParaRPr/>
          </a:p>
        </p:txBody>
      </p:sp>
      <p:sp>
        <p:nvSpPr>
          <p:cNvPr id="725" name="Google Shape;725;p69"/>
          <p:cNvSpPr/>
          <p:nvPr/>
        </p:nvSpPr>
        <p:spPr>
          <a:xfrm>
            <a:off x="5733288" y="1543507"/>
            <a:ext cx="36600" cy="2013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69"/>
          <p:cNvSpPr txBox="1"/>
          <p:nvPr/>
        </p:nvSpPr>
        <p:spPr>
          <a:xfrm>
            <a:off x="5897880" y="1543507"/>
            <a:ext cx="267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다수결 확정</a:t>
            </a:r>
            <a:endParaRPr/>
          </a:p>
        </p:txBody>
      </p:sp>
      <p:sp>
        <p:nvSpPr>
          <p:cNvPr id="727" name="Google Shape;727;p69"/>
          <p:cNvSpPr txBox="1"/>
          <p:nvPr/>
        </p:nvSpPr>
        <p:spPr>
          <a:xfrm>
            <a:off x="5897880" y="1790395"/>
            <a:ext cx="2670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60프레임을 모아 가장 많이 나온 값을 채택,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미달이면 INSPECTING 유지</a:t>
            </a:r>
            <a:endParaRPr/>
          </a:p>
        </p:txBody>
      </p:sp>
      <p:sp>
        <p:nvSpPr>
          <p:cNvPr id="728" name="Google Shape;728;p69"/>
          <p:cNvSpPr/>
          <p:nvPr/>
        </p:nvSpPr>
        <p:spPr>
          <a:xfrm>
            <a:off x="5733288" y="2265883"/>
            <a:ext cx="36600" cy="2013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69"/>
          <p:cNvSpPr txBox="1"/>
          <p:nvPr/>
        </p:nvSpPr>
        <p:spPr>
          <a:xfrm>
            <a:off x="5897880" y="2265883"/>
            <a:ext cx="267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 상태 전이</a:t>
            </a:r>
            <a:endParaRPr/>
          </a:p>
        </p:txBody>
      </p:sp>
      <p:sp>
        <p:nvSpPr>
          <p:cNvPr id="730" name="Google Shape;730;p69"/>
          <p:cNvSpPr txBox="1"/>
          <p:nvPr/>
        </p:nvSpPr>
        <p:spPr>
          <a:xfrm>
            <a:off x="5897880" y="2512771"/>
            <a:ext cx="2670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WAIT_ENTRY→SETTLING→VOTING→WAIT_EXIT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순서로만 이동해 오판정 방지</a:t>
            </a:r>
            <a:endParaRPr/>
          </a:p>
        </p:txBody>
      </p:sp>
      <p:sp>
        <p:nvSpPr>
          <p:cNvPr id="731" name="Google Shape;731;p69"/>
          <p:cNvSpPr/>
          <p:nvPr/>
        </p:nvSpPr>
        <p:spPr>
          <a:xfrm>
            <a:off x="5733288" y="3161995"/>
            <a:ext cx="36600" cy="2013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69"/>
          <p:cNvSpPr txBox="1"/>
          <p:nvPr/>
        </p:nvSpPr>
        <p:spPr>
          <a:xfrm>
            <a:off x="5897880" y="3161995"/>
            <a:ext cx="267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GPIO 펄스 전송</a:t>
            </a:r>
            <a:endParaRPr/>
          </a:p>
        </p:txBody>
      </p:sp>
      <p:sp>
        <p:nvSpPr>
          <p:cNvPr id="733" name="Google Shape;733;p69"/>
          <p:cNvSpPr txBox="1"/>
          <p:nvPr/>
        </p:nvSpPr>
        <p:spPr>
          <a:xfrm>
            <a:off x="5897880" y="3408883"/>
            <a:ext cx="2670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즉시 지정 핀으로 신호를 보내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STM32가 곧바로 반응</a:t>
            </a:r>
            <a:endParaRPr/>
          </a:p>
        </p:txBody>
      </p:sp>
      <p:sp>
        <p:nvSpPr>
          <p:cNvPr id="734" name="Google Shape;734;p69"/>
          <p:cNvSpPr/>
          <p:nvPr/>
        </p:nvSpPr>
        <p:spPr>
          <a:xfrm>
            <a:off x="5733288" y="3884371"/>
            <a:ext cx="36600" cy="2013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69"/>
          <p:cNvSpPr txBox="1"/>
          <p:nvPr/>
        </p:nvSpPr>
        <p:spPr>
          <a:xfrm>
            <a:off x="5897880" y="3884371"/>
            <a:ext cx="267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고정</a:t>
            </a:r>
            <a:endParaRPr/>
          </a:p>
        </p:txBody>
      </p:sp>
      <p:sp>
        <p:nvSpPr>
          <p:cNvPr id="736" name="Google Shape;736;p69"/>
          <p:cNvSpPr txBox="1"/>
          <p:nvPr/>
        </p:nvSpPr>
        <p:spPr>
          <a:xfrm>
            <a:off x="5897880" y="4131259"/>
            <a:ext cx="2670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PCB가 화면에서 완전히 사라져야 다음 판정을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시작해 중복 판정 차단</a:t>
            </a:r>
            <a:endParaRPr/>
          </a:p>
        </p:txBody>
      </p:sp>
      <p:sp>
        <p:nvSpPr>
          <p:cNvPr id="737" name="Google Shape;737;p69"/>
          <p:cNvSpPr txBox="1"/>
          <p:nvPr/>
        </p:nvSpPr>
        <p:spPr>
          <a:xfrm>
            <a:off x="566928" y="4657953"/>
            <a:ext cx="8001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 i="1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실제 소스코드의 핵심 로직을 알아보기 쉽게 축약한 예시 (변수·예외 처리 일부 생략)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0"/>
          <p:cNvSpPr/>
          <p:nvPr/>
        </p:nvSpPr>
        <p:spPr>
          <a:xfrm>
            <a:off x="571500" y="1357313"/>
            <a:ext cx="457200" cy="57150"/>
          </a:xfrm>
          <a:prstGeom prst="rect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70"/>
          <p:cNvSpPr txBox="1"/>
          <p:nvPr/>
        </p:nvSpPr>
        <p:spPr>
          <a:xfrm>
            <a:off x="571500" y="1500188"/>
            <a:ext cx="4114800" cy="107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E36"/>
              </a:buClr>
              <a:buSzPts val="7900"/>
              <a:buFont typeface="Malgun Gothic"/>
              <a:buNone/>
            </a:pPr>
            <a:r>
              <a:rPr lang="ko" sz="79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7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70"/>
          <p:cNvSpPr txBox="1"/>
          <p:nvPr/>
        </p:nvSpPr>
        <p:spPr>
          <a:xfrm>
            <a:off x="571500" y="2928938"/>
            <a:ext cx="720090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algun Gothic"/>
              <a:buNone/>
            </a:pPr>
            <a:r>
              <a:rPr lang="ko"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70"/>
          <p:cNvSpPr txBox="1"/>
          <p:nvPr/>
        </p:nvSpPr>
        <p:spPr>
          <a:xfrm>
            <a:off x="571500" y="3614738"/>
            <a:ext cx="65151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BCC4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B7BCC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시스템 Flow, 구현 시험, 그리고 트러블슈팅과 해결까지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1"/>
          <p:cNvSpPr txBox="1"/>
          <p:nvPr/>
        </p:nvSpPr>
        <p:spPr>
          <a:xfrm>
            <a:off x="566928" y="314553"/>
            <a:ext cx="8001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/>
          </a:p>
        </p:txBody>
      </p:sp>
      <p:sp>
        <p:nvSpPr>
          <p:cNvPr id="752" name="Google Shape;752;p71"/>
          <p:cNvSpPr txBox="1"/>
          <p:nvPr/>
        </p:nvSpPr>
        <p:spPr>
          <a:xfrm>
            <a:off x="566928" y="571500"/>
            <a:ext cx="800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목표 대비 결과</a:t>
            </a:r>
            <a:endParaRPr/>
          </a:p>
        </p:txBody>
      </p:sp>
      <p:sp>
        <p:nvSpPr>
          <p:cNvPr id="753" name="Google Shape;753;p71"/>
          <p:cNvSpPr txBox="1"/>
          <p:nvPr/>
        </p:nvSpPr>
        <p:spPr>
          <a:xfrm>
            <a:off x="566928" y="1057046"/>
            <a:ext cx="800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기획한 목표와 실제 구현 결과 비교</a:t>
            </a:r>
            <a:endParaRPr/>
          </a:p>
        </p:txBody>
      </p:sp>
      <p:sp>
        <p:nvSpPr>
          <p:cNvPr id="754" name="Google Shape;754;p71"/>
          <p:cNvSpPr/>
          <p:nvPr/>
        </p:nvSpPr>
        <p:spPr>
          <a:xfrm>
            <a:off x="566928" y="1543507"/>
            <a:ext cx="3913500" cy="3246000"/>
          </a:xfrm>
          <a:prstGeom prst="roundRect">
            <a:avLst>
              <a:gd name="adj" fmla="val 6000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71"/>
          <p:cNvSpPr txBox="1"/>
          <p:nvPr/>
        </p:nvSpPr>
        <p:spPr>
          <a:xfrm>
            <a:off x="768096" y="1726387"/>
            <a:ext cx="3511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CBD8E8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1</a:t>
            </a:r>
            <a:endParaRPr/>
          </a:p>
        </p:txBody>
      </p:sp>
      <p:sp>
        <p:nvSpPr>
          <p:cNvPr id="756" name="Google Shape;756;p71"/>
          <p:cNvSpPr txBox="1"/>
          <p:nvPr/>
        </p:nvSpPr>
        <p:spPr>
          <a:xfrm>
            <a:off x="768096" y="1927555"/>
            <a:ext cx="351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Vision AI 기반 불량 판별 시스템</a:t>
            </a:r>
            <a:endParaRPr/>
          </a:p>
        </p:txBody>
      </p:sp>
      <p:sp>
        <p:nvSpPr>
          <p:cNvPr id="757" name="Google Shape;757;p71"/>
          <p:cNvSpPr txBox="1"/>
          <p:nvPr/>
        </p:nvSpPr>
        <p:spPr>
          <a:xfrm>
            <a:off x="768096" y="2275027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 PCB 이미지에서 불량 여부·위치·원인 판별</a:t>
            </a:r>
            <a:endParaRPr/>
          </a:p>
        </p:txBody>
      </p:sp>
      <p:cxnSp>
        <p:nvCxnSpPr>
          <p:cNvPr id="758" name="Google Shape;758;p71"/>
          <p:cNvCxnSpPr/>
          <p:nvPr/>
        </p:nvCxnSpPr>
        <p:spPr>
          <a:xfrm>
            <a:off x="768096" y="2841955"/>
            <a:ext cx="3511200" cy="0"/>
          </a:xfrm>
          <a:prstGeom prst="straightConnector1">
            <a:avLst/>
          </a:prstGeom>
          <a:noFill/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759" name="Google Shape;759;p71"/>
          <p:cNvSpPr txBox="1"/>
          <p:nvPr/>
        </p:nvSpPr>
        <p:spPr>
          <a:xfrm>
            <a:off x="768096" y="2960827"/>
            <a:ext cx="351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A9BED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</p:txBody>
      </p:sp>
      <p:sp>
        <p:nvSpPr>
          <p:cNvPr id="760" name="Google Shape;760;p71"/>
          <p:cNvSpPr txBox="1"/>
          <p:nvPr/>
        </p:nvSpPr>
        <p:spPr>
          <a:xfrm>
            <a:off x="768096" y="3189427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PatchCore로 벨트 모델 AUROC 1.0 · F1 1.0 달성</a:t>
            </a:r>
            <a:endParaRPr/>
          </a:p>
        </p:txBody>
      </p:sp>
      <p:sp>
        <p:nvSpPr>
          <p:cNvPr id="761" name="Google Shape;761;p71"/>
          <p:cNvSpPr txBox="1"/>
          <p:nvPr/>
        </p:nvSpPr>
        <p:spPr>
          <a:xfrm>
            <a:off x="768096" y="3482035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위치 좌표 매핑 + 12종 유형 분류 구현</a:t>
            </a:r>
            <a:endParaRPr/>
          </a:p>
        </p:txBody>
      </p:sp>
      <p:sp>
        <p:nvSpPr>
          <p:cNvPr id="762" name="Google Shape;762;p71"/>
          <p:cNvSpPr txBox="1"/>
          <p:nvPr/>
        </p:nvSpPr>
        <p:spPr>
          <a:xfrm>
            <a:off x="768096" y="3774643"/>
            <a:ext cx="351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E8B4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△</a:t>
            </a: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HC-SR04  1</a:t>
            </a:r>
            <a:r>
              <a:rPr lang="ko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PCB에서 검증 -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US-015 등 다양한    </a:t>
            </a:r>
            <a:endParaRPr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PCB에서 검증</a:t>
            </a:r>
            <a:r>
              <a:rPr lang="ko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미구현</a:t>
            </a:r>
            <a:endParaRPr/>
          </a:p>
        </p:txBody>
      </p:sp>
      <p:sp>
        <p:nvSpPr>
          <p:cNvPr id="763" name="Google Shape;763;p71"/>
          <p:cNvSpPr/>
          <p:nvPr/>
        </p:nvSpPr>
        <p:spPr>
          <a:xfrm>
            <a:off x="4654296" y="1543507"/>
            <a:ext cx="3913500" cy="3246000"/>
          </a:xfrm>
          <a:prstGeom prst="roundRect">
            <a:avLst>
              <a:gd name="adj" fmla="val 6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71"/>
          <p:cNvSpPr txBox="1"/>
          <p:nvPr/>
        </p:nvSpPr>
        <p:spPr>
          <a:xfrm>
            <a:off x="4855464" y="1726387"/>
            <a:ext cx="3511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D3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2</a:t>
            </a:r>
            <a:endParaRPr/>
          </a:p>
        </p:txBody>
      </p:sp>
      <p:sp>
        <p:nvSpPr>
          <p:cNvPr id="765" name="Google Shape;765;p71"/>
          <p:cNvSpPr txBox="1"/>
          <p:nvPr/>
        </p:nvSpPr>
        <p:spPr>
          <a:xfrm>
            <a:off x="4855464" y="1927555"/>
            <a:ext cx="351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AI–MCU 연동 자동 제어 시스템</a:t>
            </a:r>
            <a:endParaRPr/>
          </a:p>
        </p:txBody>
      </p:sp>
      <p:sp>
        <p:nvSpPr>
          <p:cNvPr id="766" name="Google Shape;766;p71"/>
          <p:cNvSpPr txBox="1"/>
          <p:nvPr/>
        </p:nvSpPr>
        <p:spPr>
          <a:xfrm>
            <a:off x="4855464" y="2275027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E1EFEC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 이상탐지 결과와 컨베이어 연동, 자동 선별</a:t>
            </a:r>
            <a:endParaRPr/>
          </a:p>
        </p:txBody>
      </p:sp>
      <p:cxnSp>
        <p:nvCxnSpPr>
          <p:cNvPr id="767" name="Google Shape;767;p71"/>
          <p:cNvCxnSpPr/>
          <p:nvPr/>
        </p:nvCxnSpPr>
        <p:spPr>
          <a:xfrm>
            <a:off x="4855464" y="2841955"/>
            <a:ext cx="3511200" cy="0"/>
          </a:xfrm>
          <a:prstGeom prst="straightConnector1">
            <a:avLst/>
          </a:prstGeom>
          <a:noFill/>
          <a:ln w="9525" cap="flat" cmpd="sng">
            <a:solidFill>
              <a:srgbClr val="D3E9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768" name="Google Shape;768;p71"/>
          <p:cNvSpPr txBox="1"/>
          <p:nvPr/>
        </p:nvSpPr>
        <p:spPr>
          <a:xfrm>
            <a:off x="4855464" y="2960827"/>
            <a:ext cx="351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 i="0" u="none" strike="noStrike" cap="none">
                <a:solidFill>
                  <a:srgbClr val="BEE0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</p:txBody>
      </p:sp>
      <p:sp>
        <p:nvSpPr>
          <p:cNvPr id="769" name="Google Shape;769;p71"/>
          <p:cNvSpPr txBox="1"/>
          <p:nvPr/>
        </p:nvSpPr>
        <p:spPr>
          <a:xfrm>
            <a:off x="4855464" y="3189427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GPIO 펄스로 Jetson–STM32 실시간 연동</a:t>
            </a:r>
            <a:endParaRPr/>
          </a:p>
        </p:txBody>
      </p:sp>
      <p:sp>
        <p:nvSpPr>
          <p:cNvPr id="770" name="Google Shape;770;p71"/>
          <p:cNvSpPr txBox="1"/>
          <p:nvPr/>
        </p:nvSpPr>
        <p:spPr>
          <a:xfrm>
            <a:off x="4855464" y="3482035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ROI 상태머신으로 진입·판정·배출 자동화</a:t>
            </a:r>
            <a:endParaRPr/>
          </a:p>
        </p:txBody>
      </p:sp>
      <p:sp>
        <p:nvSpPr>
          <p:cNvPr id="771" name="Google Shape;771;p71"/>
          <p:cNvSpPr txBox="1"/>
          <p:nvPr/>
        </p:nvSpPr>
        <p:spPr>
          <a:xfrm>
            <a:off x="4855464" y="3774643"/>
            <a:ext cx="3511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lang="ko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PASS/FAIL별 LED·모터 자동 제어까지 완성</a:t>
            </a:r>
            <a:endParaRPr/>
          </a:p>
        </p:txBody>
      </p:sp>
      <p:sp>
        <p:nvSpPr>
          <p:cNvPr id="772" name="Google Shape;772;p71"/>
          <p:cNvSpPr txBox="1"/>
          <p:nvPr/>
        </p:nvSpPr>
        <p:spPr>
          <a:xfrm>
            <a:off x="768100" y="4185393"/>
            <a:ext cx="351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E8B4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△  </a:t>
            </a:r>
            <a:r>
              <a:rPr lang="ko" sz="1000" b="0" i="0" u="none" strike="noStrike" cap="none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소자 단위 미세 결함(저항 등)은 미구현 — 카메라                                      </a:t>
            </a:r>
            <a:endParaRPr sz="1000">
              <a:solidFill>
                <a:srgbClr val="E3EAF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해</a:t>
            </a:r>
            <a:r>
              <a:rPr lang="ko" sz="1000" b="0" i="0" u="none" strike="noStrike" cap="none">
                <a:solidFill>
                  <a:srgbClr val="E3EAF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상도·Jetson 메모리 한계로 보류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2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72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시스템 Flow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72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벨트 투입부터 자동 선별, 기록까지 사람 개입 없이 동작하는 전 과정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1" name="Google Shape;781;p72"/>
          <p:cNvCxnSpPr/>
          <p:nvPr/>
        </p:nvCxnSpPr>
        <p:spPr>
          <a:xfrm>
            <a:off x="1302997" y="1843088"/>
            <a:ext cx="6537900" cy="0"/>
          </a:xfrm>
          <a:prstGeom prst="straightConnector1">
            <a:avLst/>
          </a:prstGeom>
          <a:noFill/>
          <a:ln w="254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2" name="Google Shape;782;p72"/>
          <p:cNvSpPr/>
          <p:nvPr/>
        </p:nvSpPr>
        <p:spPr>
          <a:xfrm>
            <a:off x="1160123" y="1685925"/>
            <a:ext cx="285900" cy="2859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72"/>
          <p:cNvSpPr txBox="1"/>
          <p:nvPr/>
        </p:nvSpPr>
        <p:spPr>
          <a:xfrm>
            <a:off x="1160123" y="168592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72"/>
          <p:cNvSpPr/>
          <p:nvPr/>
        </p:nvSpPr>
        <p:spPr>
          <a:xfrm>
            <a:off x="571500" y="2128838"/>
            <a:ext cx="1462994" cy="1500188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72"/>
          <p:cNvSpPr txBox="1"/>
          <p:nvPr/>
        </p:nvSpPr>
        <p:spPr>
          <a:xfrm>
            <a:off x="671513" y="2286000"/>
            <a:ext cx="126296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투입 · 이송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72"/>
          <p:cNvSpPr txBox="1"/>
          <p:nvPr/>
        </p:nvSpPr>
        <p:spPr>
          <a:xfrm>
            <a:off x="671513" y="2757488"/>
            <a:ext cx="126296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벨트로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이동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72"/>
          <p:cNvSpPr/>
          <p:nvPr/>
        </p:nvSpPr>
        <p:spPr>
          <a:xfrm>
            <a:off x="2794567" y="1685925"/>
            <a:ext cx="285900" cy="2859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72"/>
          <p:cNvSpPr txBox="1"/>
          <p:nvPr/>
        </p:nvSpPr>
        <p:spPr>
          <a:xfrm>
            <a:off x="2794567" y="168592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72"/>
          <p:cNvSpPr/>
          <p:nvPr/>
        </p:nvSpPr>
        <p:spPr>
          <a:xfrm>
            <a:off x="2205944" y="2128838"/>
            <a:ext cx="1462994" cy="1500188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72"/>
          <p:cNvSpPr txBox="1"/>
          <p:nvPr/>
        </p:nvSpPr>
        <p:spPr>
          <a:xfrm>
            <a:off x="2305957" y="2286000"/>
            <a:ext cx="126296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인식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ROI 안정화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72"/>
          <p:cNvSpPr txBox="1"/>
          <p:nvPr/>
        </p:nvSpPr>
        <p:spPr>
          <a:xfrm>
            <a:off x="2305957" y="2757488"/>
            <a:ext cx="126296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지정 영역 진입 후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연속 프레임 안정화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72"/>
          <p:cNvSpPr/>
          <p:nvPr/>
        </p:nvSpPr>
        <p:spPr>
          <a:xfrm>
            <a:off x="4429011" y="1685925"/>
            <a:ext cx="285900" cy="2859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72"/>
          <p:cNvSpPr txBox="1"/>
          <p:nvPr/>
        </p:nvSpPr>
        <p:spPr>
          <a:xfrm>
            <a:off x="4429011" y="168592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72"/>
          <p:cNvSpPr/>
          <p:nvPr/>
        </p:nvSpPr>
        <p:spPr>
          <a:xfrm>
            <a:off x="3840389" y="2128838"/>
            <a:ext cx="1462994" cy="1500188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72"/>
          <p:cNvSpPr txBox="1"/>
          <p:nvPr/>
        </p:nvSpPr>
        <p:spPr>
          <a:xfrm>
            <a:off x="3940401" y="2286000"/>
            <a:ext cx="126296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이상탐지 판정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72"/>
          <p:cNvSpPr txBox="1"/>
          <p:nvPr/>
        </p:nvSpPr>
        <p:spPr>
          <a:xfrm>
            <a:off x="3940401" y="2757488"/>
            <a:ext cx="126296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/ FAIL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anomaly score 산출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72"/>
          <p:cNvSpPr/>
          <p:nvPr/>
        </p:nvSpPr>
        <p:spPr>
          <a:xfrm>
            <a:off x="6063455" y="1685925"/>
            <a:ext cx="285900" cy="2859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72"/>
          <p:cNvSpPr txBox="1"/>
          <p:nvPr/>
        </p:nvSpPr>
        <p:spPr>
          <a:xfrm>
            <a:off x="6063455" y="168592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72"/>
          <p:cNvSpPr/>
          <p:nvPr/>
        </p:nvSpPr>
        <p:spPr>
          <a:xfrm>
            <a:off x="5474833" y="2128838"/>
            <a:ext cx="1462994" cy="1500188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72"/>
          <p:cNvSpPr txBox="1"/>
          <p:nvPr/>
        </p:nvSpPr>
        <p:spPr>
          <a:xfrm>
            <a:off x="5574845" y="2286000"/>
            <a:ext cx="126296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위치 · 유형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72"/>
          <p:cNvSpPr txBox="1"/>
          <p:nvPr/>
        </p:nvSpPr>
        <p:spPr>
          <a:xfrm>
            <a:off x="5574845" y="2757488"/>
            <a:ext cx="126296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좌표 영역 매핑,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12종 유형 분류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72"/>
          <p:cNvSpPr/>
          <p:nvPr/>
        </p:nvSpPr>
        <p:spPr>
          <a:xfrm>
            <a:off x="7697900" y="1685925"/>
            <a:ext cx="285900" cy="2859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72"/>
          <p:cNvSpPr txBox="1"/>
          <p:nvPr/>
        </p:nvSpPr>
        <p:spPr>
          <a:xfrm>
            <a:off x="7697900" y="1685925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ko"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72"/>
          <p:cNvSpPr/>
          <p:nvPr/>
        </p:nvSpPr>
        <p:spPr>
          <a:xfrm>
            <a:off x="7109277" y="2128838"/>
            <a:ext cx="1462994" cy="1500188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72"/>
          <p:cNvSpPr txBox="1"/>
          <p:nvPr/>
        </p:nvSpPr>
        <p:spPr>
          <a:xfrm>
            <a:off x="7209290" y="2286000"/>
            <a:ext cx="126296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MCU 제어 + 기록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72"/>
          <p:cNvSpPr txBox="1"/>
          <p:nvPr/>
        </p:nvSpPr>
        <p:spPr>
          <a:xfrm>
            <a:off x="7209290" y="2757488"/>
            <a:ext cx="126296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LED·모터 구동,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UI/DB 기록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72"/>
          <p:cNvSpPr/>
          <p:nvPr/>
        </p:nvSpPr>
        <p:spPr>
          <a:xfrm>
            <a:off x="571500" y="3800475"/>
            <a:ext cx="8000700" cy="471600"/>
          </a:xfrm>
          <a:prstGeom prst="roundRect">
            <a:avLst>
              <a:gd name="adj" fmla="val 24242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72"/>
          <p:cNvSpPr txBox="1"/>
          <p:nvPr/>
        </p:nvSpPr>
        <p:spPr>
          <a:xfrm>
            <a:off x="771525" y="3800475"/>
            <a:ext cx="7600721" cy="47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기구물 검증을 마치고 컨베이어 벨트 실환경에서 완성한 </a:t>
            </a:r>
            <a:r>
              <a:rPr lang="ko" sz="11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과정 일체형</a:t>
            </a:r>
            <a:r>
              <a:rPr lang="ko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파이프라인 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3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73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시험 — 최종 모델 성능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3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resnet_50_2를 backbone으로 한 model_03 채택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3"/>
          <p:cNvSpPr/>
          <p:nvPr/>
        </p:nvSpPr>
        <p:spPr>
          <a:xfrm>
            <a:off x="571500" y="1543050"/>
            <a:ext cx="8000771" cy="357188"/>
          </a:xfrm>
          <a:prstGeom prst="rect">
            <a:avLst/>
          </a:prstGeom>
          <a:solidFill>
            <a:srgbClr val="F6F7F8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73"/>
          <p:cNvSpPr txBox="1"/>
          <p:nvPr/>
        </p:nvSpPr>
        <p:spPr>
          <a:xfrm>
            <a:off x="671513" y="1543050"/>
            <a:ext cx="161729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73"/>
          <p:cNvSpPr txBox="1"/>
          <p:nvPr/>
        </p:nvSpPr>
        <p:spPr>
          <a:xfrm>
            <a:off x="2431682" y="1543050"/>
            <a:ext cx="2417372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3"/>
          <p:cNvSpPr txBox="1"/>
          <p:nvPr/>
        </p:nvSpPr>
        <p:spPr>
          <a:xfrm>
            <a:off x="4991929" y="1543050"/>
            <a:ext cx="241737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지표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73"/>
          <p:cNvSpPr txBox="1"/>
          <p:nvPr/>
        </p:nvSpPr>
        <p:spPr>
          <a:xfrm>
            <a:off x="7552176" y="1543050"/>
            <a:ext cx="977233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Threshold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73"/>
          <p:cNvSpPr/>
          <p:nvPr/>
        </p:nvSpPr>
        <p:spPr>
          <a:xfrm>
            <a:off x="571500" y="1900238"/>
            <a:ext cx="8000771" cy="3571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73"/>
          <p:cNvSpPr txBox="1"/>
          <p:nvPr/>
        </p:nvSpPr>
        <p:spPr>
          <a:xfrm>
            <a:off x="671513" y="1900238"/>
            <a:ext cx="161729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model_03_front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73"/>
          <p:cNvSpPr txBox="1"/>
          <p:nvPr/>
        </p:nvSpPr>
        <p:spPr>
          <a:xfrm>
            <a:off x="2431682" y="1900238"/>
            <a:ext cx="2417372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벨트 정상 479장 / 불량 50장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73"/>
          <p:cNvSpPr txBox="1"/>
          <p:nvPr/>
        </p:nvSpPr>
        <p:spPr>
          <a:xfrm>
            <a:off x="4991929" y="1900238"/>
            <a:ext cx="241737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AUROC 1.0 / F1 1.0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73"/>
          <p:cNvSpPr txBox="1"/>
          <p:nvPr/>
        </p:nvSpPr>
        <p:spPr>
          <a:xfrm>
            <a:off x="7552176" y="1900238"/>
            <a:ext cx="977233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5577E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73"/>
          <p:cNvSpPr/>
          <p:nvPr/>
        </p:nvSpPr>
        <p:spPr>
          <a:xfrm>
            <a:off x="571500" y="2257425"/>
            <a:ext cx="8000771" cy="3571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73"/>
          <p:cNvSpPr txBox="1"/>
          <p:nvPr/>
        </p:nvSpPr>
        <p:spPr>
          <a:xfrm>
            <a:off x="671513" y="2257425"/>
            <a:ext cx="161729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model_03_back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73"/>
          <p:cNvSpPr txBox="1"/>
          <p:nvPr/>
        </p:nvSpPr>
        <p:spPr>
          <a:xfrm>
            <a:off x="2431682" y="2257425"/>
            <a:ext cx="2417372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벨트 정상 489장 / 불량 63장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73"/>
          <p:cNvSpPr txBox="1"/>
          <p:nvPr/>
        </p:nvSpPr>
        <p:spPr>
          <a:xfrm>
            <a:off x="4991929" y="2257425"/>
            <a:ext cx="241737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AUROC 0.999 / F1 1.0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73"/>
          <p:cNvSpPr txBox="1"/>
          <p:nvPr/>
        </p:nvSpPr>
        <p:spPr>
          <a:xfrm>
            <a:off x="7552176" y="2257425"/>
            <a:ext cx="977233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5577E"/>
              </a:buClr>
              <a:buSzPts val="800"/>
              <a:buFont typeface="Malgun Gothic"/>
              <a:buNone/>
            </a:pPr>
            <a:r>
              <a:rPr lang="ko" sz="80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0.4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73"/>
          <p:cNvSpPr/>
          <p:nvPr/>
        </p:nvSpPr>
        <p:spPr>
          <a:xfrm>
            <a:off x="571500" y="2786063"/>
            <a:ext cx="3914661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73"/>
          <p:cNvSpPr txBox="1"/>
          <p:nvPr/>
        </p:nvSpPr>
        <p:spPr>
          <a:xfrm>
            <a:off x="671513" y="4085163"/>
            <a:ext cx="368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7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 Distribution — model_03_front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3"/>
          <p:cNvSpPr/>
          <p:nvPr/>
        </p:nvSpPr>
        <p:spPr>
          <a:xfrm>
            <a:off x="4657611" y="2786063"/>
            <a:ext cx="3914661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73"/>
          <p:cNvSpPr txBox="1"/>
          <p:nvPr/>
        </p:nvSpPr>
        <p:spPr>
          <a:xfrm>
            <a:off x="4771911" y="4085163"/>
            <a:ext cx="368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7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 Distribution — BELT BACK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AUROC: 정상/불량 구분 성능 지표로 1에 가까울수록 우수  ·  F1: 정밀도와 재현율의 조화 평균  ·  Threshold: PASS/FAIL 판별 기준 점수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7" name="Google Shape;8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25" y="2896600"/>
            <a:ext cx="3686099" cy="1121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925" y="2939475"/>
            <a:ext cx="3329726" cy="103537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4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74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시험 — 실제 검출 결과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74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벨트 위에서 결함 위치와 유형을 실시간으로 함께 표시한 결과</a:t>
            </a:r>
            <a:endParaRPr sz="12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74"/>
          <p:cNvSpPr/>
          <p:nvPr/>
        </p:nvSpPr>
        <p:spPr>
          <a:xfrm>
            <a:off x="571500" y="1543050"/>
            <a:ext cx="2571674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8" name="Google Shape;848;p74" descr="/home/claude/work3/assets/fail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657350"/>
            <a:ext cx="2343074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4"/>
          <p:cNvSpPr txBox="1"/>
          <p:nvPr/>
        </p:nvSpPr>
        <p:spPr>
          <a:xfrm>
            <a:off x="685800" y="3419475"/>
            <a:ext cx="23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RESISTOR_AREA1 — SCRATCH / SOLDER_DEFECT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74"/>
          <p:cNvSpPr/>
          <p:nvPr/>
        </p:nvSpPr>
        <p:spPr>
          <a:xfrm>
            <a:off x="3286049" y="1543050"/>
            <a:ext cx="2571674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1" name="Google Shape;851;p74" descr="/home/claude/work3/assets/fail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0349" y="1657350"/>
            <a:ext cx="2343074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4"/>
          <p:cNvSpPr txBox="1"/>
          <p:nvPr/>
        </p:nvSpPr>
        <p:spPr>
          <a:xfrm>
            <a:off x="3400349" y="3419475"/>
            <a:ext cx="23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US-015 — 미학습 모델(불량 판정)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74"/>
          <p:cNvSpPr/>
          <p:nvPr/>
        </p:nvSpPr>
        <p:spPr>
          <a:xfrm>
            <a:off x="6000598" y="1543050"/>
            <a:ext cx="2571673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4" name="Google Shape;854;p74" descr="/home/claude/work3/assets/fail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4898" y="1657350"/>
            <a:ext cx="2343074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4"/>
          <p:cNvSpPr txBox="1"/>
          <p:nvPr/>
        </p:nvSpPr>
        <p:spPr>
          <a:xfrm>
            <a:off x="6114898" y="3419475"/>
            <a:ext cx="23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복합 결함 — IC_DAMAGED / CRYSTAL_MISSING 외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4"/>
          <p:cNvSpPr/>
          <p:nvPr/>
        </p:nvSpPr>
        <p:spPr>
          <a:xfrm>
            <a:off x="571500" y="3843338"/>
            <a:ext cx="8000771" cy="471488"/>
          </a:xfrm>
          <a:prstGeom prst="roundRect">
            <a:avLst>
              <a:gd name="adj" fmla="val 24242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74"/>
          <p:cNvSpPr txBox="1"/>
          <p:nvPr/>
        </p:nvSpPr>
        <p:spPr>
          <a:xfrm>
            <a:off x="742950" y="3843338"/>
            <a:ext cx="7657871" cy="47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결함 유형에서 안정적으로 동작하는 위치·유형 판정</a:t>
            </a:r>
            <a:endParaRPr sz="110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8" name="Google Shape;858;p74"/>
          <p:cNvSpPr txBox="1"/>
          <p:nvPr/>
        </p:nvSpPr>
        <p:spPr>
          <a:xfrm>
            <a:off x="571500" y="4657725"/>
            <a:ext cx="80007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결함 코드(예: SOLDER_DEFECT)는 결함 유형을 영문 약어로 표기한 명칭입니다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5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75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영상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75"/>
          <p:cNvSpPr txBox="1"/>
          <p:nvPr/>
        </p:nvSpPr>
        <p:spPr>
          <a:xfrm>
            <a:off x="571500" y="985122"/>
            <a:ext cx="8000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벨트 기반 실시간 PCB 검사 및 자동 선별 시연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75"/>
          <p:cNvSpPr txBox="1"/>
          <p:nvPr/>
        </p:nvSpPr>
        <p:spPr>
          <a:xfrm>
            <a:off x="2254900" y="4691925"/>
            <a:ext cx="64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75"/>
          <p:cNvSpPr txBox="1"/>
          <p:nvPr/>
        </p:nvSpPr>
        <p:spPr>
          <a:xfrm>
            <a:off x="6432425" y="4691925"/>
            <a:ext cx="64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6"/>
          <p:cNvSpPr txBox="1"/>
          <p:nvPr/>
        </p:nvSpPr>
        <p:spPr>
          <a:xfrm>
            <a:off x="571500" y="314325"/>
            <a:ext cx="80007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76"/>
          <p:cNvSpPr txBox="1"/>
          <p:nvPr/>
        </p:nvSpPr>
        <p:spPr>
          <a:xfrm>
            <a:off x="571500" y="571500"/>
            <a:ext cx="80007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/ UX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6"/>
          <p:cNvSpPr txBox="1"/>
          <p:nvPr/>
        </p:nvSpPr>
        <p:spPr>
          <a:xfrm>
            <a:off x="571500" y="985122"/>
            <a:ext cx="8000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구현된 관리시스템 UI와 선별 이후 데이터 베이스 저장 과정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7"/>
          <p:cNvSpPr txBox="1"/>
          <p:nvPr/>
        </p:nvSpPr>
        <p:spPr>
          <a:xfrm>
            <a:off x="571500" y="314325"/>
            <a:ext cx="80007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D89"/>
              </a:buClr>
              <a:buSzPts val="700"/>
              <a:buFont typeface="Malgun Gothic"/>
              <a:buNone/>
            </a:pPr>
            <a:r>
              <a:rPr lang="ko" sz="70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77"/>
          <p:cNvSpPr txBox="1"/>
          <p:nvPr/>
        </p:nvSpPr>
        <p:spPr>
          <a:xfrm>
            <a:off x="571500" y="571500"/>
            <a:ext cx="800077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트러블슈팅 및 해결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7"/>
          <p:cNvSpPr txBox="1"/>
          <p:nvPr/>
        </p:nvSpPr>
        <p:spPr>
          <a:xfrm>
            <a:off x="571500" y="1057275"/>
            <a:ext cx="8000771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r>
              <a:rPr lang="ko" sz="12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과정에서 마주친 핵심 문제들을 원인 분석을 통해 해결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/>
          <p:nvPr/>
        </p:nvSpPr>
        <p:spPr>
          <a:xfrm>
            <a:off x="571500" y="1543050"/>
            <a:ext cx="39289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77"/>
          <p:cNvSpPr txBox="1"/>
          <p:nvPr/>
        </p:nvSpPr>
        <p:spPr>
          <a:xfrm>
            <a:off x="714375" y="1648477"/>
            <a:ext cx="36432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프레임 지연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77"/>
          <p:cNvSpPr txBox="1"/>
          <p:nvPr/>
        </p:nvSpPr>
        <p:spPr>
          <a:xfrm>
            <a:off x="714375" y="1947863"/>
            <a:ext cx="3643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 </a:t>
            </a:r>
            <a:endParaRPr sz="800" b="1">
              <a:solidFill>
                <a:srgbClr val="8B909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추론이 끝날 때까지 cap.read()를 호출하지 않아 프레임이 버퍼에 계속 누적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77"/>
          <p:cNvSpPr txBox="1"/>
          <p:nvPr/>
        </p:nvSpPr>
        <p:spPr>
          <a:xfrm>
            <a:off x="714375" y="2362200"/>
            <a:ext cx="36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 </a:t>
            </a:r>
            <a:endParaRPr sz="800" b="1">
              <a:solidFill>
                <a:srgbClr val="3E7B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 스레드로 항상 최신 프레임만 유지(frame_reader)하도록 구조 변경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7"/>
          <p:cNvSpPr/>
          <p:nvPr/>
        </p:nvSpPr>
        <p:spPr>
          <a:xfrm>
            <a:off x="4643324" y="1543050"/>
            <a:ext cx="39289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77"/>
          <p:cNvSpPr txBox="1"/>
          <p:nvPr/>
        </p:nvSpPr>
        <p:spPr>
          <a:xfrm>
            <a:off x="4786199" y="1648477"/>
            <a:ext cx="36432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Jetson–M4 GPIO 노이즈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7"/>
          <p:cNvSpPr txBox="1"/>
          <p:nvPr/>
        </p:nvSpPr>
        <p:spPr>
          <a:xfrm>
            <a:off x="4786199" y="1947863"/>
            <a:ext cx="3643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 </a:t>
            </a:r>
            <a:endParaRPr sz="800" b="1">
              <a:solidFill>
                <a:srgbClr val="8B909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GPIO 신호 인가 시 인접 핀까지 함께 High로 인식되어 오작동 발생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77"/>
          <p:cNvSpPr txBox="1"/>
          <p:nvPr/>
        </p:nvSpPr>
        <p:spPr>
          <a:xfrm>
            <a:off x="4786199" y="2362200"/>
            <a:ext cx="36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 </a:t>
            </a:r>
            <a:endParaRPr sz="800" b="1">
              <a:solidFill>
                <a:srgbClr val="3E7B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모터·모터드라이버발 노이즈로 확인, 신호 구간에 10kΩ 저항을 추가하여 해결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77"/>
          <p:cNvSpPr/>
          <p:nvPr/>
        </p:nvSpPr>
        <p:spPr>
          <a:xfrm>
            <a:off x="571500" y="3128963"/>
            <a:ext cx="39289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77"/>
          <p:cNvSpPr txBox="1"/>
          <p:nvPr/>
        </p:nvSpPr>
        <p:spPr>
          <a:xfrm>
            <a:off x="714375" y="3234389"/>
            <a:ext cx="36432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부분 인식 오판정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77"/>
          <p:cNvSpPr txBox="1"/>
          <p:nvPr/>
        </p:nvSpPr>
        <p:spPr>
          <a:xfrm>
            <a:off x="714375" y="3533775"/>
            <a:ext cx="3643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 </a:t>
            </a:r>
            <a:endParaRPr sz="800" b="1">
              <a:solidFill>
                <a:srgbClr val="8B909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일부만 카메라에 들어와도 물체로 인식하여 계속 FAIL 판정이 발생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77"/>
          <p:cNvSpPr txBox="1"/>
          <p:nvPr/>
        </p:nvSpPr>
        <p:spPr>
          <a:xfrm>
            <a:off x="714375" y="3948113"/>
            <a:ext cx="36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 </a:t>
            </a:r>
            <a:endParaRPr sz="800" b="1">
              <a:solidFill>
                <a:srgbClr val="3E7B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박스 중심이 지정 구간에 도달했을 때만 판정하도록 구조 변경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77"/>
          <p:cNvSpPr/>
          <p:nvPr/>
        </p:nvSpPr>
        <p:spPr>
          <a:xfrm>
            <a:off x="4643324" y="3128963"/>
            <a:ext cx="39289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77"/>
          <p:cNvSpPr txBox="1"/>
          <p:nvPr/>
        </p:nvSpPr>
        <p:spPr>
          <a:xfrm>
            <a:off x="4786199" y="3234389"/>
            <a:ext cx="36432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800"/>
              <a:buFont typeface="Malgun Gothic"/>
              <a:buNone/>
            </a:pPr>
            <a:r>
              <a:rPr lang="ko" sz="10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위치 박스 흔들림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77"/>
          <p:cNvSpPr txBox="1"/>
          <p:nvPr/>
        </p:nvSpPr>
        <p:spPr>
          <a:xfrm>
            <a:off x="4786199" y="3533775"/>
            <a:ext cx="3643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 </a:t>
            </a:r>
            <a:endParaRPr sz="800" b="1">
              <a:solidFill>
                <a:srgbClr val="8B909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프레임 독립적으로 threshold를 적용하여 박스 위치·개수가 계속 바뀜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77"/>
          <p:cNvSpPr txBox="1"/>
          <p:nvPr/>
        </p:nvSpPr>
        <p:spPr>
          <a:xfrm>
            <a:off x="4786199" y="3948113"/>
            <a:ext cx="36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</a:t>
            </a:r>
            <a:endParaRPr sz="800" b="1">
              <a:solidFill>
                <a:srgbClr val="3E7B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7B71"/>
              </a:buClr>
              <a:buSzPts val="700"/>
              <a:buFont typeface="Malgun Gothic"/>
              <a:buNone/>
            </a:pPr>
            <a:r>
              <a:rPr lang="ko" sz="80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판정 순간의 단일 프레임을 캡처하여 결함 위치를 고정 판별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77"/>
          <p:cNvSpPr txBox="1"/>
          <p:nvPr/>
        </p:nvSpPr>
        <p:spPr>
          <a:xfrm>
            <a:off x="571500" y="4657725"/>
            <a:ext cx="800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909A"/>
              </a:buClr>
              <a:buSzPts val="500"/>
              <a:buFont typeface="Malgun Gothic"/>
              <a:buNone/>
            </a:pPr>
            <a:r>
              <a:rPr lang="ko" sz="800" i="1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frame_reader: 카메라 프레임을 별도로 읽어오는 스레드  ·  Threshold: PASS/FAIL 판정 기준 점수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8"/>
          <p:cNvSpPr txBox="1"/>
          <p:nvPr/>
        </p:nvSpPr>
        <p:spPr>
          <a:xfrm>
            <a:off x="566928" y="314553"/>
            <a:ext cx="8001000" cy="1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결과 및 검증</a:t>
            </a:r>
            <a:endParaRPr/>
          </a:p>
        </p:txBody>
      </p:sp>
      <p:sp>
        <p:nvSpPr>
          <p:cNvPr id="907" name="Google Shape;907;p78"/>
          <p:cNvSpPr txBox="1"/>
          <p:nvPr/>
        </p:nvSpPr>
        <p:spPr>
          <a:xfrm>
            <a:off x="566928" y="571500"/>
            <a:ext cx="8001000" cy="414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분석 및 기대 효과</a:t>
            </a:r>
            <a:endParaRPr/>
          </a:p>
        </p:txBody>
      </p:sp>
      <p:sp>
        <p:nvSpPr>
          <p:cNvPr id="908" name="Google Shape;908;p78"/>
          <p:cNvSpPr txBox="1"/>
          <p:nvPr/>
        </p:nvSpPr>
        <p:spPr>
          <a:xfrm>
            <a:off x="566928" y="1057046"/>
            <a:ext cx="8001000" cy="32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지표 기반 목표 달성 여부 확인과 기대 효과</a:t>
            </a:r>
            <a:endParaRPr/>
          </a:p>
        </p:txBody>
      </p:sp>
      <p:sp>
        <p:nvSpPr>
          <p:cNvPr id="909" name="Google Shape;909;p78"/>
          <p:cNvSpPr/>
          <p:nvPr/>
        </p:nvSpPr>
        <p:spPr>
          <a:xfrm>
            <a:off x="566925" y="1442391"/>
            <a:ext cx="2551200" cy="1275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78"/>
          <p:cNvSpPr/>
          <p:nvPr/>
        </p:nvSpPr>
        <p:spPr>
          <a:xfrm>
            <a:off x="749808" y="1526437"/>
            <a:ext cx="868800" cy="21960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78"/>
          <p:cNvSpPr txBox="1"/>
          <p:nvPr/>
        </p:nvSpPr>
        <p:spPr>
          <a:xfrm>
            <a:off x="749808" y="1574869"/>
            <a:ext cx="868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i="0" u="none" strike="noStrike" cap="none">
                <a:solidFill>
                  <a:srgbClr val="1E8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달성</a:t>
            </a:r>
            <a:endParaRPr/>
          </a:p>
        </p:txBody>
      </p:sp>
      <p:sp>
        <p:nvSpPr>
          <p:cNvPr id="912" name="Google Shape;912;p78"/>
          <p:cNvSpPr txBox="1"/>
          <p:nvPr/>
        </p:nvSpPr>
        <p:spPr>
          <a:xfrm>
            <a:off x="749808" y="1864765"/>
            <a:ext cx="218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AUROC 1.0</a:t>
            </a:r>
            <a:endParaRPr>
              <a:solidFill>
                <a:srgbClr val="0A0A0A"/>
              </a:solidFill>
            </a:endParaRPr>
          </a:p>
        </p:txBody>
      </p:sp>
      <p:sp>
        <p:nvSpPr>
          <p:cNvPr id="913" name="Google Shape;913;p78"/>
          <p:cNvSpPr txBox="1"/>
          <p:nvPr/>
        </p:nvSpPr>
        <p:spPr>
          <a:xfrm>
            <a:off x="749808" y="2272964"/>
            <a:ext cx="2185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정상·불량 구분 성능 지표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(벨트 환경 모델 기준)</a:t>
            </a:r>
            <a:endParaRPr/>
          </a:p>
        </p:txBody>
      </p:sp>
      <p:sp>
        <p:nvSpPr>
          <p:cNvPr id="914" name="Google Shape;914;p78"/>
          <p:cNvSpPr/>
          <p:nvPr/>
        </p:nvSpPr>
        <p:spPr>
          <a:xfrm>
            <a:off x="3291839" y="1442394"/>
            <a:ext cx="2551200" cy="1275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78"/>
          <p:cNvSpPr/>
          <p:nvPr/>
        </p:nvSpPr>
        <p:spPr>
          <a:xfrm>
            <a:off x="3474720" y="1526437"/>
            <a:ext cx="868800" cy="21960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78"/>
          <p:cNvSpPr txBox="1"/>
          <p:nvPr/>
        </p:nvSpPr>
        <p:spPr>
          <a:xfrm>
            <a:off x="3474720" y="1574869"/>
            <a:ext cx="868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i="0" u="none" strike="noStrike" cap="none">
                <a:solidFill>
                  <a:srgbClr val="1E8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달성</a:t>
            </a:r>
            <a:endParaRPr/>
          </a:p>
        </p:txBody>
      </p:sp>
      <p:sp>
        <p:nvSpPr>
          <p:cNvPr id="917" name="Google Shape;917;p78"/>
          <p:cNvSpPr txBox="1"/>
          <p:nvPr/>
        </p:nvSpPr>
        <p:spPr>
          <a:xfrm>
            <a:off x="3474720" y="1864765"/>
            <a:ext cx="218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F1 1.0</a:t>
            </a:r>
            <a:endParaRPr>
              <a:solidFill>
                <a:srgbClr val="0A0A0A"/>
              </a:solidFill>
            </a:endParaRPr>
          </a:p>
        </p:txBody>
      </p:sp>
      <p:sp>
        <p:nvSpPr>
          <p:cNvPr id="918" name="Google Shape;918;p78"/>
          <p:cNvSpPr txBox="1"/>
          <p:nvPr/>
        </p:nvSpPr>
        <p:spPr>
          <a:xfrm>
            <a:off x="3474720" y="2272964"/>
            <a:ext cx="2185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정밀도·재현율의 조화 평균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오탐·미탐 최소화</a:t>
            </a:r>
            <a:endParaRPr/>
          </a:p>
        </p:txBody>
      </p:sp>
      <p:sp>
        <p:nvSpPr>
          <p:cNvPr id="919" name="Google Shape;919;p78"/>
          <p:cNvSpPr/>
          <p:nvPr/>
        </p:nvSpPr>
        <p:spPr>
          <a:xfrm>
            <a:off x="6016750" y="1442394"/>
            <a:ext cx="2551200" cy="1275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78"/>
          <p:cNvSpPr/>
          <p:nvPr/>
        </p:nvSpPr>
        <p:spPr>
          <a:xfrm>
            <a:off x="6199632" y="1526437"/>
            <a:ext cx="868800" cy="21960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8"/>
          <p:cNvSpPr txBox="1"/>
          <p:nvPr/>
        </p:nvSpPr>
        <p:spPr>
          <a:xfrm>
            <a:off x="6199632" y="1574869"/>
            <a:ext cx="868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i="0" u="none" strike="noStrike" cap="none">
                <a:solidFill>
                  <a:srgbClr val="1E8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달성</a:t>
            </a:r>
            <a:endParaRPr/>
          </a:p>
        </p:txBody>
      </p:sp>
      <p:sp>
        <p:nvSpPr>
          <p:cNvPr id="922" name="Google Shape;922;p78"/>
          <p:cNvSpPr txBox="1"/>
          <p:nvPr/>
        </p:nvSpPr>
        <p:spPr>
          <a:xfrm>
            <a:off x="6199632" y="1864765"/>
            <a:ext cx="218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12종</a:t>
            </a:r>
            <a:endParaRPr>
              <a:solidFill>
                <a:srgbClr val="0A0A0A"/>
              </a:solidFill>
            </a:endParaRPr>
          </a:p>
        </p:txBody>
      </p:sp>
      <p:sp>
        <p:nvSpPr>
          <p:cNvPr id="923" name="Google Shape;923;p78"/>
          <p:cNvSpPr txBox="1"/>
          <p:nvPr/>
        </p:nvSpPr>
        <p:spPr>
          <a:xfrm>
            <a:off x="6199632" y="2272964"/>
            <a:ext cx="2185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유형 세분화 분류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원인까지 자동 식별</a:t>
            </a:r>
            <a:endParaRPr/>
          </a:p>
        </p:txBody>
      </p:sp>
      <p:sp>
        <p:nvSpPr>
          <p:cNvPr id="924" name="Google Shape;924;p78"/>
          <p:cNvSpPr/>
          <p:nvPr/>
        </p:nvSpPr>
        <p:spPr>
          <a:xfrm>
            <a:off x="566928" y="4414322"/>
            <a:ext cx="8001000" cy="4572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78"/>
          <p:cNvSpPr txBox="1"/>
          <p:nvPr/>
        </p:nvSpPr>
        <p:spPr>
          <a:xfrm>
            <a:off x="755949" y="4475320"/>
            <a:ext cx="74523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i="0" u="none" strike="noStrike" cap="none">
                <a:solidFill>
                  <a:srgbClr val="C9B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 </a:t>
            </a:r>
            <a:r>
              <a:rPr lang="ko" sz="1000" b="1">
                <a:solidFill>
                  <a:srgbClr val="C9B8D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생산 라인 적용 시 검사 인력 절감과 24시간 무중단 검사가 가능하며, 카메라·기준 이미지 교체만으로 </a:t>
            </a:r>
            <a:endParaRPr sz="10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</a:t>
            </a:r>
            <a:r>
              <a:rPr lang="ko" sz="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ko" sz="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PCB 모델까지 손쉽게 확장 가능</a:t>
            </a:r>
            <a:endParaRPr/>
          </a:p>
        </p:txBody>
      </p:sp>
      <p:sp>
        <p:nvSpPr>
          <p:cNvPr id="926" name="Google Shape;926;p78"/>
          <p:cNvSpPr/>
          <p:nvPr/>
        </p:nvSpPr>
        <p:spPr>
          <a:xfrm>
            <a:off x="566925" y="2877486"/>
            <a:ext cx="3913500" cy="139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78"/>
          <p:cNvSpPr/>
          <p:nvPr/>
        </p:nvSpPr>
        <p:spPr>
          <a:xfrm>
            <a:off x="749808" y="2999652"/>
            <a:ext cx="868800" cy="201300"/>
          </a:xfrm>
          <a:prstGeom prst="roundRect">
            <a:avLst>
              <a:gd name="adj" fmla="val 50000"/>
            </a:avLst>
          </a:prstGeom>
          <a:solidFill>
            <a:srgbClr val="FBE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8"/>
          <p:cNvSpPr txBox="1"/>
          <p:nvPr/>
        </p:nvSpPr>
        <p:spPr>
          <a:xfrm>
            <a:off x="749808" y="3032490"/>
            <a:ext cx="868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i="0" u="none" strike="noStrike" cap="none">
                <a:solidFill>
                  <a:srgbClr val="B872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미달성</a:t>
            </a:r>
            <a:endParaRPr sz="800"/>
          </a:p>
        </p:txBody>
      </p:sp>
      <p:sp>
        <p:nvSpPr>
          <p:cNvPr id="929" name="Google Shape;929;p78"/>
          <p:cNvSpPr txBox="1"/>
          <p:nvPr/>
        </p:nvSpPr>
        <p:spPr>
          <a:xfrm>
            <a:off x="749771" y="3268787"/>
            <a:ext cx="35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 1종 검증</a:t>
            </a:r>
            <a:endParaRPr sz="2400">
              <a:solidFill>
                <a:srgbClr val="0A0A0A"/>
              </a:solidFill>
            </a:endParaRPr>
          </a:p>
        </p:txBody>
      </p:sp>
      <p:sp>
        <p:nvSpPr>
          <p:cNvPr id="930" name="Google Shape;930;p78"/>
          <p:cNvSpPr txBox="1"/>
          <p:nvPr/>
        </p:nvSpPr>
        <p:spPr>
          <a:xfrm>
            <a:off x="749800" y="3700539"/>
            <a:ext cx="3730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HC-SR04 1개 기종만 검증 — US-015 등 </a:t>
            </a:r>
            <a:endParaRPr sz="1000" b="0" i="0" u="none" strike="noStrike" cap="none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PCB 확장은 미구현</a:t>
            </a:r>
            <a:endParaRPr sz="1000"/>
          </a:p>
        </p:txBody>
      </p:sp>
      <p:sp>
        <p:nvSpPr>
          <p:cNvPr id="931" name="Google Shape;931;p78"/>
          <p:cNvSpPr/>
          <p:nvPr/>
        </p:nvSpPr>
        <p:spPr>
          <a:xfrm>
            <a:off x="4654300" y="2877375"/>
            <a:ext cx="3913500" cy="139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78"/>
          <p:cNvSpPr/>
          <p:nvPr/>
        </p:nvSpPr>
        <p:spPr>
          <a:xfrm>
            <a:off x="4837176" y="3002369"/>
            <a:ext cx="868800" cy="201300"/>
          </a:xfrm>
          <a:prstGeom prst="roundRect">
            <a:avLst>
              <a:gd name="adj" fmla="val 50000"/>
            </a:avLst>
          </a:prstGeom>
          <a:solidFill>
            <a:srgbClr val="FBE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78"/>
          <p:cNvSpPr txBox="1"/>
          <p:nvPr/>
        </p:nvSpPr>
        <p:spPr>
          <a:xfrm>
            <a:off x="4837176" y="3035206"/>
            <a:ext cx="868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i="0" u="none" strike="noStrike" cap="none">
                <a:solidFill>
                  <a:srgbClr val="B872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미달성</a:t>
            </a:r>
            <a:endParaRPr sz="800"/>
          </a:p>
        </p:txBody>
      </p:sp>
      <p:sp>
        <p:nvSpPr>
          <p:cNvPr id="934" name="Google Shape;934;p78"/>
          <p:cNvSpPr txBox="1"/>
          <p:nvPr/>
        </p:nvSpPr>
        <p:spPr>
          <a:xfrm>
            <a:off x="4837169" y="3270137"/>
            <a:ext cx="35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소자 단위 결함</a:t>
            </a:r>
            <a:endParaRPr sz="2400">
              <a:solidFill>
                <a:srgbClr val="0A0A0A"/>
              </a:solidFill>
            </a:endParaRPr>
          </a:p>
        </p:txBody>
      </p:sp>
      <p:sp>
        <p:nvSpPr>
          <p:cNvPr id="935" name="Google Shape;935;p78"/>
          <p:cNvSpPr txBox="1"/>
          <p:nvPr/>
        </p:nvSpPr>
        <p:spPr>
          <a:xfrm>
            <a:off x="4837176" y="3700537"/>
            <a:ext cx="3547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저항 등 작은 부품 결함은 미검출 — 카메라 해상도·Jetson 메모리 한계로 보류</a:t>
            </a:r>
            <a:endParaRPr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9"/>
          <p:cNvSpPr txBox="1"/>
          <p:nvPr/>
        </p:nvSpPr>
        <p:spPr>
          <a:xfrm>
            <a:off x="571500" y="314325"/>
            <a:ext cx="80007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5B66"/>
              </a:buClr>
              <a:buSzPts val="700"/>
              <a:buFont typeface="Malgun Gothic"/>
              <a:buNone/>
            </a:pPr>
            <a:r>
              <a:rPr lang="ko" sz="700" b="1" i="0" u="none" strike="noStrike" cap="none">
                <a:solidFill>
                  <a:srgbClr val="545B66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ko" sz="700" b="1">
                <a:solidFill>
                  <a:srgbClr val="545B66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ko" sz="700" b="1" i="0" u="none" strike="noStrike" cap="none">
                <a:solidFill>
                  <a:srgbClr val="545B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업무분장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79"/>
          <p:cNvSpPr txBox="1"/>
          <p:nvPr/>
        </p:nvSpPr>
        <p:spPr>
          <a:xfrm>
            <a:off x="571500" y="571500"/>
            <a:ext cx="80007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Malgun Gothic"/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업무분장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79"/>
          <p:cNvSpPr txBox="1"/>
          <p:nvPr/>
        </p:nvSpPr>
        <p:spPr>
          <a:xfrm>
            <a:off x="571500" y="1057275"/>
            <a:ext cx="8000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000"/>
              <a:buFont typeface="Malgun Gothic"/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· 제어 · UI · 기구물 역할 분배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79"/>
          <p:cNvSpPr/>
          <p:nvPr/>
        </p:nvSpPr>
        <p:spPr>
          <a:xfrm>
            <a:off x="571500" y="1543050"/>
            <a:ext cx="1893000" cy="2428800"/>
          </a:xfrm>
          <a:prstGeom prst="roundRect">
            <a:avLst>
              <a:gd name="adj" fmla="val 679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79"/>
          <p:cNvSpPr/>
          <p:nvPr/>
        </p:nvSpPr>
        <p:spPr>
          <a:xfrm>
            <a:off x="571500" y="1543050"/>
            <a:ext cx="1893000" cy="57300"/>
          </a:xfrm>
          <a:prstGeom prst="roundRect">
            <a:avLst>
              <a:gd name="adj" fmla="val 16667"/>
            </a:avLst>
          </a:prstGeom>
          <a:solidFill>
            <a:srgbClr val="BD5B3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79"/>
          <p:cNvSpPr/>
          <p:nvPr/>
        </p:nvSpPr>
        <p:spPr>
          <a:xfrm>
            <a:off x="728663" y="1743075"/>
            <a:ext cx="371400" cy="371400"/>
          </a:xfrm>
          <a:prstGeom prst="ellipse">
            <a:avLst/>
          </a:prstGeom>
          <a:solidFill>
            <a:srgbClr val="BD5B3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79"/>
          <p:cNvSpPr txBox="1"/>
          <p:nvPr/>
        </p:nvSpPr>
        <p:spPr>
          <a:xfrm>
            <a:off x="728663" y="1743075"/>
            <a:ext cx="371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9"/>
          <p:cNvSpPr txBox="1"/>
          <p:nvPr/>
        </p:nvSpPr>
        <p:spPr>
          <a:xfrm>
            <a:off x="728663" y="2200275"/>
            <a:ext cx="1578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팀장 | </a:t>
            </a: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박수민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9"/>
          <p:cNvSpPr/>
          <p:nvPr/>
        </p:nvSpPr>
        <p:spPr>
          <a:xfrm>
            <a:off x="728663" y="2443163"/>
            <a:ext cx="1578600" cy="185700"/>
          </a:xfrm>
          <a:prstGeom prst="roundRect">
            <a:avLst>
              <a:gd name="adj" fmla="val 50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79"/>
          <p:cNvSpPr txBox="1"/>
          <p:nvPr/>
        </p:nvSpPr>
        <p:spPr>
          <a:xfrm>
            <a:off x="728663" y="2443163"/>
            <a:ext cx="1578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모델링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9"/>
          <p:cNvSpPr txBox="1"/>
          <p:nvPr/>
        </p:nvSpPr>
        <p:spPr>
          <a:xfrm>
            <a:off x="728663" y="2728913"/>
            <a:ext cx="1578600" cy="1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PatchCore 모델 학습 및 backbone·해상도 비교 검증, 박스·벨트 환경 데이터셋 구축과 모델 성능 고도화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79"/>
          <p:cNvSpPr/>
          <p:nvPr/>
        </p:nvSpPr>
        <p:spPr>
          <a:xfrm>
            <a:off x="2607412" y="1543050"/>
            <a:ext cx="1893000" cy="2428800"/>
          </a:xfrm>
          <a:prstGeom prst="roundRect">
            <a:avLst>
              <a:gd name="adj" fmla="val 679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79"/>
          <p:cNvSpPr/>
          <p:nvPr/>
        </p:nvSpPr>
        <p:spPr>
          <a:xfrm>
            <a:off x="2607412" y="1543050"/>
            <a:ext cx="1893000" cy="57300"/>
          </a:xfrm>
          <a:prstGeom prst="roundRect">
            <a:avLst>
              <a:gd name="adj" fmla="val 16667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79"/>
          <p:cNvSpPr/>
          <p:nvPr/>
        </p:nvSpPr>
        <p:spPr>
          <a:xfrm>
            <a:off x="2764574" y="1743075"/>
            <a:ext cx="371400" cy="371400"/>
          </a:xfrm>
          <a:prstGeom prst="ellipse">
            <a:avLst/>
          </a:prstGeom>
          <a:solidFill>
            <a:srgbClr val="35577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79"/>
          <p:cNvSpPr txBox="1"/>
          <p:nvPr/>
        </p:nvSpPr>
        <p:spPr>
          <a:xfrm>
            <a:off x="2764574" y="1743075"/>
            <a:ext cx="371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79"/>
          <p:cNvSpPr txBox="1"/>
          <p:nvPr/>
        </p:nvSpPr>
        <p:spPr>
          <a:xfrm>
            <a:off x="2764574" y="2200275"/>
            <a:ext cx="1578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| </a:t>
            </a: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김태환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79"/>
          <p:cNvSpPr/>
          <p:nvPr/>
        </p:nvSpPr>
        <p:spPr>
          <a:xfrm>
            <a:off x="2764574" y="2443163"/>
            <a:ext cx="1578600" cy="185700"/>
          </a:xfrm>
          <a:prstGeom prst="roundRect">
            <a:avLst>
              <a:gd name="adj" fmla="val 50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79"/>
          <p:cNvSpPr txBox="1"/>
          <p:nvPr/>
        </p:nvSpPr>
        <p:spPr>
          <a:xfrm>
            <a:off x="2764574" y="2443163"/>
            <a:ext cx="1578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파이프라인 · 기구물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9"/>
          <p:cNvSpPr txBox="1"/>
          <p:nvPr/>
        </p:nvSpPr>
        <p:spPr>
          <a:xfrm>
            <a:off x="2764574" y="2728913"/>
            <a:ext cx="1578600" cy="1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AI-판정-UI 파이프라인 연동, 카메라 지연 개선, 결함 위치 좌표 영역 정의, 벨트 기구물 제작 및 배경 대응 로직 구현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79"/>
          <p:cNvSpPr/>
          <p:nvPr/>
        </p:nvSpPr>
        <p:spPr>
          <a:xfrm>
            <a:off x="4643324" y="1543050"/>
            <a:ext cx="1893000" cy="2428800"/>
          </a:xfrm>
          <a:prstGeom prst="roundRect">
            <a:avLst>
              <a:gd name="adj" fmla="val 679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79"/>
          <p:cNvSpPr/>
          <p:nvPr/>
        </p:nvSpPr>
        <p:spPr>
          <a:xfrm>
            <a:off x="4643324" y="1543050"/>
            <a:ext cx="1893000" cy="57300"/>
          </a:xfrm>
          <a:prstGeom prst="roundRect">
            <a:avLst>
              <a:gd name="adj" fmla="val 16667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79"/>
          <p:cNvSpPr/>
          <p:nvPr/>
        </p:nvSpPr>
        <p:spPr>
          <a:xfrm>
            <a:off x="4800486" y="1743075"/>
            <a:ext cx="371400" cy="371400"/>
          </a:xfrm>
          <a:prstGeom prst="ellipse">
            <a:avLst/>
          </a:prstGeom>
          <a:solidFill>
            <a:srgbClr val="3E7B7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79"/>
          <p:cNvSpPr txBox="1"/>
          <p:nvPr/>
        </p:nvSpPr>
        <p:spPr>
          <a:xfrm>
            <a:off x="4800486" y="1743075"/>
            <a:ext cx="371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곽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79"/>
          <p:cNvSpPr txBox="1"/>
          <p:nvPr/>
        </p:nvSpPr>
        <p:spPr>
          <a:xfrm>
            <a:off x="4800486" y="2200275"/>
            <a:ext cx="1578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| </a:t>
            </a: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곽혜민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79"/>
          <p:cNvSpPr/>
          <p:nvPr/>
        </p:nvSpPr>
        <p:spPr>
          <a:xfrm>
            <a:off x="4800486" y="2443163"/>
            <a:ext cx="1578600" cy="185700"/>
          </a:xfrm>
          <a:prstGeom prst="roundRect">
            <a:avLst>
              <a:gd name="adj" fmla="val 50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79"/>
          <p:cNvSpPr txBox="1"/>
          <p:nvPr/>
        </p:nvSpPr>
        <p:spPr>
          <a:xfrm>
            <a:off x="4800486" y="2443163"/>
            <a:ext cx="1578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· DB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9"/>
          <p:cNvSpPr txBox="1"/>
          <p:nvPr/>
        </p:nvSpPr>
        <p:spPr>
          <a:xfrm>
            <a:off x="4800500" y="2871750"/>
            <a:ext cx="15786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판정 UI 설계 및 SQLite DB 연동, PASS/FAIL 검사 이력 아카이브와 이미지 확인 모달 구현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9"/>
          <p:cNvSpPr/>
          <p:nvPr/>
        </p:nvSpPr>
        <p:spPr>
          <a:xfrm>
            <a:off x="6679235" y="1543050"/>
            <a:ext cx="1893000" cy="2428800"/>
          </a:xfrm>
          <a:prstGeom prst="roundRect">
            <a:avLst>
              <a:gd name="adj" fmla="val 6793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51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79"/>
          <p:cNvSpPr/>
          <p:nvPr/>
        </p:nvSpPr>
        <p:spPr>
          <a:xfrm>
            <a:off x="6679235" y="1543050"/>
            <a:ext cx="1893000" cy="57300"/>
          </a:xfrm>
          <a:prstGeom prst="roundRect">
            <a:avLst>
              <a:gd name="adj" fmla="val 16667"/>
            </a:avLst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79"/>
          <p:cNvSpPr/>
          <p:nvPr/>
        </p:nvSpPr>
        <p:spPr>
          <a:xfrm>
            <a:off x="6836397" y="1743075"/>
            <a:ext cx="371400" cy="371400"/>
          </a:xfrm>
          <a:prstGeom prst="ellipse">
            <a:avLst/>
          </a:prstGeom>
          <a:solidFill>
            <a:srgbClr val="7A5D8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9"/>
          <p:cNvSpPr txBox="1"/>
          <p:nvPr/>
        </p:nvSpPr>
        <p:spPr>
          <a:xfrm>
            <a:off x="6836397" y="1743075"/>
            <a:ext cx="371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6836397" y="2200275"/>
            <a:ext cx="1578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| </a:t>
            </a:r>
            <a:r>
              <a:rPr lang="ko" sz="1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이양배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9"/>
          <p:cNvSpPr/>
          <p:nvPr/>
        </p:nvSpPr>
        <p:spPr>
          <a:xfrm>
            <a:off x="6836397" y="2443163"/>
            <a:ext cx="1578600" cy="185700"/>
          </a:xfrm>
          <a:prstGeom prst="roundRect">
            <a:avLst>
              <a:gd name="adj" fmla="val 50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79"/>
          <p:cNvSpPr txBox="1"/>
          <p:nvPr/>
        </p:nvSpPr>
        <p:spPr>
          <a:xfrm>
            <a:off x="6836397" y="2443163"/>
            <a:ext cx="1578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9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· MCU 제어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79"/>
          <p:cNvSpPr txBox="1"/>
          <p:nvPr/>
        </p:nvSpPr>
        <p:spPr>
          <a:xfrm>
            <a:off x="6836397" y="2728913"/>
            <a:ext cx="1578600" cy="1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700"/>
              <a:buFont typeface="Malgun Gothic"/>
              <a:buNone/>
            </a:pPr>
            <a:r>
              <a:rPr lang="ko" sz="8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알고리즘 및 결함 유형 분류 구현, Jetson–M4 GPIO 연동, 이벤트 큐 기반 상태머신으로 컨베이어 벨트 자동 제어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0"/>
          <p:cNvSpPr txBox="1"/>
          <p:nvPr/>
        </p:nvSpPr>
        <p:spPr>
          <a:xfrm>
            <a:off x="566928" y="314553"/>
            <a:ext cx="8001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연구 과제</a:t>
            </a:r>
            <a:endParaRPr/>
          </a:p>
        </p:txBody>
      </p:sp>
      <p:sp>
        <p:nvSpPr>
          <p:cNvPr id="981" name="Google Shape;981;p80"/>
          <p:cNvSpPr txBox="1"/>
          <p:nvPr/>
        </p:nvSpPr>
        <p:spPr>
          <a:xfrm>
            <a:off x="566928" y="571500"/>
            <a:ext cx="800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연구 과제</a:t>
            </a:r>
            <a:endParaRPr/>
          </a:p>
        </p:txBody>
      </p:sp>
      <p:sp>
        <p:nvSpPr>
          <p:cNvPr id="982" name="Google Shape;982;p80"/>
          <p:cNvSpPr txBox="1"/>
          <p:nvPr/>
        </p:nvSpPr>
        <p:spPr>
          <a:xfrm>
            <a:off x="566928" y="1057046"/>
            <a:ext cx="800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0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 가지 방향의 시스템 고도화 계획</a:t>
            </a:r>
            <a:endParaRPr/>
          </a:p>
        </p:txBody>
      </p:sp>
      <p:sp>
        <p:nvSpPr>
          <p:cNvPr id="983" name="Google Shape;983;p80"/>
          <p:cNvSpPr/>
          <p:nvPr/>
        </p:nvSpPr>
        <p:spPr>
          <a:xfrm>
            <a:off x="566928" y="1517904"/>
            <a:ext cx="1869900" cy="233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80"/>
          <p:cNvSpPr/>
          <p:nvPr/>
        </p:nvSpPr>
        <p:spPr>
          <a:xfrm>
            <a:off x="749808" y="1700784"/>
            <a:ext cx="329100" cy="3291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80"/>
          <p:cNvSpPr txBox="1"/>
          <p:nvPr/>
        </p:nvSpPr>
        <p:spPr>
          <a:xfrm>
            <a:off x="749808" y="1792284"/>
            <a:ext cx="3291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986" name="Google Shape;986;p80"/>
          <p:cNvSpPr txBox="1"/>
          <p:nvPr/>
        </p:nvSpPr>
        <p:spPr>
          <a:xfrm>
            <a:off x="749808" y="2157984"/>
            <a:ext cx="150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실환경 안정화</a:t>
            </a:r>
            <a:endParaRPr/>
          </a:p>
        </p:txBody>
      </p:sp>
      <p:sp>
        <p:nvSpPr>
          <p:cNvPr id="987" name="Google Shape;987;p80"/>
          <p:cNvSpPr txBox="1"/>
          <p:nvPr/>
        </p:nvSpPr>
        <p:spPr>
          <a:xfrm>
            <a:off x="749808" y="2615184"/>
            <a:ext cx="1504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현장 환경 적응력 강화</a:t>
            </a:r>
            <a:r>
              <a:rPr lang="ko" sz="1100">
                <a:solidFill>
                  <a:schemeClr val="dk2"/>
                </a:solidFill>
              </a:rPr>
              <a:t> (조명·진동 변화에도 오작동 최소화)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8" name="Google Shape;988;p80"/>
          <p:cNvSpPr/>
          <p:nvPr/>
        </p:nvSpPr>
        <p:spPr>
          <a:xfrm>
            <a:off x="2610612" y="1517904"/>
            <a:ext cx="1869900" cy="233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80"/>
          <p:cNvSpPr/>
          <p:nvPr/>
        </p:nvSpPr>
        <p:spPr>
          <a:xfrm>
            <a:off x="2793492" y="1700784"/>
            <a:ext cx="329100" cy="3291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80"/>
          <p:cNvSpPr txBox="1"/>
          <p:nvPr/>
        </p:nvSpPr>
        <p:spPr>
          <a:xfrm>
            <a:off x="2793492" y="1792284"/>
            <a:ext cx="3291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991" name="Google Shape;991;p80"/>
          <p:cNvSpPr txBox="1"/>
          <p:nvPr/>
        </p:nvSpPr>
        <p:spPr>
          <a:xfrm>
            <a:off x="2793492" y="2157984"/>
            <a:ext cx="150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 분석 고도화</a:t>
            </a:r>
            <a:endParaRPr/>
          </a:p>
        </p:txBody>
      </p:sp>
      <p:sp>
        <p:nvSpPr>
          <p:cNvPr id="992" name="Google Shape;992;p80"/>
          <p:cNvSpPr txBox="1"/>
          <p:nvPr/>
        </p:nvSpPr>
        <p:spPr>
          <a:xfrm>
            <a:off x="2761013" y="2562375"/>
            <a:ext cx="16224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불량 원인 정밀 진단</a:t>
            </a:r>
            <a:r>
              <a:rPr lang="ko" sz="1100">
                <a:solidFill>
                  <a:schemeClr val="dk2"/>
                </a:solidFill>
              </a:rPr>
              <a:t> (부품 휨·손상 유형 정밀 분류)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3" name="Google Shape;993;p80"/>
          <p:cNvSpPr/>
          <p:nvPr/>
        </p:nvSpPr>
        <p:spPr>
          <a:xfrm>
            <a:off x="4654296" y="1517904"/>
            <a:ext cx="1869900" cy="233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80"/>
          <p:cNvSpPr/>
          <p:nvPr/>
        </p:nvSpPr>
        <p:spPr>
          <a:xfrm>
            <a:off x="4837176" y="1700784"/>
            <a:ext cx="329100" cy="3291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80"/>
          <p:cNvSpPr txBox="1"/>
          <p:nvPr/>
        </p:nvSpPr>
        <p:spPr>
          <a:xfrm>
            <a:off x="4837176" y="1792284"/>
            <a:ext cx="3291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996" name="Google Shape;996;p80"/>
          <p:cNvSpPr txBox="1"/>
          <p:nvPr/>
        </p:nvSpPr>
        <p:spPr>
          <a:xfrm>
            <a:off x="4837176" y="2157984"/>
            <a:ext cx="150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경량화·고속화</a:t>
            </a:r>
            <a:endParaRPr/>
          </a:p>
        </p:txBody>
      </p:sp>
      <p:sp>
        <p:nvSpPr>
          <p:cNvPr id="997" name="Google Shape;997;p80"/>
          <p:cNvSpPr txBox="1"/>
          <p:nvPr/>
        </p:nvSpPr>
        <p:spPr>
          <a:xfrm>
            <a:off x="4837176" y="2560320"/>
            <a:ext cx="15042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검사 속도 최적화</a:t>
            </a:r>
            <a:r>
              <a:rPr lang="ko" sz="1100">
                <a:solidFill>
                  <a:schemeClr val="dk2"/>
                </a:solidFill>
              </a:rPr>
              <a:t> (AI 모델 경량화로 속도 향상 &amp; 고정밀 유지)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8" name="Google Shape;998;p80"/>
          <p:cNvSpPr/>
          <p:nvPr/>
        </p:nvSpPr>
        <p:spPr>
          <a:xfrm>
            <a:off x="6697980" y="1517904"/>
            <a:ext cx="1869900" cy="233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3E6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80"/>
          <p:cNvSpPr/>
          <p:nvPr/>
        </p:nvSpPr>
        <p:spPr>
          <a:xfrm>
            <a:off x="6880860" y="1700784"/>
            <a:ext cx="329100" cy="329100"/>
          </a:xfrm>
          <a:prstGeom prst="ellipse">
            <a:avLst/>
          </a:prstGeom>
          <a:solidFill>
            <a:srgbClr val="5F66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80"/>
          <p:cNvSpPr txBox="1"/>
          <p:nvPr/>
        </p:nvSpPr>
        <p:spPr>
          <a:xfrm>
            <a:off x="6880860" y="1792284"/>
            <a:ext cx="3291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001" name="Google Shape;1001;p80"/>
          <p:cNvSpPr txBox="1"/>
          <p:nvPr/>
        </p:nvSpPr>
        <p:spPr>
          <a:xfrm>
            <a:off x="6880860" y="2157984"/>
            <a:ext cx="150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다품종 PCB 확장</a:t>
            </a:r>
            <a:endParaRPr/>
          </a:p>
        </p:txBody>
      </p:sp>
      <p:sp>
        <p:nvSpPr>
          <p:cNvPr id="1002" name="Google Shape;1002;p80"/>
          <p:cNvSpPr txBox="1"/>
          <p:nvPr/>
        </p:nvSpPr>
        <p:spPr>
          <a:xfrm>
            <a:off x="6838210" y="2615175"/>
            <a:ext cx="16224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다양한 제품(PCB) 호환성 확대</a:t>
            </a:r>
            <a:r>
              <a:rPr lang="ko" sz="1100">
                <a:solidFill>
                  <a:schemeClr val="dk2"/>
                </a:solidFill>
              </a:rPr>
              <a:t> (신규 기판 적용 체계)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03" name="Google Shape;1003;p80"/>
          <p:cNvSpPr/>
          <p:nvPr/>
        </p:nvSpPr>
        <p:spPr>
          <a:xfrm>
            <a:off x="566925" y="4069075"/>
            <a:ext cx="8001000" cy="6588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80"/>
          <p:cNvSpPr txBox="1"/>
          <p:nvPr/>
        </p:nvSpPr>
        <p:spPr>
          <a:xfrm>
            <a:off x="749798" y="4327380"/>
            <a:ext cx="7452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 가지 방향의 고도화로, 실제 양산 라인에 바로 투입 가능한 완성도를 목표로 발전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1"/>
          <p:cNvSpPr txBox="1"/>
          <p:nvPr/>
        </p:nvSpPr>
        <p:spPr>
          <a:xfrm>
            <a:off x="502920" y="310896"/>
            <a:ext cx="813816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 </a:t>
            </a:r>
            <a:r>
              <a:rPr lang="ko" sz="700" b="1" i="0" u="none" strike="noStrike" cap="none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후기</a:t>
            </a:r>
            <a:endParaRPr/>
          </a:p>
        </p:txBody>
      </p:sp>
      <p:sp>
        <p:nvSpPr>
          <p:cNvPr id="1010" name="Google Shape;1010;p81"/>
          <p:cNvSpPr txBox="1"/>
          <p:nvPr/>
        </p:nvSpPr>
        <p:spPr>
          <a:xfrm>
            <a:off x="566920" y="571502"/>
            <a:ext cx="8138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후기</a:t>
            </a:r>
            <a:endParaRPr sz="2100"/>
          </a:p>
        </p:txBody>
      </p:sp>
      <p:sp>
        <p:nvSpPr>
          <p:cNvPr id="1011" name="Google Shape;1011;p81"/>
          <p:cNvSpPr/>
          <p:nvPr/>
        </p:nvSpPr>
        <p:spPr>
          <a:xfrm>
            <a:off x="502920" y="963246"/>
            <a:ext cx="1924800" cy="4023300"/>
          </a:xfrm>
          <a:prstGeom prst="roundRect">
            <a:avLst>
              <a:gd name="adj" fmla="val 5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81"/>
          <p:cNvSpPr/>
          <p:nvPr/>
        </p:nvSpPr>
        <p:spPr>
          <a:xfrm>
            <a:off x="502920" y="963246"/>
            <a:ext cx="1924800" cy="54900"/>
          </a:xfrm>
          <a:prstGeom prst="roundRect">
            <a:avLst>
              <a:gd name="adj" fmla="val 50000"/>
            </a:avLst>
          </a:prstGeom>
          <a:solidFill>
            <a:srgbClr val="BD5B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81"/>
          <p:cNvSpPr txBox="1"/>
          <p:nvPr/>
        </p:nvSpPr>
        <p:spPr>
          <a:xfrm>
            <a:off x="649224" y="1109550"/>
            <a:ext cx="1632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박수민 팀</a:t>
            </a:r>
            <a:r>
              <a:rPr lang="ko" sz="1300" b="1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</a:t>
            </a:r>
            <a:endParaRPr/>
          </a:p>
        </p:txBody>
      </p:sp>
      <p:sp>
        <p:nvSpPr>
          <p:cNvPr id="1014" name="Google Shape;1014;p81"/>
          <p:cNvSpPr txBox="1"/>
          <p:nvPr/>
        </p:nvSpPr>
        <p:spPr>
          <a:xfrm>
            <a:off x="649224" y="1356438"/>
            <a:ext cx="16323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0" i="1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모델링</a:t>
            </a:r>
            <a:endParaRPr/>
          </a:p>
        </p:txBody>
      </p:sp>
      <p:sp>
        <p:nvSpPr>
          <p:cNvPr id="1015" name="Google Shape;1015;p81"/>
          <p:cNvSpPr txBox="1"/>
          <p:nvPr/>
        </p:nvSpPr>
        <p:spPr>
          <a:xfrm>
            <a:off x="649224" y="1563802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 </a:t>
            </a:r>
            <a:r>
              <a:rPr lang="ko" sz="950" b="1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느</a:t>
            </a:r>
            <a:r>
              <a:rPr lang="ko" sz="950" b="1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낀</a:t>
            </a:r>
            <a:r>
              <a:rPr lang="ko" sz="950" b="1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</a:t>
            </a:r>
            <a:endParaRPr/>
          </a:p>
        </p:txBody>
      </p:sp>
      <p:sp>
        <p:nvSpPr>
          <p:cNvPr id="1016" name="Google Shape;1016;p81"/>
          <p:cNvSpPr txBox="1"/>
          <p:nvPr/>
        </p:nvSpPr>
        <p:spPr>
          <a:xfrm>
            <a:off x="649225" y="1792400"/>
            <a:ext cx="17784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소량의 정상 데이터만으로도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PCB의 이상 여부를 판별할 수 있는 이상 탐지 방식의 가능성을 확인함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7" name="Google Shape;1017;p81"/>
          <p:cNvSpPr txBox="1"/>
          <p:nvPr/>
        </p:nvSpPr>
        <p:spPr>
          <a:xfrm>
            <a:off x="649224" y="2322754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🔧  </a:t>
            </a:r>
            <a:r>
              <a:rPr lang="ko" sz="950" b="1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어려웠던 점 &amp; 극복</a:t>
            </a:r>
            <a:endParaRPr/>
          </a:p>
        </p:txBody>
      </p:sp>
      <p:sp>
        <p:nvSpPr>
          <p:cNvPr id="1018" name="Google Shape;1018;p81"/>
          <p:cNvSpPr txBox="1"/>
          <p:nvPr/>
        </p:nvSpPr>
        <p:spPr>
          <a:xfrm>
            <a:off x="649224" y="2551354"/>
            <a:ext cx="16323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어려움 : </a:t>
            </a: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해상도를 높이면 미세 결함 검출은 향상되지만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Jetson의 연산·메모리 제약으로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TensorRT 엔진 변환에 한계 발생 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649099" y="3240442"/>
            <a:ext cx="16323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극복 : </a:t>
            </a: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Backbone과 CoreSet 비율을 조정하며 검출 성능과 추론 부담을 비교해 적절한 모델 구성을 선정 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649224" y="3957520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🏁  </a:t>
            </a:r>
            <a:r>
              <a:rPr lang="ko" sz="950" b="1" i="0" u="none" strike="noStrike" cap="none">
                <a:solidFill>
                  <a:srgbClr val="BD5B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 소회</a:t>
            </a:r>
            <a:endParaRPr/>
          </a:p>
        </p:txBody>
      </p:sp>
      <p:sp>
        <p:nvSpPr>
          <p:cNvPr id="1021" name="Google Shape;1021;p81"/>
          <p:cNvSpPr txBox="1"/>
          <p:nvPr/>
        </p:nvSpPr>
        <p:spPr>
          <a:xfrm>
            <a:off x="649224" y="4165413"/>
            <a:ext cx="16323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모델의 성능은 모델 구조뿐 아니라 학습 데이터와 실제 구동 환경의 영향을 크게 받는다는 것을 경험함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2" name="Google Shape;1022;p81"/>
          <p:cNvSpPr/>
          <p:nvPr/>
        </p:nvSpPr>
        <p:spPr>
          <a:xfrm>
            <a:off x="2574036" y="963246"/>
            <a:ext cx="1924800" cy="4023300"/>
          </a:xfrm>
          <a:prstGeom prst="roundRect">
            <a:avLst>
              <a:gd name="adj" fmla="val 5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2574036" y="963246"/>
            <a:ext cx="1924800" cy="54900"/>
          </a:xfrm>
          <a:prstGeom prst="roundRect">
            <a:avLst>
              <a:gd name="adj" fmla="val 50000"/>
            </a:avLst>
          </a:prstGeom>
          <a:solidFill>
            <a:srgbClr val="3557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81"/>
          <p:cNvSpPr txBox="1"/>
          <p:nvPr/>
        </p:nvSpPr>
        <p:spPr>
          <a:xfrm>
            <a:off x="2720340" y="1109550"/>
            <a:ext cx="1632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김태환 팀원</a:t>
            </a:r>
            <a:endParaRPr/>
          </a:p>
        </p:txBody>
      </p:sp>
      <p:sp>
        <p:nvSpPr>
          <p:cNvPr id="1025" name="Google Shape;1025;p81"/>
          <p:cNvSpPr txBox="1"/>
          <p:nvPr/>
        </p:nvSpPr>
        <p:spPr>
          <a:xfrm>
            <a:off x="2720340" y="1356438"/>
            <a:ext cx="16323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0" i="1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파이프라인 · 기구물</a:t>
            </a:r>
            <a:endParaRPr/>
          </a:p>
        </p:txBody>
      </p:sp>
      <p:sp>
        <p:nvSpPr>
          <p:cNvPr id="1026" name="Google Shape;1026;p81"/>
          <p:cNvSpPr txBox="1"/>
          <p:nvPr/>
        </p:nvSpPr>
        <p:spPr>
          <a:xfrm>
            <a:off x="2720340" y="1563802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 </a:t>
            </a:r>
            <a:r>
              <a:rPr lang="ko" sz="950" b="1" i="0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</a:t>
            </a:r>
            <a:r>
              <a:rPr lang="ko" sz="950" b="1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느낀점</a:t>
            </a:r>
            <a:endParaRPr/>
          </a:p>
        </p:txBody>
      </p:sp>
      <p:sp>
        <p:nvSpPr>
          <p:cNvPr id="1027" name="Google Shape;1027;p81"/>
          <p:cNvSpPr txBox="1"/>
          <p:nvPr/>
        </p:nvSpPr>
        <p:spPr>
          <a:xfrm>
            <a:off x="2720340" y="1792402"/>
            <a:ext cx="16323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완벽한 모델보다, 환경 변화에 계속 맞춰갈 수 있는 구조가 더 중요하다는 걸 체감함</a:t>
            </a:r>
            <a:endParaRPr/>
          </a:p>
        </p:txBody>
      </p:sp>
      <p:sp>
        <p:nvSpPr>
          <p:cNvPr id="1028" name="Google Shape;1028;p81"/>
          <p:cNvSpPr txBox="1"/>
          <p:nvPr/>
        </p:nvSpPr>
        <p:spPr>
          <a:xfrm>
            <a:off x="2720340" y="2336970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🔧  </a:t>
            </a:r>
            <a:r>
              <a:rPr lang="ko" sz="950" b="1" i="0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어려웠던 점 &amp; 극복</a:t>
            </a:r>
            <a:endParaRPr/>
          </a:p>
        </p:txBody>
      </p:sp>
      <p:sp>
        <p:nvSpPr>
          <p:cNvPr id="1029" name="Google Shape;1029;p81"/>
          <p:cNvSpPr txBox="1"/>
          <p:nvPr/>
        </p:nvSpPr>
        <p:spPr>
          <a:xfrm>
            <a:off x="2720340" y="2565570"/>
            <a:ext cx="16323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어려움 : </a:t>
            </a: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부품이 서로 다른 유형의 결함을 동시에 겪었을 때, 위치와 유형을 각각 구분 못 하는 문제 </a:t>
            </a:r>
            <a:endParaRPr/>
          </a:p>
        </p:txBody>
      </p:sp>
      <p:sp>
        <p:nvSpPr>
          <p:cNvPr id="1030" name="Google Shape;1030;p81"/>
          <p:cNvSpPr txBox="1"/>
          <p:nvPr/>
        </p:nvSpPr>
        <p:spPr>
          <a:xfrm>
            <a:off x="2720340" y="3232980"/>
            <a:ext cx="16323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극복 : </a:t>
            </a: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박스마다 따로 잘라내어 하나씩 분류하는 방식으로 해결  </a:t>
            </a:r>
            <a:endParaRPr/>
          </a:p>
        </p:txBody>
      </p:sp>
      <p:sp>
        <p:nvSpPr>
          <p:cNvPr id="1031" name="Google Shape;1031;p81"/>
          <p:cNvSpPr txBox="1"/>
          <p:nvPr/>
        </p:nvSpPr>
        <p:spPr>
          <a:xfrm>
            <a:off x="2720340" y="3777548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🏁  </a:t>
            </a:r>
            <a:r>
              <a:rPr lang="ko" sz="950" b="1" i="0" u="none" strike="noStrike" cap="none">
                <a:solidFill>
                  <a:srgbClr val="35577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 소회</a:t>
            </a:r>
            <a:endParaRPr/>
          </a:p>
        </p:txBody>
      </p:sp>
      <p:sp>
        <p:nvSpPr>
          <p:cNvPr id="1032" name="Google Shape;1032;p81"/>
          <p:cNvSpPr txBox="1"/>
          <p:nvPr/>
        </p:nvSpPr>
        <p:spPr>
          <a:xfrm>
            <a:off x="2720340" y="4006148"/>
            <a:ext cx="1632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작은 선택이 실전에서 결과를 크게 바꿀 수 있다는 것을 경험함</a:t>
            </a:r>
            <a:endParaRPr/>
          </a:p>
        </p:txBody>
      </p:sp>
      <p:sp>
        <p:nvSpPr>
          <p:cNvPr id="1033" name="Google Shape;1033;p81"/>
          <p:cNvSpPr/>
          <p:nvPr/>
        </p:nvSpPr>
        <p:spPr>
          <a:xfrm>
            <a:off x="4645152" y="963246"/>
            <a:ext cx="1924800" cy="4023300"/>
          </a:xfrm>
          <a:prstGeom prst="roundRect">
            <a:avLst>
              <a:gd name="adj" fmla="val 5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81"/>
          <p:cNvSpPr/>
          <p:nvPr/>
        </p:nvSpPr>
        <p:spPr>
          <a:xfrm>
            <a:off x="4645152" y="963246"/>
            <a:ext cx="1924800" cy="54900"/>
          </a:xfrm>
          <a:prstGeom prst="roundRect">
            <a:avLst>
              <a:gd name="adj" fmla="val 50000"/>
            </a:avLst>
          </a:prstGeom>
          <a:solidFill>
            <a:srgbClr val="3E7B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1"/>
          <p:cNvSpPr txBox="1"/>
          <p:nvPr/>
        </p:nvSpPr>
        <p:spPr>
          <a:xfrm>
            <a:off x="4791456" y="1109550"/>
            <a:ext cx="1632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곽혜민 팀원</a:t>
            </a:r>
            <a:endParaRPr/>
          </a:p>
        </p:txBody>
      </p:sp>
      <p:sp>
        <p:nvSpPr>
          <p:cNvPr id="1036" name="Google Shape;1036;p81"/>
          <p:cNvSpPr txBox="1"/>
          <p:nvPr/>
        </p:nvSpPr>
        <p:spPr>
          <a:xfrm>
            <a:off x="4791456" y="1356438"/>
            <a:ext cx="16323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0" i="1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· DB</a:t>
            </a:r>
            <a:endParaRPr/>
          </a:p>
        </p:txBody>
      </p:sp>
      <p:sp>
        <p:nvSpPr>
          <p:cNvPr id="1037" name="Google Shape;1037;p81"/>
          <p:cNvSpPr txBox="1"/>
          <p:nvPr/>
        </p:nvSpPr>
        <p:spPr>
          <a:xfrm>
            <a:off x="4791456" y="1563802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 </a:t>
            </a: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</a:t>
            </a:r>
            <a:r>
              <a:rPr lang="ko" sz="950" b="1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느낀점</a:t>
            </a:r>
            <a:endParaRPr/>
          </a:p>
        </p:txBody>
      </p:sp>
      <p:sp>
        <p:nvSpPr>
          <p:cNvPr id="1038" name="Google Shape;1038;p81"/>
          <p:cNvSpPr txBox="1"/>
          <p:nvPr/>
        </p:nvSpPr>
        <p:spPr>
          <a:xfrm>
            <a:off x="4791456" y="1792402"/>
            <a:ext cx="1632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AI·판정·UI가 연결되는 과정에서 각 처리 시점을 명확하게 합의하는 것이 중요함을 체감</a:t>
            </a:r>
            <a:endParaRPr sz="1300"/>
          </a:p>
        </p:txBody>
      </p:sp>
      <p:sp>
        <p:nvSpPr>
          <p:cNvPr id="1039" name="Google Shape;1039;p81"/>
          <p:cNvSpPr txBox="1"/>
          <p:nvPr/>
        </p:nvSpPr>
        <p:spPr>
          <a:xfrm>
            <a:off x="4791456" y="2322754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🔧  </a:t>
            </a: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어려웠던 점 &amp; 극복</a:t>
            </a:r>
            <a:endParaRPr/>
          </a:p>
        </p:txBody>
      </p:sp>
      <p:sp>
        <p:nvSpPr>
          <p:cNvPr id="1040" name="Google Shape;1040;p81"/>
          <p:cNvSpPr txBox="1"/>
          <p:nvPr/>
        </p:nvSpPr>
        <p:spPr>
          <a:xfrm>
            <a:off x="4791456" y="2551354"/>
            <a:ext cx="1632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어려움 : </a:t>
            </a:r>
            <a:r>
              <a:rPr lang="ko" sz="830" b="0" i="0" u="none" strike="noStrike" cap="non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판정 저장과 화면 갱신을 동시에 처리하는 부분</a:t>
            </a:r>
            <a:endParaRPr/>
          </a:p>
        </p:txBody>
      </p:sp>
      <p:sp>
        <p:nvSpPr>
          <p:cNvPr id="1041" name="Google Shape;1041;p81"/>
          <p:cNvSpPr txBox="1"/>
          <p:nvPr/>
        </p:nvSpPr>
        <p:spPr>
          <a:xfrm>
            <a:off x="4791456" y="3026842"/>
            <a:ext cx="16323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극복 : </a:t>
            </a:r>
            <a:r>
              <a:rPr lang="ko" sz="830" b="0" i="0" u="none" strike="noStrike" cap="non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WAL 모드로 읽기·쓰기 충돌 없이 구조를 정리해 해결</a:t>
            </a:r>
            <a:endParaRPr/>
          </a:p>
        </p:txBody>
      </p:sp>
      <p:sp>
        <p:nvSpPr>
          <p:cNvPr id="1042" name="Google Shape;1042;p81"/>
          <p:cNvSpPr txBox="1"/>
          <p:nvPr/>
        </p:nvSpPr>
        <p:spPr>
          <a:xfrm>
            <a:off x="4791456" y="3557194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🏁  </a:t>
            </a:r>
            <a:r>
              <a:rPr lang="ko" sz="950" b="1" i="0" u="none" strike="noStrike" cap="none">
                <a:solidFill>
                  <a:srgbClr val="3E7B7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 소회</a:t>
            </a:r>
            <a:endParaRPr/>
          </a:p>
        </p:txBody>
      </p:sp>
      <p:sp>
        <p:nvSpPr>
          <p:cNvPr id="1043" name="Google Shape;1043;p81"/>
          <p:cNvSpPr txBox="1"/>
          <p:nvPr/>
        </p:nvSpPr>
        <p:spPr>
          <a:xfrm>
            <a:off x="4791456" y="3785794"/>
            <a:ext cx="1632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과정으로 연결하는 경험을 해볼 수 있어 좋았다.</a:t>
            </a:r>
            <a:endParaRPr/>
          </a:p>
        </p:txBody>
      </p:sp>
      <p:sp>
        <p:nvSpPr>
          <p:cNvPr id="1044" name="Google Shape;1044;p81"/>
          <p:cNvSpPr/>
          <p:nvPr/>
        </p:nvSpPr>
        <p:spPr>
          <a:xfrm>
            <a:off x="6716268" y="963246"/>
            <a:ext cx="1924800" cy="4023300"/>
          </a:xfrm>
          <a:prstGeom prst="roundRect">
            <a:avLst>
              <a:gd name="adj" fmla="val 5000"/>
            </a:avLst>
          </a:prstGeom>
          <a:solidFill>
            <a:srgbClr val="F6F7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81"/>
          <p:cNvSpPr/>
          <p:nvPr/>
        </p:nvSpPr>
        <p:spPr>
          <a:xfrm>
            <a:off x="6716268" y="963246"/>
            <a:ext cx="1924800" cy="54900"/>
          </a:xfrm>
          <a:prstGeom prst="roundRect">
            <a:avLst>
              <a:gd name="adj" fmla="val 50000"/>
            </a:avLst>
          </a:prstGeom>
          <a:solidFill>
            <a:srgbClr val="7A5D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81"/>
          <p:cNvSpPr txBox="1"/>
          <p:nvPr/>
        </p:nvSpPr>
        <p:spPr>
          <a:xfrm>
            <a:off x="6862572" y="1109550"/>
            <a:ext cx="1632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i="0" u="none" strike="noStrike" cap="none">
                <a:solidFill>
                  <a:srgbClr val="0A0A0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이양배 팀원</a:t>
            </a:r>
            <a:endParaRPr/>
          </a:p>
        </p:txBody>
      </p:sp>
      <p:sp>
        <p:nvSpPr>
          <p:cNvPr id="1047" name="Google Shape;1047;p81"/>
          <p:cNvSpPr txBox="1"/>
          <p:nvPr/>
        </p:nvSpPr>
        <p:spPr>
          <a:xfrm>
            <a:off x="6862572" y="1356438"/>
            <a:ext cx="16323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0" i="1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· MCU 제어</a:t>
            </a:r>
            <a:endParaRPr/>
          </a:p>
        </p:txBody>
      </p:sp>
      <p:sp>
        <p:nvSpPr>
          <p:cNvPr id="1048" name="Google Shape;1048;p81"/>
          <p:cNvSpPr txBox="1"/>
          <p:nvPr/>
        </p:nvSpPr>
        <p:spPr>
          <a:xfrm>
            <a:off x="6862572" y="1584508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 </a:t>
            </a:r>
            <a:r>
              <a:rPr lang="ko" sz="950" b="1" i="0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</a:t>
            </a:r>
            <a:r>
              <a:rPr lang="ko" sz="950" b="1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느낀점</a:t>
            </a:r>
            <a:endParaRPr/>
          </a:p>
        </p:txBody>
      </p:sp>
      <p:sp>
        <p:nvSpPr>
          <p:cNvPr id="1049" name="Google Shape;1049;p81"/>
          <p:cNvSpPr txBox="1"/>
          <p:nvPr/>
        </p:nvSpPr>
        <p:spPr>
          <a:xfrm>
            <a:off x="6862572" y="1785499"/>
            <a:ext cx="16323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AI의 판정 결과가 GPIO → MCU → 모터 제어까지 이어지는 전체 흐름을 이해함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0" name="Google Shape;1050;p81"/>
          <p:cNvSpPr txBox="1"/>
          <p:nvPr/>
        </p:nvSpPr>
        <p:spPr>
          <a:xfrm>
            <a:off x="6862572" y="2343460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🔧  </a:t>
            </a:r>
            <a:r>
              <a:rPr lang="ko" sz="950" b="1" i="0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어려웠던 점 &amp; 극복</a:t>
            </a:r>
            <a:endParaRPr/>
          </a:p>
        </p:txBody>
      </p:sp>
      <p:sp>
        <p:nvSpPr>
          <p:cNvPr id="1051" name="Google Shape;1051;p81"/>
          <p:cNvSpPr txBox="1"/>
          <p:nvPr/>
        </p:nvSpPr>
        <p:spPr>
          <a:xfrm>
            <a:off x="6862575" y="2537538"/>
            <a:ext cx="17307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어려움 : </a:t>
            </a: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Jetson에서 하나의 GPIO만 출력했지만 다른 GPIO에도 펄스가 발생해 MCU가 잘못된 이벤트를 인식하는 문제 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2" name="Google Shape;1052;p81"/>
          <p:cNvSpPr txBox="1"/>
          <p:nvPr/>
        </p:nvSpPr>
        <p:spPr>
          <a:xfrm>
            <a:off x="6862572" y="3221007"/>
            <a:ext cx="16323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30" b="1" i="0" u="none" strike="noStrike" cap="none">
                <a:solidFill>
                  <a:srgbClr val="8B909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극복 : </a:t>
            </a: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오실로스코프로 GPIO 신호를 직접 확인하고 MCU 입력 신호와 배선 환경을 점검하여 신호 간 간섭 문제를 확인하고 개선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3" name="Google Shape;1053;p81"/>
          <p:cNvSpPr txBox="1"/>
          <p:nvPr/>
        </p:nvSpPr>
        <p:spPr>
          <a:xfrm>
            <a:off x="6858413" y="3939254"/>
            <a:ext cx="1632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🏁  </a:t>
            </a:r>
            <a:r>
              <a:rPr lang="ko" sz="950" b="1" i="0" u="none" strike="noStrike" cap="none">
                <a:solidFill>
                  <a:srgbClr val="7A5D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 소회</a:t>
            </a:r>
            <a:endParaRPr/>
          </a:p>
        </p:txBody>
      </p:sp>
      <p:sp>
        <p:nvSpPr>
          <p:cNvPr id="1054" name="Google Shape;1054;p81"/>
          <p:cNvSpPr txBox="1"/>
          <p:nvPr/>
        </p:nvSpPr>
        <p:spPr>
          <a:xfrm>
            <a:off x="6858425" y="4112639"/>
            <a:ext cx="1713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83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 로직뿐 아니라 GPIO 신호, 배선, 하드웨어 환경까지 함께 확인해야 문제의 원인을 정확히 찾을 수 있음을 경험함.</a:t>
            </a:r>
            <a:endParaRPr sz="83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82"/>
          <p:cNvSpPr/>
          <p:nvPr/>
        </p:nvSpPr>
        <p:spPr>
          <a:xfrm rot="10800000">
            <a:off x="728663" y="1885950"/>
            <a:ext cx="142875" cy="128588"/>
          </a:xfrm>
          <a:prstGeom prst="triangle">
            <a:avLst>
              <a:gd name="adj" fmla="val 50000"/>
            </a:avLst>
          </a:prstGeom>
          <a:solidFill>
            <a:srgbClr val="2024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82"/>
          <p:cNvSpPr txBox="1"/>
          <p:nvPr/>
        </p:nvSpPr>
        <p:spPr>
          <a:xfrm>
            <a:off x="1143000" y="1833900"/>
            <a:ext cx="68580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lgun Gothic"/>
              <a:buNone/>
            </a:pPr>
            <a:r>
              <a:rPr lang="ko" sz="7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Q</a:t>
            </a:r>
            <a:r>
              <a:rPr lang="ko" sz="6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&amp; </a:t>
            </a:r>
            <a:r>
              <a:rPr lang="ko" sz="7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2"/>
          <p:cNvSpPr txBox="1"/>
          <p:nvPr/>
        </p:nvSpPr>
        <p:spPr>
          <a:xfrm>
            <a:off x="6552769" y="4152051"/>
            <a:ext cx="1988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lang="ko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보드가드 BoardGuard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82"/>
          <p:cNvSpPr txBox="1"/>
          <p:nvPr/>
        </p:nvSpPr>
        <p:spPr>
          <a:xfrm>
            <a:off x="5889840" y="4423503"/>
            <a:ext cx="26517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800"/>
              <a:buFont typeface="Malgun Gothic"/>
              <a:buNone/>
            </a:pPr>
            <a:r>
              <a:rPr lang="ko" sz="800">
                <a:solidFill>
                  <a:srgbClr val="C7CBD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박수민   ·   김태환   ·  곽혜민   ·   이양배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2998</Words>
  <Application>Microsoft Office PowerPoint</Application>
  <PresentationFormat>화면 슬라이드 쇼(16:9)</PresentationFormat>
  <Paragraphs>576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Malgun Gothic</vt:lpstr>
      <vt:lpstr>Arial</vt:lpstr>
      <vt:lpstr>Calibri</vt:lpstr>
      <vt:lpstr>Simple Light</vt:lpstr>
      <vt:lpstr>Office Theme</vt:lpstr>
      <vt:lpstr>Simple Light</vt:lpstr>
      <vt:lpstr>Simple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3</cp:revision>
  <dcterms:modified xsi:type="dcterms:W3CDTF">2026-10-29T05:50:58Z</dcterms:modified>
</cp:coreProperties>
</file>