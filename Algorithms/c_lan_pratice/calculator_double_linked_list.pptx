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handoutMasterIdLst>
    <p:handoutMasterId r:id="rId31"/>
  </p:handoutMasterIdLst>
  <p:sldIdLst>
    <p:sldId id="271" r:id="rId2"/>
    <p:sldId id="272" r:id="rId3"/>
    <p:sldId id="273" r:id="rId4"/>
    <p:sldId id="283" r:id="rId5"/>
    <p:sldId id="281" r:id="rId6"/>
    <p:sldId id="279" r:id="rId7"/>
    <p:sldId id="280" r:id="rId8"/>
    <p:sldId id="286" r:id="rId9"/>
    <p:sldId id="285" r:id="rId10"/>
    <p:sldId id="277" r:id="rId11"/>
    <p:sldId id="288" r:id="rId12"/>
    <p:sldId id="284" r:id="rId13"/>
    <p:sldId id="289" r:id="rId14"/>
    <p:sldId id="287" r:id="rId15"/>
    <p:sldId id="292" r:id="rId16"/>
    <p:sldId id="293" r:id="rId17"/>
    <p:sldId id="294" r:id="rId18"/>
    <p:sldId id="296" r:id="rId19"/>
    <p:sldId id="297" r:id="rId20"/>
    <p:sldId id="298" r:id="rId21"/>
    <p:sldId id="295" r:id="rId22"/>
    <p:sldId id="299" r:id="rId23"/>
    <p:sldId id="300" r:id="rId24"/>
    <p:sldId id="302" r:id="rId25"/>
    <p:sldId id="303" r:id="rId26"/>
    <p:sldId id="304" r:id="rId27"/>
    <p:sldId id="305" r:id="rId28"/>
    <p:sldId id="265" r:id="rId2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8EA0"/>
    <a:srgbClr val="6C899B"/>
    <a:srgbClr val="F3F9FB"/>
    <a:srgbClr val="F9FCFD"/>
    <a:srgbClr val="23B0C3"/>
    <a:srgbClr val="146772"/>
    <a:srgbClr val="95E2EC"/>
    <a:srgbClr val="D0C6E9"/>
    <a:srgbClr val="FAD6DD"/>
    <a:srgbClr val="FFF9B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365" autoAdjust="0"/>
  </p:normalViewPr>
  <p:slideViewPr>
    <p:cSldViewPr snapToGrid="0" showGuides="1">
      <p:cViewPr varScale="1">
        <p:scale>
          <a:sx n="145" d="100"/>
          <a:sy n="145" d="100"/>
        </p:scale>
        <p:origin x="906" y="126"/>
      </p:cViewPr>
      <p:guideLst>
        <p:guide orient="horz" pos="2183"/>
        <p:guide pos="3840"/>
      </p:guideLst>
    </p:cSldViewPr>
  </p:slideViewPr>
  <p:notesTextViewPr>
    <p:cViewPr>
      <p:scale>
        <a:sx n="1" d="1"/>
        <a:sy n="1" d="1"/>
      </p:scale>
      <p:origin x="0" y="0"/>
    </p:cViewPr>
  </p:notesTextViewPr>
  <p:notesViewPr>
    <p:cSldViewPr snapToGrid="0">
      <p:cViewPr varScale="1">
        <p:scale>
          <a:sx n="86" d="100"/>
          <a:sy n="86" d="100"/>
        </p:scale>
        <p:origin x="3858" y="7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4521050-B16A-4ED2-B866-4B511C978B42}" type="datetimeFigureOut">
              <a:rPr lang="ko-KR" altLang="en-US" smtClean="0"/>
              <a:t>2026-06-08</a:t>
            </a:fld>
            <a:endParaRPr lang="ko-KR" altLang="en-US"/>
          </a:p>
        </p:txBody>
      </p:sp>
      <p:sp>
        <p:nvSpPr>
          <p:cNvPr id="4" name="바닥글 개체 틀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9F7C203-23D2-4AF9-8EDB-338EA4BC89B3}" type="slidenum">
              <a:rPr lang="ko-KR" altLang="en-US" smtClean="0"/>
              <a:t>‹#›</a:t>
            </a:fld>
            <a:endParaRPr lang="ko-KR" altLang="en-US"/>
          </a:p>
        </p:txBody>
      </p:sp>
    </p:spTree>
    <p:extLst>
      <p:ext uri="{BB962C8B-B14F-4D97-AF65-F5344CB8AC3E}">
        <p14:creationId xmlns:p14="http://schemas.microsoft.com/office/powerpoint/2010/main" val="43337007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DEC420-5E56-4548-B84E-24F0F6BA9605}" type="datetimeFigureOut">
              <a:rPr lang="ko-KR" altLang="en-US" smtClean="0"/>
              <a:t>2026-06-08</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 편집</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FE0B6E-FB12-47CA-B7A6-DBCCF1036549}" type="slidenum">
              <a:rPr lang="ko-KR" altLang="en-US" smtClean="0"/>
              <a:t>‹#›</a:t>
            </a:fld>
            <a:endParaRPr lang="ko-KR" altLang="en-US"/>
          </a:p>
        </p:txBody>
      </p:sp>
    </p:spTree>
    <p:extLst>
      <p:ext uri="{BB962C8B-B14F-4D97-AF65-F5344CB8AC3E}">
        <p14:creationId xmlns:p14="http://schemas.microsoft.com/office/powerpoint/2010/main" val="284242003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안녕하세요, 자료구조 과제 발표를 시작하겠습니다. 오늘 발표 주제는 스택 자료구조를 활용한 후위표기식 기반 계산기 </a:t>
            </a:r>
            <a:r>
              <a:rPr lang="ko-KR" altLang="en-US" dirty="0" smtClean="0"/>
              <a:t>구현과 </a:t>
            </a:r>
            <a:endParaRPr lang="ko-KR"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오늘 발표 순서입니다. 먼저 스택 자료구조의 개념을 설명하고, 계산기 설계 원리인 후위표기식 변환 알고리즘을 설명하겠습니다. 이어서 실제 코드 구조와 주요 함수를 소개하겠습니다.</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첫 번째 섹션입니다. 스택 자료구조에 대해 설명하겠습니다. 스택은 이 프로젝트의 핵심 자료구조입니다.</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스택은 LIFO, 즉 Last In First Out 구조입니다. 마지막에 넣은 데이터가 가장 먼저 꺼내지는 구조로, 주방의 접시 쌓기를 생각하시면 됩니다. 이 프로젝트에서는 문자용 스택과 정수용 스택을 각각 배열로 구현하였습니다. push, pop, peek 세 가지 기본 연산을 지원합니다.</a:t>
            </a:r>
          </a:p>
        </p:txBody>
      </p:sp>
    </p:spTree>
    <p:extLst>
      <p:ext uri="{BB962C8B-B14F-4D97-AF65-F5344CB8AC3E}">
        <p14:creationId xmlns:p14="http://schemas.microsoft.com/office/powerpoint/2010/main" val="9855052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스택은 LIFO, 즉 Last In First Out 구조입니다. 마지막에 넣은 데이터가 가장 먼저 꺼내지는 구조로, 주방의 접시 쌓기를 생각하시면 됩니다. 이 프로젝트에서는 문자용 스택과 정수용 스택을 각각 배열로 구현하였습니다. push, pop, peek 세 가지 기본 연산을 지원합니다.</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두 번째 섹션입니다. 이제 중위표기식을 후위표기식으로 변환하는 알고리즘을 설명하겠습니다.</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변환 알고리즘은 4단계로 구성됩니다. 첫째, 숫자는 즉시 출력 버퍼에 저장합니다. 둘째, 연산자는 우선순위를 비교하여 스택에 push하거나 낮은 연산자를 pop하여 출력합니다. 셋째, 여는 괄호는 스택에 push하고, 닫는 괄호는 여는 괄호를 만날 때까지 pop하여 출력합니다. 넷째, 입력이 끝나면 스택에 남은 모든 연산자를 pop하여 출력합니다.</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336747317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4069594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624213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822581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35604577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코드의 전체 구조입니다. back_display_make 함수가 중위에서 후위로 변환을 담당하고, back_display_calculate 함수가 후위표기식을 실제로 계산합니다. 각각 문자 스택과 정수 스택을 사용하며, main 함수에서 fgets로 입력을 받고 두 함수를 순서대로 호출합니다.</a:t>
            </a:r>
          </a:p>
        </p:txBody>
      </p:sp>
    </p:spTree>
    <p:extLst>
      <p:ext uri="{BB962C8B-B14F-4D97-AF65-F5344CB8AC3E}">
        <p14:creationId xmlns:p14="http://schemas.microsoft.com/office/powerpoint/2010/main" val="28437222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52DA0-A4CF-92B7-9254-E515C9AFC3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293E5-C46E-0132-FF20-7AFFE9F115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37BA04-7F88-1E51-2E85-C1862A8FC320}"/>
              </a:ext>
            </a:extLst>
          </p:cNvPr>
          <p:cNvSpPr>
            <a:spLocks noGrp="1"/>
          </p:cNvSpPr>
          <p:nvPr>
            <p:ph type="body" idx="1"/>
          </p:nvPr>
        </p:nvSpPr>
        <p:spPr/>
        <p:txBody>
          <a:bodyPr/>
          <a:lstStyle/>
          <a:p>
            <a:r>
              <a:rPr lang="en-US" altLang="ko-KR" dirty="0"/>
              <a:t>3</a:t>
            </a:r>
            <a:r>
              <a:rPr lang="ko-KR" altLang="en-US" dirty="0"/>
              <a:t> 번째 섹션입니다. </a:t>
            </a:r>
            <a:r>
              <a:rPr lang="en-US" altLang="ko-KR" dirty="0"/>
              <a:t>Double</a:t>
            </a:r>
            <a:r>
              <a:rPr lang="ko-KR" altLang="en-US" dirty="0"/>
              <a:t> </a:t>
            </a:r>
            <a:r>
              <a:rPr lang="en-US" altLang="ko-KR" dirty="0"/>
              <a:t>linked</a:t>
            </a:r>
            <a:r>
              <a:rPr lang="ko-KR" altLang="en-US" dirty="0"/>
              <a:t>에 대해 설명하겠습니다. </a:t>
            </a:r>
            <a:r>
              <a:rPr lang="en-US" altLang="ko-KR" dirty="0"/>
              <a:t>Double linked</a:t>
            </a:r>
            <a:r>
              <a:rPr lang="ko-KR" altLang="en-US" dirty="0"/>
              <a:t>는 이 프로젝트의 핵심 자료구조입니다.</a:t>
            </a:r>
          </a:p>
        </p:txBody>
      </p:sp>
    </p:spTree>
    <p:extLst>
      <p:ext uri="{BB962C8B-B14F-4D97-AF65-F5344CB8AC3E}">
        <p14:creationId xmlns:p14="http://schemas.microsoft.com/office/powerpoint/2010/main" val="38695761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BC6D2-B98A-5A1B-E642-CE63C91A8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99D9E5-D589-2CDF-4587-63EF23259B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721409-04CF-54B4-C754-8875C579EB40}"/>
              </a:ext>
            </a:extLst>
          </p:cNvPr>
          <p:cNvSpPr>
            <a:spLocks noGrp="1"/>
          </p:cNvSpPr>
          <p:nvPr>
            <p:ph type="body" idx="1"/>
          </p:nvPr>
        </p:nvSpPr>
        <p:spPr/>
        <p:txBody>
          <a:bodyPr/>
          <a:lstStyle/>
          <a:p>
            <a:r>
              <a:rPr lang="en-US" altLang="ko-KR" b="0" dirty="0"/>
              <a:t>Double linked list</a:t>
            </a:r>
            <a:r>
              <a:rPr lang="ko-KR" altLang="en-US" b="0" dirty="0"/>
              <a:t>는 앞</a:t>
            </a:r>
            <a:r>
              <a:rPr lang="ko-KR" altLang="ko-KR" b="0" dirty="0"/>
              <a:t>뒤 어느 </a:t>
            </a:r>
            <a:r>
              <a:rPr lang="ko-KR" altLang="ko-KR" b="0" dirty="0" err="1"/>
              <a:t>방향으로든</a:t>
            </a:r>
            <a:r>
              <a:rPr lang="ko-KR" altLang="ko-KR" b="0" dirty="0"/>
              <a:t> 자유롭게 이동할 수 있는 구조로</a:t>
            </a:r>
            <a:r>
              <a:rPr lang="en-US" altLang="ko-KR" b="0" dirty="0"/>
              <a:t> </a:t>
            </a:r>
            <a:r>
              <a:rPr lang="ko-KR" altLang="en-US" b="0" dirty="0"/>
              <a:t>양방향 탐색 구조입니다</a:t>
            </a:r>
            <a:r>
              <a:rPr lang="en-US" altLang="ko-KR" b="0" dirty="0"/>
              <a:t>. </a:t>
            </a:r>
            <a:r>
              <a:rPr lang="ko-KR" altLang="en-US" b="0" dirty="0"/>
              <a:t>쉽게 생각하면 양방향 도로를 생각하시면 됩니다</a:t>
            </a:r>
            <a:r>
              <a:rPr lang="en-US" altLang="ko-KR" b="0" dirty="0"/>
              <a:t>.</a:t>
            </a:r>
            <a:br>
              <a:rPr lang="en-US" altLang="ko-KR" b="0" dirty="0"/>
            </a:br>
            <a:r>
              <a:rPr lang="ko-KR" altLang="ko-KR" b="0" dirty="0" err="1"/>
              <a:t>head</a:t>
            </a:r>
            <a:r>
              <a:rPr lang="ko-KR" altLang="ko-KR" b="0" dirty="0"/>
              <a:t>, </a:t>
            </a:r>
            <a:r>
              <a:rPr lang="ko-KR" altLang="ko-KR" b="0" dirty="0" err="1"/>
              <a:t>tail</a:t>
            </a:r>
            <a:r>
              <a:rPr lang="ko-KR" altLang="en-US" b="0" dirty="0" err="1"/>
              <a:t>은</a:t>
            </a:r>
            <a:r>
              <a:rPr lang="ko-KR" altLang="en-US" b="0" dirty="0"/>
              <a:t> </a:t>
            </a:r>
            <a:r>
              <a:rPr lang="ko-KR" altLang="ko-KR" b="0" dirty="0"/>
              <a:t>시작점과 끝점을 가리키는 기준 포인터입니다. 기차의 맨 앞 기관차와 맨 뒤 </a:t>
            </a:r>
            <a:r>
              <a:rPr lang="ko-KR" altLang="ko-KR" b="0" dirty="0" err="1"/>
              <a:t>꼬리칸을</a:t>
            </a:r>
            <a:r>
              <a:rPr lang="ko-KR" altLang="ko-KR" b="0" dirty="0"/>
              <a:t> 생각하시</a:t>
            </a:r>
            <a:r>
              <a:rPr lang="ko-KR" altLang="en-US" b="0" dirty="0"/>
              <a:t>면 됩니다</a:t>
            </a:r>
            <a:r>
              <a:rPr lang="en-US" altLang="ko-KR" b="0" dirty="0"/>
              <a:t>.</a:t>
            </a:r>
            <a:br>
              <a:rPr lang="en-US" altLang="ko-KR" b="0" dirty="0"/>
            </a:br>
            <a:r>
              <a:rPr lang="ko-KR" altLang="en-US" b="0" dirty="0"/>
              <a:t>노드의 </a:t>
            </a:r>
            <a:r>
              <a:rPr lang="en-US" altLang="ko-KR" b="0" dirty="0"/>
              <a:t>3</a:t>
            </a:r>
            <a:r>
              <a:rPr lang="ko-KR" altLang="en-US" b="0" dirty="0"/>
              <a:t>분할 구조는 </a:t>
            </a:r>
            <a:r>
              <a:rPr lang="ko-KR" altLang="ko-KR" b="0" dirty="0"/>
              <a:t>데이터와 앞뒤 연결 정보를 하나의 마디로 묶은 형태</a:t>
            </a:r>
            <a:r>
              <a:rPr lang="ko-KR" altLang="en-US" b="0" dirty="0"/>
              <a:t>이며 </a:t>
            </a:r>
            <a:r>
              <a:rPr lang="ko-KR" altLang="ko-KR" b="0" dirty="0"/>
              <a:t>이 프로젝트에서는 이전 주소, 실제 데이터(Data), 다음 주소를 하나의 객체로 묶어 구현하였습니다.</a:t>
            </a:r>
            <a:endParaRPr lang="ko-KR" altLang="en-US" b="0" dirty="0"/>
          </a:p>
        </p:txBody>
      </p:sp>
    </p:spTree>
    <p:extLst>
      <p:ext uri="{BB962C8B-B14F-4D97-AF65-F5344CB8AC3E}">
        <p14:creationId xmlns:p14="http://schemas.microsoft.com/office/powerpoint/2010/main" val="422154398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825AC8-82C9-2E9E-E158-6E8E3C47E4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4FA7A-E213-E1E2-3216-DBC87B5292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BF765B-6D45-2288-3603-EA8257FE70CC}"/>
              </a:ext>
            </a:extLst>
          </p:cNvPr>
          <p:cNvSpPr>
            <a:spLocks noGrp="1"/>
          </p:cNvSpPr>
          <p:nvPr>
            <p:ph type="body" idx="1"/>
          </p:nvPr>
        </p:nvSpPr>
        <p:spPr/>
        <p:txBody>
          <a:bodyPr/>
          <a:lstStyle/>
          <a:p>
            <a:r>
              <a:rPr lang="ko-KR" altLang="en-US" dirty="0"/>
              <a:t>위 그림을 보시면 각 노드는 </a:t>
            </a:r>
            <a:r>
              <a:rPr lang="en-US" altLang="ko-KR" dirty="0"/>
              <a:t>3</a:t>
            </a:r>
            <a:r>
              <a:rPr lang="ko-KR" altLang="en-US" dirty="0"/>
              <a:t>분할 구조로 데이터를 담고 있습니다</a:t>
            </a:r>
            <a:r>
              <a:rPr lang="en-US" altLang="ko-KR" dirty="0"/>
              <a:t>.</a:t>
            </a:r>
            <a:br>
              <a:rPr lang="en-US" altLang="ko-KR" dirty="0"/>
            </a:br>
            <a:r>
              <a:rPr lang="en-US" altLang="ko-KR" dirty="0"/>
              <a:t>Prev</a:t>
            </a:r>
            <a:r>
              <a:rPr lang="ko-KR" altLang="en-US" dirty="0"/>
              <a:t>는 이전 노드의 주소를 </a:t>
            </a:r>
            <a:r>
              <a:rPr lang="ko-KR" altLang="en-US" dirty="0" err="1"/>
              <a:t>가르키고</a:t>
            </a:r>
            <a:r>
              <a:rPr lang="ko-KR" altLang="en-US" dirty="0"/>
              <a:t> 있으면</a:t>
            </a:r>
            <a:r>
              <a:rPr lang="en-US" altLang="ko-KR" dirty="0"/>
              <a:t>, next</a:t>
            </a:r>
            <a:r>
              <a:rPr lang="ko-KR" altLang="en-US" dirty="0"/>
              <a:t>는 다음 노드의 주소를 </a:t>
            </a:r>
            <a:r>
              <a:rPr lang="ko-KR" altLang="en-US" dirty="0" err="1"/>
              <a:t>가르키고</a:t>
            </a:r>
            <a:r>
              <a:rPr lang="ko-KR" altLang="en-US" dirty="0"/>
              <a:t> 있다고 보시면 됩니다</a:t>
            </a:r>
            <a:r>
              <a:rPr lang="en-US" altLang="ko-KR" dirty="0"/>
              <a:t>.</a:t>
            </a:r>
            <a:br>
              <a:rPr lang="en-US" altLang="ko-KR" dirty="0"/>
            </a:br>
            <a:r>
              <a:rPr lang="en-US" altLang="ko-KR" dirty="0"/>
              <a:t>Head</a:t>
            </a:r>
            <a:r>
              <a:rPr lang="ko-KR" altLang="en-US" dirty="0"/>
              <a:t>는 첫번째 노드의 주소를 </a:t>
            </a:r>
            <a:r>
              <a:rPr lang="ko-KR" altLang="en-US" dirty="0" err="1"/>
              <a:t>가르키는</a:t>
            </a:r>
            <a:r>
              <a:rPr lang="ko-KR" altLang="en-US" dirty="0"/>
              <a:t> 포인터</a:t>
            </a:r>
            <a:r>
              <a:rPr lang="en-US" altLang="ko-KR" dirty="0"/>
              <a:t>, tail</a:t>
            </a:r>
            <a:r>
              <a:rPr lang="ko-KR" altLang="en-US" dirty="0"/>
              <a:t>은 마지막 노드의 주소를 </a:t>
            </a:r>
            <a:r>
              <a:rPr lang="ko-KR" altLang="en-US" dirty="0" err="1"/>
              <a:t>가르키는</a:t>
            </a:r>
            <a:r>
              <a:rPr lang="ko-KR" altLang="en-US" dirty="0"/>
              <a:t> 포인터입니다</a:t>
            </a:r>
            <a:r>
              <a:rPr lang="en-US" altLang="ko-KR" dirty="0"/>
              <a:t>.</a:t>
            </a:r>
            <a:br>
              <a:rPr lang="en-US" altLang="ko-KR" dirty="0"/>
            </a:br>
            <a:endParaRPr lang="ko-KR" altLang="en-US" dirty="0"/>
          </a:p>
        </p:txBody>
      </p:sp>
    </p:spTree>
    <p:extLst>
      <p:ext uri="{BB962C8B-B14F-4D97-AF65-F5344CB8AC3E}">
        <p14:creationId xmlns:p14="http://schemas.microsoft.com/office/powerpoint/2010/main" val="30769366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CFF17-C618-5DDB-44B8-EC232450DD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61592-A0D2-5D91-6222-F8CEBA5161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48A1C7-C4AC-F850-D9B9-8C2CE00CF4EC}"/>
              </a:ext>
            </a:extLst>
          </p:cNvPr>
          <p:cNvSpPr>
            <a:spLocks noGrp="1"/>
          </p:cNvSpPr>
          <p:nvPr>
            <p:ph type="body" idx="1"/>
          </p:nvPr>
        </p:nvSpPr>
        <p:spPr/>
        <p:txBody>
          <a:bodyPr/>
          <a:lstStyle/>
          <a:p>
            <a:r>
              <a:rPr lang="ko-KR" altLang="en-US" dirty="0"/>
              <a:t>노드 </a:t>
            </a:r>
            <a:r>
              <a:rPr lang="ko-KR" altLang="en-US" dirty="0" err="1"/>
              <a:t>추가시</a:t>
            </a:r>
            <a:r>
              <a:rPr lang="ko-KR" altLang="en-US" dirty="0"/>
              <a:t> 각 단계별로 표현한 그림입니다</a:t>
            </a:r>
            <a:r>
              <a:rPr lang="en-US" altLang="ko-KR" dirty="0"/>
              <a:t>.</a:t>
            </a:r>
            <a:br>
              <a:rPr lang="en-US" altLang="ko-KR" dirty="0"/>
            </a:br>
            <a:r>
              <a:rPr lang="ko-KR" altLang="en-US" dirty="0"/>
              <a:t>예를 들면 </a:t>
            </a:r>
            <a:r>
              <a:rPr lang="en-US" altLang="ko-KR" dirty="0"/>
              <a:t>25</a:t>
            </a:r>
            <a:r>
              <a:rPr lang="ko-KR" altLang="en-US" dirty="0"/>
              <a:t> 노드를 추가할 경우에는 </a:t>
            </a:r>
            <a:r>
              <a:rPr lang="en-US" altLang="ko-KR" dirty="0"/>
              <a:t>25</a:t>
            </a:r>
            <a:r>
              <a:rPr lang="ko-KR" altLang="en-US" dirty="0"/>
              <a:t>의 </a:t>
            </a:r>
            <a:r>
              <a:rPr lang="en-US" altLang="ko-KR" dirty="0"/>
              <a:t>next</a:t>
            </a:r>
            <a:r>
              <a:rPr lang="ko-KR" altLang="en-US" dirty="0"/>
              <a:t>는 </a:t>
            </a:r>
            <a:r>
              <a:rPr lang="en-US" altLang="ko-KR" dirty="0"/>
              <a:t>30</a:t>
            </a:r>
            <a:r>
              <a:rPr lang="ko-KR" altLang="en-US" dirty="0"/>
              <a:t>의 </a:t>
            </a:r>
            <a:r>
              <a:rPr lang="en-US" altLang="ko-KR" dirty="0" err="1"/>
              <a:t>prev</a:t>
            </a:r>
            <a:r>
              <a:rPr lang="en-US" altLang="ko-KR" dirty="0"/>
              <a:t> </a:t>
            </a:r>
            <a:r>
              <a:rPr lang="ko-KR" altLang="en-US" dirty="0"/>
              <a:t>주소를 저장하고 </a:t>
            </a:r>
            <a:r>
              <a:rPr lang="en-US" altLang="ko-KR" dirty="0"/>
              <a:t>30</a:t>
            </a:r>
            <a:r>
              <a:rPr lang="ko-KR" altLang="en-US" dirty="0"/>
              <a:t>의 </a:t>
            </a:r>
            <a:r>
              <a:rPr lang="en-US" altLang="ko-KR" dirty="0" err="1"/>
              <a:t>prev</a:t>
            </a:r>
            <a:r>
              <a:rPr lang="ko-KR" altLang="en-US" dirty="0"/>
              <a:t>도 마찬가지로 </a:t>
            </a:r>
            <a:r>
              <a:rPr lang="en-US" altLang="ko-KR" dirty="0"/>
              <a:t>25</a:t>
            </a:r>
            <a:r>
              <a:rPr lang="ko-KR" altLang="en-US" dirty="0"/>
              <a:t>의 </a:t>
            </a:r>
            <a:r>
              <a:rPr lang="en-US" altLang="ko-KR" dirty="0"/>
              <a:t>next </a:t>
            </a:r>
            <a:r>
              <a:rPr lang="ko-KR" altLang="en-US" dirty="0"/>
              <a:t>주소를 저장합니다</a:t>
            </a:r>
            <a:r>
              <a:rPr lang="en-US" altLang="ko-KR" dirty="0"/>
              <a:t>.</a:t>
            </a:r>
            <a:br>
              <a:rPr lang="en-US" altLang="ko-KR" dirty="0"/>
            </a:br>
            <a:r>
              <a:rPr lang="ko-KR" altLang="en-US" dirty="0" err="1"/>
              <a:t>그다음은</a:t>
            </a:r>
            <a:r>
              <a:rPr lang="ko-KR" altLang="en-US" dirty="0"/>
              <a:t> </a:t>
            </a:r>
            <a:r>
              <a:rPr lang="en-US" altLang="ko-KR" dirty="0"/>
              <a:t>25</a:t>
            </a:r>
            <a:r>
              <a:rPr lang="ko-KR" altLang="en-US" dirty="0"/>
              <a:t>의 </a:t>
            </a:r>
            <a:r>
              <a:rPr lang="en-US" altLang="ko-KR" dirty="0" err="1"/>
              <a:t>prev</a:t>
            </a:r>
            <a:r>
              <a:rPr lang="ko-KR" altLang="en-US" dirty="0"/>
              <a:t>는 </a:t>
            </a:r>
            <a:r>
              <a:rPr lang="en-US" altLang="ko-KR" dirty="0"/>
              <a:t>20</a:t>
            </a:r>
            <a:r>
              <a:rPr lang="ko-KR" altLang="en-US" dirty="0"/>
              <a:t>의 </a:t>
            </a:r>
            <a:r>
              <a:rPr lang="en-US" altLang="ko-KR" dirty="0"/>
              <a:t>next </a:t>
            </a:r>
            <a:r>
              <a:rPr lang="ko-KR" altLang="en-US" dirty="0"/>
              <a:t>주소를 저장하고 </a:t>
            </a:r>
            <a:r>
              <a:rPr lang="en-US" altLang="ko-KR" dirty="0"/>
              <a:t>20</a:t>
            </a:r>
            <a:r>
              <a:rPr lang="ko-KR" altLang="en-US" dirty="0"/>
              <a:t>의 </a:t>
            </a:r>
            <a:r>
              <a:rPr lang="en-US" altLang="ko-KR" dirty="0"/>
              <a:t>next</a:t>
            </a:r>
            <a:r>
              <a:rPr lang="ko-KR" altLang="en-US" dirty="0"/>
              <a:t>는 </a:t>
            </a:r>
            <a:r>
              <a:rPr lang="en-US" altLang="ko-KR" dirty="0"/>
              <a:t>25</a:t>
            </a:r>
            <a:r>
              <a:rPr lang="ko-KR" altLang="en-US" dirty="0"/>
              <a:t>의 </a:t>
            </a:r>
            <a:r>
              <a:rPr lang="en-US" altLang="ko-KR" dirty="0" err="1"/>
              <a:t>prev</a:t>
            </a:r>
            <a:r>
              <a:rPr lang="en-US" altLang="ko-KR" dirty="0"/>
              <a:t> </a:t>
            </a:r>
            <a:r>
              <a:rPr lang="ko-KR" altLang="en-US" dirty="0"/>
              <a:t>주소를 저장하면 </a:t>
            </a:r>
            <a:r>
              <a:rPr lang="en-US" altLang="ko-KR" dirty="0"/>
              <a:t>25</a:t>
            </a:r>
            <a:r>
              <a:rPr lang="ko-KR" altLang="en-US" dirty="0"/>
              <a:t>의 노드가 추가 됩니다</a:t>
            </a:r>
            <a:r>
              <a:rPr lang="en-US" altLang="ko-KR" dirty="0"/>
              <a:t>.</a:t>
            </a:r>
            <a:br>
              <a:rPr lang="en-US" altLang="ko-KR" dirty="0"/>
            </a:br>
            <a:r>
              <a:rPr lang="ko-KR" altLang="en-US" dirty="0"/>
              <a:t>마찬가지로 노드 삭제도 위와 같은 과정을 통해 노드 삭제도 가능합니다</a:t>
            </a:r>
            <a:r>
              <a:rPr lang="en-US" altLang="ko-KR" dirty="0"/>
              <a:t>.</a:t>
            </a:r>
            <a:br>
              <a:rPr lang="en-US" altLang="ko-KR" dirty="0"/>
            </a:br>
            <a:endParaRPr lang="ko-KR" altLang="en-US" dirty="0"/>
          </a:p>
        </p:txBody>
      </p:sp>
    </p:spTree>
    <p:extLst>
      <p:ext uri="{BB962C8B-B14F-4D97-AF65-F5344CB8AC3E}">
        <p14:creationId xmlns:p14="http://schemas.microsoft.com/office/powerpoint/2010/main" val="12199047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55B786-BD36-524E-D5FE-5BC19C77E9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D224C6-3177-ED4D-3F39-A08684184C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A6168C-E867-2FEB-D111-4976FF034B63}"/>
              </a:ext>
            </a:extLst>
          </p:cNvPr>
          <p:cNvSpPr>
            <a:spLocks noGrp="1"/>
          </p:cNvSpPr>
          <p:nvPr>
            <p:ph type="body" idx="1"/>
          </p:nvPr>
        </p:nvSpPr>
        <p:spPr/>
        <p:txBody>
          <a:bodyPr/>
          <a:lstStyle/>
          <a:p>
            <a:r>
              <a:rPr lang="ko-KR" altLang="en-US" dirty="0"/>
              <a:t>첫 번째 섹션입니다. 스택 자료구조에 대해 설명하겠습니다. 스택은 이 프로젝트의 핵심 자료구조입니다.</a:t>
            </a:r>
          </a:p>
        </p:txBody>
      </p:sp>
    </p:spTree>
    <p:extLst>
      <p:ext uri="{BB962C8B-B14F-4D97-AF65-F5344CB8AC3E}">
        <p14:creationId xmlns:p14="http://schemas.microsoft.com/office/powerpoint/2010/main" val="18404023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AFE45-9949-97DB-7BDF-0C05F3E737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49638D-BFCB-6BBA-6392-5D0E5F3A3F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003F92-FDBB-D102-4B89-26655229E76C}"/>
              </a:ext>
            </a:extLst>
          </p:cNvPr>
          <p:cNvSpPr>
            <a:spLocks noGrp="1"/>
          </p:cNvSpPr>
          <p:nvPr>
            <p:ph type="body" idx="1"/>
          </p:nvPr>
        </p:nvSpPr>
        <p:spPr/>
        <p:txBody>
          <a:bodyPr/>
          <a:lstStyle/>
          <a:p>
            <a:r>
              <a:rPr lang="en-US" altLang="ko-KR" dirty="0" err="1"/>
              <a:t>Doubliked</a:t>
            </a:r>
            <a:r>
              <a:rPr lang="ko-KR" altLang="en-US" dirty="0"/>
              <a:t>을 활용한 시스템 구조 입니다</a:t>
            </a:r>
            <a:r>
              <a:rPr lang="en-US" altLang="ko-KR" dirty="0"/>
              <a:t>.</a:t>
            </a:r>
            <a:endParaRPr lang="ko-KR" altLang="en-US" dirty="0"/>
          </a:p>
        </p:txBody>
      </p:sp>
    </p:spTree>
    <p:extLst>
      <p:ext uri="{BB962C8B-B14F-4D97-AF65-F5344CB8AC3E}">
        <p14:creationId xmlns:p14="http://schemas.microsoft.com/office/powerpoint/2010/main" val="27194143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B0D889-AF90-58C7-409F-C19C98327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B39C7-031B-D6E1-AD4E-9A14C3F365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FBE24-A1FC-9F7A-1F76-B0B3D9FBF80E}"/>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첫번쨰는 </a:t>
            </a:r>
            <a:r>
              <a:rPr lang="ko-KR" altLang="ko-KR" dirty="0"/>
              <a:t>노드 구조체 내부 데이터 구성 </a:t>
            </a:r>
            <a:r>
              <a:rPr lang="en-US" altLang="ko-KR" dirty="0"/>
              <a:t> </a:t>
            </a:r>
            <a:r>
              <a:rPr lang="ko-KR" altLang="en-US" dirty="0"/>
              <a:t>입니다</a:t>
            </a:r>
            <a:r>
              <a:rPr lang="en-US" altLang="ko-KR" dirty="0"/>
              <a:t>.</a:t>
            </a:r>
            <a:br>
              <a:rPr lang="en-US" altLang="ko-KR" dirty="0"/>
            </a:br>
            <a:r>
              <a:rPr lang="ko-KR" altLang="en-US" dirty="0"/>
              <a:t>이전 노드를 </a:t>
            </a:r>
            <a:r>
              <a:rPr lang="ko-KR" altLang="en-US" dirty="0" err="1"/>
              <a:t>가르킬</a:t>
            </a:r>
            <a:r>
              <a:rPr lang="ko-KR" altLang="en-US" dirty="0"/>
              <a:t> </a:t>
            </a:r>
            <a:r>
              <a:rPr lang="ko-KR" altLang="en-US" dirty="0" err="1"/>
              <a:t>포인터랑</a:t>
            </a:r>
            <a:r>
              <a:rPr lang="ko-KR" altLang="en-US" dirty="0"/>
              <a:t> 다음 노드를 </a:t>
            </a:r>
            <a:r>
              <a:rPr lang="ko-KR" altLang="en-US" dirty="0" err="1"/>
              <a:t>가르킬</a:t>
            </a:r>
            <a:r>
              <a:rPr lang="ko-KR" altLang="en-US" dirty="0"/>
              <a:t> </a:t>
            </a:r>
            <a:r>
              <a:rPr lang="ko-KR" altLang="en-US" dirty="0" err="1"/>
              <a:t>포인터랑</a:t>
            </a:r>
            <a:r>
              <a:rPr lang="ko-KR" altLang="en-US" dirty="0"/>
              <a:t> 데이터가 있습니다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r>
            <a:br>
              <a:rPr lang="en-US" altLang="ko-KR" dirty="0"/>
            </a:br>
            <a:r>
              <a:rPr lang="en-US" altLang="ko-KR" dirty="0"/>
              <a:t>2</a:t>
            </a:r>
            <a:r>
              <a:rPr lang="ko-KR" altLang="en-US" dirty="0"/>
              <a:t>번째는 </a:t>
            </a:r>
            <a:r>
              <a:rPr lang="ko-KR" altLang="ko-KR" dirty="0"/>
              <a:t>리스트 구조체 내부 데이터 구성</a:t>
            </a:r>
            <a:r>
              <a:rPr lang="ko-KR" altLang="en-US" dirty="0"/>
              <a:t>입니다</a:t>
            </a:r>
            <a:r>
              <a:rPr lang="en-US" altLang="ko-KR" dirty="0"/>
              <a:t>.</a:t>
            </a:r>
            <a:br>
              <a:rPr lang="en-US" altLang="ko-KR" dirty="0"/>
            </a:br>
            <a:r>
              <a:rPr lang="ko-KR" altLang="en-US" dirty="0"/>
              <a:t>노드의 첫번쨰 노드의 주소를 </a:t>
            </a:r>
            <a:r>
              <a:rPr lang="ko-KR" altLang="en-US" dirty="0" err="1"/>
              <a:t>가르키는</a:t>
            </a:r>
            <a:r>
              <a:rPr lang="ko-KR" altLang="en-US" dirty="0"/>
              <a:t> 포인터 </a:t>
            </a:r>
            <a:r>
              <a:rPr lang="en-US" altLang="ko-KR" dirty="0"/>
              <a:t>head</a:t>
            </a:r>
            <a:r>
              <a:rPr lang="ko-KR" altLang="en-US" dirty="0"/>
              <a:t>랑 마지막 노드의 주소를 </a:t>
            </a:r>
            <a:r>
              <a:rPr lang="ko-KR" altLang="en-US" dirty="0" err="1"/>
              <a:t>가르키는</a:t>
            </a:r>
            <a:r>
              <a:rPr lang="ko-KR" altLang="en-US" dirty="0"/>
              <a:t> 포인터 </a:t>
            </a:r>
            <a:r>
              <a:rPr lang="en-US" altLang="ko-KR" dirty="0"/>
              <a:t>tail, </a:t>
            </a:r>
            <a:r>
              <a:rPr lang="ko-KR" altLang="ko-KR" dirty="0"/>
              <a:t>현재 탐색하</a:t>
            </a:r>
            <a:r>
              <a:rPr lang="ko-KR" altLang="en-US" dirty="0"/>
              <a:t>고 있는 노드를 </a:t>
            </a:r>
            <a:r>
              <a:rPr lang="ko-KR" altLang="en-US" dirty="0" err="1"/>
              <a:t>가르키는</a:t>
            </a:r>
            <a:r>
              <a:rPr lang="ko-KR" altLang="en-US" dirty="0"/>
              <a:t> 포인터 </a:t>
            </a:r>
            <a:r>
              <a:rPr lang="en-US" altLang="ko-KR" dirty="0" err="1"/>
              <a:t>curr</a:t>
            </a:r>
            <a:r>
              <a:rPr lang="ko-KR" altLang="en-US" dirty="0"/>
              <a:t>가 있습니다</a:t>
            </a:r>
            <a:r>
              <a:rPr lang="en-US" altLang="ko-KR" dirty="0"/>
              <a:t>.</a:t>
            </a:r>
            <a:br>
              <a:rPr lang="en-US" altLang="ko-KR" dirty="0"/>
            </a:br>
            <a:r>
              <a:rPr lang="ko-KR" altLang="en-US" dirty="0"/>
              <a:t>또한 생성된 노드가 몇 개인지 확인하는 </a:t>
            </a:r>
            <a:r>
              <a:rPr lang="en-US" altLang="ko-KR" dirty="0"/>
              <a:t>num of data</a:t>
            </a:r>
            <a:r>
              <a:rPr lang="ko-KR" altLang="en-US" dirty="0"/>
              <a:t>가 있습니다</a:t>
            </a:r>
            <a:r>
              <a:rPr lang="en-US" altLang="ko-KR" dirty="0"/>
              <a:t>.</a:t>
            </a:r>
            <a:br>
              <a:rPr lang="en-US" altLang="ko-KR" dirty="0"/>
            </a:br>
            <a:endParaRPr lang="ko-KR" altLang="en-US" dirty="0"/>
          </a:p>
        </p:txBody>
      </p:sp>
    </p:spTree>
    <p:extLst>
      <p:ext uri="{BB962C8B-B14F-4D97-AF65-F5344CB8AC3E}">
        <p14:creationId xmlns:p14="http://schemas.microsoft.com/office/powerpoint/2010/main" val="284722913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314F9C-6B93-0446-4C93-7414EA279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43FDCE-E437-F53A-26CF-307DAE2010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C6E358-A951-AD92-E160-403F3E9FC45C}"/>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err="1"/>
              <a:t>그다음은</a:t>
            </a:r>
            <a:r>
              <a:rPr lang="ko-KR" altLang="en-US" dirty="0"/>
              <a:t> 메인 함수 입니다</a:t>
            </a:r>
            <a:r>
              <a:rPr lang="en-US" altLang="ko-KR" dirty="0"/>
              <a:t>.</a:t>
            </a:r>
            <a:br>
              <a:rPr lang="en-US" altLang="ko-KR" dirty="0"/>
            </a:br>
            <a:r>
              <a:rPr lang="ko-KR" altLang="en-US" dirty="0" err="1"/>
              <a:t>보시는것처럼</a:t>
            </a:r>
            <a:r>
              <a:rPr lang="ko-KR" altLang="en-US" dirty="0"/>
              <a:t> </a:t>
            </a:r>
            <a:r>
              <a:rPr lang="en-US" altLang="ko-KR" dirty="0" err="1"/>
              <a:t>t_list</a:t>
            </a:r>
            <a:r>
              <a:rPr lang="en-US" altLang="ko-KR" dirty="0"/>
              <a:t> </a:t>
            </a:r>
            <a:r>
              <a:rPr lang="ko-KR" altLang="en-US" dirty="0"/>
              <a:t>형식인</a:t>
            </a:r>
            <a:r>
              <a:rPr lang="en-US" altLang="ko-KR" dirty="0"/>
              <a:t> my list</a:t>
            </a:r>
            <a:r>
              <a:rPr lang="ko-KR" altLang="en-US" dirty="0"/>
              <a:t>를 생성한 다음</a:t>
            </a:r>
            <a:r>
              <a:rPr lang="en-US" altLang="ko-KR" dirty="0"/>
              <a:t> </a:t>
            </a:r>
            <a:r>
              <a:rPr lang="ko-KR" altLang="en-US" dirty="0"/>
              <a:t>초기화 함수를 호출하여 </a:t>
            </a:r>
            <a:r>
              <a:rPr lang="en-US" altLang="ko-KR" dirty="0" err="1"/>
              <a:t>my_list</a:t>
            </a:r>
            <a:r>
              <a:rPr lang="ko-KR" altLang="en-US" dirty="0"/>
              <a:t>안에 </a:t>
            </a:r>
            <a:r>
              <a:rPr lang="ko-KR" altLang="en-US" dirty="0" err="1"/>
              <a:t>있을수</a:t>
            </a:r>
            <a:r>
              <a:rPr lang="ko-KR" altLang="en-US" dirty="0"/>
              <a:t> 있는 쓰레기 데이터를 초기화 시켜줍니다</a:t>
            </a:r>
            <a:r>
              <a:rPr lang="en-US" altLang="ko-KR" dirty="0"/>
              <a:t>.</a:t>
            </a:r>
            <a:br>
              <a:rPr lang="en-US" altLang="ko-KR" dirty="0"/>
            </a:br>
            <a:r>
              <a:rPr lang="ko-KR" altLang="en-US" dirty="0"/>
              <a:t>그 다음 반복문으로 사용자가 원하는 기능을 입력을 받아 각 함수를 호출하여 프로그램을 동작합니다</a:t>
            </a:r>
            <a:r>
              <a:rPr lang="en-US" altLang="ko-KR" dirty="0"/>
              <a:t>.</a:t>
            </a:r>
            <a:endParaRPr lang="ko-KR" altLang="en-US" dirty="0"/>
          </a:p>
        </p:txBody>
      </p:sp>
    </p:spTree>
    <p:extLst>
      <p:ext uri="{BB962C8B-B14F-4D97-AF65-F5344CB8AC3E}">
        <p14:creationId xmlns:p14="http://schemas.microsoft.com/office/powerpoint/2010/main" val="230381369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61197-9229-8531-0B6D-ADEC47E7C2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F4D62-C0EF-FBF0-4F1D-5CFD8BA0C2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4C29DB-2EC9-F1C8-BCBC-8DC339FADCAB}"/>
              </a:ext>
            </a:extLst>
          </p:cNvPr>
          <p:cNvSpPr>
            <a:spLocks noGrp="1"/>
          </p:cNvSpPr>
          <p:nvPr>
            <p:ph type="body" idx="1"/>
          </p:nvPr>
        </p:nvSpPr>
        <p:spPr/>
        <p:txBody>
          <a:bodyPr/>
          <a:lstStyle/>
          <a:p>
            <a:r>
              <a:rPr lang="ko-KR" altLang="en-US" dirty="0"/>
              <a:t>그 다음은 홀딩 함수 입니다</a:t>
            </a:r>
            <a:r>
              <a:rPr lang="en-US" altLang="ko-KR" dirty="0"/>
              <a:t>.</a:t>
            </a:r>
            <a:br>
              <a:rPr lang="en-US" altLang="ko-KR" dirty="0"/>
            </a:br>
            <a:r>
              <a:rPr lang="ko-KR" altLang="ko-KR" dirty="0"/>
              <a:t>리스트의 </a:t>
            </a:r>
            <a:r>
              <a:rPr lang="ko-KR" altLang="ko-KR" b="0" dirty="0"/>
              <a:t>가장 첫 번째 노드(</a:t>
            </a:r>
            <a:r>
              <a:rPr lang="ko-KR" altLang="ko-KR" sz="1200" b="0" kern="1200" dirty="0" err="1">
                <a:solidFill>
                  <a:schemeClr val="tx1"/>
                </a:solidFill>
                <a:latin typeface="+mn-lt"/>
                <a:ea typeface="+mn-ea"/>
                <a:cs typeface="+mn-cs"/>
              </a:rPr>
              <a:t>head</a:t>
            </a:r>
            <a:r>
              <a:rPr lang="ko-KR" altLang="ko-KR" b="0" dirty="0"/>
              <a:t>)부터 탐색을 시작합니다</a:t>
            </a:r>
            <a:r>
              <a:rPr lang="ko-KR" altLang="ko-KR" dirty="0"/>
              <a:t>.  </a:t>
            </a:r>
            <a:r>
              <a:rPr lang="ko-KR" altLang="ko-KR" sz="1200" kern="1200" dirty="0" err="1">
                <a:solidFill>
                  <a:schemeClr val="tx1"/>
                </a:solidFill>
                <a:latin typeface="+mn-lt"/>
                <a:ea typeface="+mn-ea"/>
                <a:cs typeface="+mn-cs"/>
              </a:rPr>
              <a:t>while</a:t>
            </a:r>
            <a:r>
              <a:rPr lang="ko-KR" altLang="ko-KR" dirty="0"/>
              <a:t> </a:t>
            </a:r>
            <a:r>
              <a:rPr lang="ko-KR" altLang="en-US" dirty="0"/>
              <a:t>반복문을</a:t>
            </a:r>
            <a:r>
              <a:rPr lang="ko-KR" altLang="ko-KR" dirty="0"/>
              <a:t> 돌며 리스트의 끝인 </a:t>
            </a:r>
            <a:r>
              <a:rPr lang="ko-KR" altLang="ko-KR" sz="1200" b="0" kern="1200" dirty="0" err="1">
                <a:solidFill>
                  <a:schemeClr val="tx1"/>
                </a:solidFill>
                <a:latin typeface="+mn-lt"/>
                <a:ea typeface="+mn-ea"/>
                <a:cs typeface="+mn-cs"/>
              </a:rPr>
              <a:t>NULL</a:t>
            </a:r>
            <a:r>
              <a:rPr lang="ko-KR" altLang="ko-KR" b="0" dirty="0" err="1"/>
              <a:t>을</a:t>
            </a:r>
            <a:r>
              <a:rPr lang="ko-KR" altLang="ko-KR" b="0" dirty="0"/>
              <a:t> 만날 때까지 노드를 하나씩 </a:t>
            </a:r>
            <a:r>
              <a:rPr lang="ko-KR" altLang="en-US" b="0" dirty="0" err="1"/>
              <a:t>스캔한뒤</a:t>
            </a:r>
            <a:r>
              <a:rPr lang="en-US" altLang="ko-KR" b="0" dirty="0"/>
              <a:t> </a:t>
            </a:r>
            <a:r>
              <a:rPr lang="ko-KR" altLang="ko-KR" dirty="0"/>
              <a:t>각 노드를 방문할 때마다 사용자가 입력한 종목 코드와 현재 노드의 종목 코드가 일치하는지 비교 알고리즘</a:t>
            </a:r>
            <a:r>
              <a:rPr lang="en-US" altLang="ko-KR" dirty="0"/>
              <a:t>(</a:t>
            </a:r>
            <a:r>
              <a:rPr lang="en-US" altLang="ko-KR" dirty="0" err="1"/>
              <a:t>strcmp</a:t>
            </a:r>
            <a:r>
              <a:rPr lang="en-US" altLang="ko-KR" dirty="0"/>
              <a:t>)</a:t>
            </a:r>
            <a:r>
              <a:rPr lang="ko-KR" altLang="ko-KR" dirty="0"/>
              <a:t>을 거칩니다. 만약 코드가 일치할 경우, 데이터 속성을 분석하여 매수 기록이면 </a:t>
            </a:r>
            <a:r>
              <a:rPr lang="ko-KR" altLang="ko-KR" b="0" dirty="0"/>
              <a:t>현재 수량에 주문 수량을 누적하고 매도 기록이면 주문 수량을 차감해 나갑니다.</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r>
            <a:br>
              <a:rPr lang="en-US" altLang="ko-KR" dirty="0"/>
            </a:br>
            <a:endParaRPr lang="en-US" altLang="ko-KR" dirty="0"/>
          </a:p>
        </p:txBody>
      </p:sp>
    </p:spTree>
    <p:extLst>
      <p:ext uri="{BB962C8B-B14F-4D97-AF65-F5344CB8AC3E}">
        <p14:creationId xmlns:p14="http://schemas.microsoft.com/office/powerpoint/2010/main" val="239955980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9031D-1200-D153-8417-5223F4DB431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B1FA71-8C7D-945C-264E-25C7C5D75C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9D87DE-9720-2E7A-FF08-B97A96C6B3AA}"/>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그 다음은 </a:t>
            </a:r>
            <a:r>
              <a:rPr lang="en-US" altLang="ko-KR" dirty="0"/>
              <a:t>sell</a:t>
            </a:r>
            <a:r>
              <a:rPr lang="ko-KR" altLang="en-US" dirty="0"/>
              <a:t> 함수 입니다</a:t>
            </a:r>
            <a:r>
              <a:rPr lang="en-US" altLang="ko-KR" dirty="0"/>
              <a:t>.</a:t>
            </a:r>
            <a:br>
              <a:rPr lang="en-US" altLang="ko-KR" dirty="0"/>
            </a:br>
            <a:r>
              <a:rPr lang="ko-KR" altLang="en-US" dirty="0"/>
              <a:t>사용자가 매도할 종목 코드를 입력할 경우 홀딩함수에 가지고 있는 종목 코드와 종목 수량을 비교하여 매도 수량이 보유 수량을 넘어가지 않도록 비교를 합니다</a:t>
            </a:r>
            <a:r>
              <a:rPr lang="en-US" altLang="ko-KR" dirty="0"/>
              <a:t>.</a:t>
            </a:r>
            <a:br>
              <a:rPr lang="en-US" altLang="ko-KR" dirty="0"/>
            </a:br>
            <a:r>
              <a:rPr lang="ko-KR" altLang="en-US" dirty="0"/>
              <a:t>검증을 통과할 경우에는 매도 기록을 새로운 노드에 작성을 합니다</a:t>
            </a:r>
            <a:r>
              <a:rPr lang="en-US" altLang="ko-KR" dirty="0"/>
              <a:t>.</a:t>
            </a:r>
            <a:br>
              <a:rPr lang="en-US" altLang="ko-KR" dirty="0"/>
            </a:br>
            <a:endParaRPr lang="en-US" altLang="ko-KR" dirty="0"/>
          </a:p>
        </p:txBody>
      </p:sp>
    </p:spTree>
    <p:extLst>
      <p:ext uri="{BB962C8B-B14F-4D97-AF65-F5344CB8AC3E}">
        <p14:creationId xmlns:p14="http://schemas.microsoft.com/office/powerpoint/2010/main" val="28537169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82C31D-87C6-F170-31F1-D566BC180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27496-E711-26D6-5DF5-8D0E46D7B8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441E6C-BDF0-E693-63C8-541C2EFADF2A}"/>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첫번쨰는 리스트 초기화 함수</a:t>
            </a:r>
            <a:endParaRPr lang="en-US" altLang="ko-KR" dirty="0"/>
          </a:p>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리스트를 처음 생성하고 메모리를 할당 </a:t>
            </a:r>
            <a:r>
              <a:rPr lang="ko-KR" altLang="en-US" dirty="0" err="1"/>
              <a:t>받을경우</a:t>
            </a:r>
            <a:r>
              <a:rPr lang="ko-KR" altLang="en-US" dirty="0"/>
              <a:t> 기존 메모리에 저장된 내부 데이터를 초기화 해주는 함수입니다</a:t>
            </a:r>
            <a:r>
              <a:rPr lang="en-US" altLang="ko-KR" dirty="0"/>
              <a:t>.</a:t>
            </a:r>
            <a:br>
              <a:rPr lang="en-US" altLang="ko-KR" dirty="0"/>
            </a:br>
            <a:r>
              <a:rPr lang="en-US" altLang="ko-KR" dirty="0"/>
              <a:t/>
            </a:r>
            <a:br>
              <a:rPr lang="en-US" altLang="ko-KR" dirty="0"/>
            </a:br>
            <a:r>
              <a:rPr lang="en-US" altLang="ko-KR" dirty="0"/>
              <a:t>2</a:t>
            </a:r>
            <a:r>
              <a:rPr lang="ko-KR" altLang="en-US" dirty="0" err="1"/>
              <a:t>번쨰는</a:t>
            </a:r>
            <a:r>
              <a:rPr lang="en-US" altLang="ko-KR" dirty="0"/>
              <a:t> </a:t>
            </a:r>
            <a:r>
              <a:rPr lang="ko-KR" altLang="en-US" dirty="0"/>
              <a:t>노드 추가 함수입니다</a:t>
            </a:r>
            <a:r>
              <a:rPr lang="en-US" altLang="ko-KR" dirty="0"/>
              <a:t>. </a:t>
            </a:r>
            <a:br>
              <a:rPr lang="en-US" altLang="ko-KR" dirty="0"/>
            </a:br>
            <a:r>
              <a:rPr lang="ko-KR" altLang="en-US" dirty="0"/>
              <a:t>사용자가 입력한데이터를 </a:t>
            </a:r>
            <a:r>
              <a:rPr lang="ko-KR" altLang="ko-KR" dirty="0"/>
              <a:t>1번 메뉴를 통해 입력한 주식 종목, 수량, 가격 등의 데이터를 바탕으로 기존 노드 뒤에 새 노드를 붙여주는 기능</a:t>
            </a:r>
            <a:r>
              <a:rPr lang="en-US" altLang="ko-KR" dirty="0"/>
              <a:t> </a:t>
            </a:r>
            <a:r>
              <a:rPr lang="ko-KR" altLang="en-US" dirty="0"/>
              <a:t>입니다</a:t>
            </a:r>
            <a:r>
              <a:rPr lang="en-US" altLang="ko-KR" dirty="0"/>
              <a:t>.</a:t>
            </a:r>
          </a:p>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dirty="0"/>
              <a:t/>
            </a:r>
            <a:br>
              <a:rPr lang="en-US" altLang="ko-KR" dirty="0"/>
            </a:br>
            <a:endParaRPr lang="en-US" altLang="ko-KR" dirty="0"/>
          </a:p>
        </p:txBody>
      </p:sp>
    </p:spTree>
    <p:extLst>
      <p:ext uri="{BB962C8B-B14F-4D97-AF65-F5344CB8AC3E}">
        <p14:creationId xmlns:p14="http://schemas.microsoft.com/office/powerpoint/2010/main" val="14927801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6DC0C-C2CF-7803-6330-85AD3B131F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DE3EE0-14F7-3E0B-7E4C-B4C2545E67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23DDC7-46BB-F495-089E-CF7B6768AD0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첫번쨰는 프로그램 </a:t>
            </a:r>
            <a:r>
              <a:rPr lang="ko-KR" altLang="en-US" dirty="0" err="1"/>
              <a:t>시작시</a:t>
            </a:r>
            <a:r>
              <a:rPr lang="ko-KR" altLang="en-US" dirty="0"/>
              <a:t> 메뉴를 보여주는 함수 입니다</a:t>
            </a:r>
            <a:r>
              <a:rPr lang="en-US" altLang="ko-KR" dirty="0"/>
              <a:t>.</a:t>
            </a:r>
            <a:br>
              <a:rPr lang="en-US" altLang="ko-KR" dirty="0"/>
            </a:br>
            <a:r>
              <a:rPr lang="en-US" altLang="ko-KR" dirty="0"/>
              <a:t/>
            </a:r>
            <a:br>
              <a:rPr lang="en-US" altLang="ko-KR" dirty="0"/>
            </a:br>
            <a:r>
              <a:rPr lang="en-US" altLang="ko-KR" dirty="0"/>
              <a:t/>
            </a:r>
            <a:br>
              <a:rPr lang="en-US" altLang="ko-KR" dirty="0"/>
            </a:br>
            <a:endParaRPr lang="en-US" altLang="ko-KR" dirty="0"/>
          </a:p>
        </p:txBody>
      </p:sp>
    </p:spTree>
    <p:extLst>
      <p:ext uri="{BB962C8B-B14F-4D97-AF65-F5344CB8AC3E}">
        <p14:creationId xmlns:p14="http://schemas.microsoft.com/office/powerpoint/2010/main" val="21999500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B7A6FC-8659-9202-A7E9-280EACB654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26D831-62DA-3140-0A0F-0A5CE43B79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A8123B-83FA-E996-3233-0B19944FB0EB}"/>
              </a:ext>
            </a:extLst>
          </p:cNvPr>
          <p:cNvSpPr>
            <a:spLocks noGrp="1"/>
          </p:cNvSpPr>
          <p:nvPr>
            <p:ph type="body" idx="1"/>
          </p:nvPr>
        </p:nvSpPr>
        <p:spPr/>
        <p: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dirty="0"/>
              <a:t>구동 화면 입니다</a:t>
            </a:r>
            <a:r>
              <a:rPr lang="en-US" altLang="ko-KR" dirty="0"/>
              <a:t>.</a:t>
            </a:r>
            <a:br>
              <a:rPr lang="en-US" altLang="ko-KR" dirty="0"/>
            </a:br>
            <a:r>
              <a:rPr lang="en-US" altLang="ko-KR" dirty="0"/>
              <a:t/>
            </a:r>
            <a:br>
              <a:rPr lang="en-US" altLang="ko-KR" dirty="0"/>
            </a:br>
            <a:endParaRPr lang="en-US" altLang="ko-KR" dirty="0"/>
          </a:p>
        </p:txBody>
      </p:sp>
    </p:spTree>
    <p:extLst>
      <p:ext uri="{BB962C8B-B14F-4D97-AF65-F5344CB8AC3E}">
        <p14:creationId xmlns:p14="http://schemas.microsoft.com/office/powerpoint/2010/main" val="29151630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dirty="0"/>
              <a:t>이상으로 스택 기반 계산기 발표를 마칩니다. 이 프로젝트를 통해 스택 자료구조의 실용적 활용법과 표기법 변환 알고리즘을 깊이 이해할 수 있었습니다. 질문 있으시면 말씀해 주세요. 감사합니다.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C0A8D6C-2166-C593-56DA-F8BC31AF5076}"/>
              </a:ext>
            </a:extLst>
          </p:cNvPr>
          <p:cNvSpPr>
            <a:spLocks noGrp="1"/>
          </p:cNvSpPr>
          <p:nvPr>
            <p:ph type="dt" sz="half" idx="10"/>
          </p:nvPr>
        </p:nvSpPr>
        <p:spPr/>
        <p:txBody>
          <a:bodyPr/>
          <a:lstStyle/>
          <a:p>
            <a:fld id="{772F5193-41CD-4063-B0C7-05E32D5C3CCF}" type="datetimeFigureOut">
              <a:rPr lang="ko-KR" altLang="en-US" smtClean="0"/>
              <a:t>2026-06-08</a:t>
            </a:fld>
            <a:endParaRPr lang="ko-KR" altLang="en-US"/>
          </a:p>
        </p:txBody>
      </p:sp>
      <p:sp>
        <p:nvSpPr>
          <p:cNvPr id="3" name="바닥글 개체 틀 2">
            <a:extLst>
              <a:ext uri="{FF2B5EF4-FFF2-40B4-BE49-F238E27FC236}">
                <a16:creationId xmlns:a16="http://schemas.microsoft.com/office/drawing/2014/main" id="{DC3355A0-B053-055C-A48D-03DCA4984DD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F8A9E0C0-C208-C880-12BC-22614B99B3AA}"/>
              </a:ext>
            </a:extLst>
          </p:cNvPr>
          <p:cNvSpPr>
            <a:spLocks noGrp="1"/>
          </p:cNvSpPr>
          <p:nvPr>
            <p:ph type="sldNum" sz="quarter" idx="12"/>
          </p:nvPr>
        </p:nvSpPr>
        <p:spPr/>
        <p:txBody>
          <a:bodyPr/>
          <a:lstStyle/>
          <a:p>
            <a:fld id="{9C41A778-E908-4432-BB93-29EAA93A69D6}" type="slidenum">
              <a:rPr lang="ko-KR" altLang="en-US" smtClean="0"/>
              <a:t>‹#›</a:t>
            </a:fld>
            <a:endParaRPr lang="ko-KR" altLang="en-US"/>
          </a:p>
        </p:txBody>
      </p:sp>
    </p:spTree>
    <p:extLst>
      <p:ext uri="{BB962C8B-B14F-4D97-AF65-F5344CB8AC3E}">
        <p14:creationId xmlns:p14="http://schemas.microsoft.com/office/powerpoint/2010/main" val="361054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1_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FC0A8D6C-2166-C593-56DA-F8BC31AF5076}"/>
              </a:ext>
            </a:extLst>
          </p:cNvPr>
          <p:cNvSpPr>
            <a:spLocks noGrp="1"/>
          </p:cNvSpPr>
          <p:nvPr>
            <p:ph type="dt" sz="half" idx="10"/>
          </p:nvPr>
        </p:nvSpPr>
        <p:spPr/>
        <p:txBody>
          <a:bodyPr/>
          <a:lstStyle/>
          <a:p>
            <a:fld id="{772F5193-41CD-4063-B0C7-05E32D5C3CCF}" type="datetimeFigureOut">
              <a:rPr lang="ko-KR" altLang="en-US" smtClean="0"/>
              <a:t>2026-06-08</a:t>
            </a:fld>
            <a:endParaRPr lang="ko-KR" altLang="en-US"/>
          </a:p>
        </p:txBody>
      </p:sp>
      <p:sp>
        <p:nvSpPr>
          <p:cNvPr id="3" name="바닥글 개체 틀 2">
            <a:extLst>
              <a:ext uri="{FF2B5EF4-FFF2-40B4-BE49-F238E27FC236}">
                <a16:creationId xmlns:a16="http://schemas.microsoft.com/office/drawing/2014/main" id="{DC3355A0-B053-055C-A48D-03DCA4984DD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F8A9E0C0-C208-C880-12BC-22614B99B3AA}"/>
              </a:ext>
            </a:extLst>
          </p:cNvPr>
          <p:cNvSpPr>
            <a:spLocks noGrp="1"/>
          </p:cNvSpPr>
          <p:nvPr>
            <p:ph type="sldNum" sz="quarter" idx="12"/>
          </p:nvPr>
        </p:nvSpPr>
        <p:spPr/>
        <p:txBody>
          <a:bodyPr/>
          <a:lstStyle/>
          <a:p>
            <a:fld id="{9C41A778-E908-4432-BB93-29EAA93A69D6}" type="slidenum">
              <a:rPr lang="ko-KR" altLang="en-US" smtClean="0"/>
              <a:t>‹#›</a:t>
            </a:fld>
            <a:endParaRPr lang="ko-KR" altLang="en-US"/>
          </a:p>
        </p:txBody>
      </p:sp>
    </p:spTree>
    <p:extLst>
      <p:ext uri="{BB962C8B-B14F-4D97-AF65-F5344CB8AC3E}">
        <p14:creationId xmlns:p14="http://schemas.microsoft.com/office/powerpoint/2010/main" val="30195779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D2A1902-5E0F-4C85-6B9B-CFB8C95C20E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56124FC5-232C-D503-51B2-2388BA70402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ADD67C67-55AD-BA6E-8404-A37284FE84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2F5193-41CD-4063-B0C7-05E32D5C3CCF}" type="datetimeFigureOut">
              <a:rPr lang="ko-KR" altLang="en-US" smtClean="0"/>
              <a:t>2026-06-08</a:t>
            </a:fld>
            <a:endParaRPr lang="ko-KR" altLang="en-US"/>
          </a:p>
        </p:txBody>
      </p:sp>
      <p:sp>
        <p:nvSpPr>
          <p:cNvPr id="5" name="바닥글 개체 틀 4">
            <a:extLst>
              <a:ext uri="{FF2B5EF4-FFF2-40B4-BE49-F238E27FC236}">
                <a16:creationId xmlns:a16="http://schemas.microsoft.com/office/drawing/2014/main" id="{E6847630-7AE5-2706-2404-F94D6A4CFA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75DA98C0-863E-3233-E6CC-C61C5150EE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41A778-E908-4432-BB93-29EAA93A69D6}" type="slidenum">
              <a:rPr lang="ko-KR" altLang="en-US" smtClean="0"/>
              <a:t>‹#›</a:t>
            </a:fld>
            <a:endParaRPr lang="ko-KR" altLang="en-US"/>
          </a:p>
        </p:txBody>
      </p:sp>
    </p:spTree>
    <p:extLst>
      <p:ext uri="{BB962C8B-B14F-4D97-AF65-F5344CB8AC3E}">
        <p14:creationId xmlns:p14="http://schemas.microsoft.com/office/powerpoint/2010/main" val="599667220"/>
      </p:ext>
    </p:extLst>
  </p:cSld>
  <p:clrMap bg1="lt1" tx1="dk1" bg2="lt2" tx2="dk2" accent1="accent1" accent2="accent2" accent3="accent3" accent4="accent4" accent5="accent5" accent6="accent6" hlink="hlink" folHlink="folHlink"/>
  <p:sldLayoutIdLst>
    <p:sldLayoutId id="2147483655" r:id="rId1"/>
    <p:sldLayoutId id="2147483660" r:id="rId2"/>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hyperlink" Target="doblelinked%20&#53076;&#46300;.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6956878-ABEC-AF9A-D2CE-3CA826B6E387}"/>
              </a:ext>
            </a:extLst>
          </p:cNvPr>
          <p:cNvSpPr txBox="1"/>
          <p:nvPr/>
        </p:nvSpPr>
        <p:spPr>
          <a:xfrm>
            <a:off x="465221" y="598749"/>
            <a:ext cx="11125161" cy="1785104"/>
          </a:xfrm>
          <a:prstGeom prst="rect">
            <a:avLst/>
          </a:prstGeom>
          <a:noFill/>
        </p:spPr>
        <p:txBody>
          <a:bodyPr wrap="none" rtlCol="0">
            <a:spAutoFit/>
          </a:bodyPr>
          <a:lstStyle/>
          <a:p>
            <a:r>
              <a:rPr lang="en-US" altLang="ko-KR" sz="6600" b="1" spc="-150" dirty="0">
                <a:solidFill>
                  <a:schemeClr val="bg1"/>
                </a:solidFill>
                <a:latin typeface="+mj-ea"/>
                <a:ea typeface="+mj-ea"/>
              </a:rPr>
              <a:t>Data Structure</a:t>
            </a:r>
          </a:p>
          <a:p>
            <a:r>
              <a:rPr lang="en-US" altLang="ko-KR" sz="4400" spc="-150" dirty="0">
                <a:solidFill>
                  <a:schemeClr val="bg1"/>
                </a:solidFill>
              </a:rPr>
              <a:t>Calculating Machine, </a:t>
            </a:r>
            <a:r>
              <a:rPr lang="en-US" altLang="ko-KR" sz="4400" spc="-150" dirty="0" smtClean="0">
                <a:solidFill>
                  <a:schemeClr val="bg1"/>
                </a:solidFill>
              </a:rPr>
              <a:t>Stock Trad</a:t>
            </a:r>
            <a:r>
              <a:rPr lang="en-US" altLang="ko-KR" sz="4400" spc="-150" dirty="0" smtClean="0">
                <a:solidFill>
                  <a:schemeClr val="bg1"/>
                </a:solidFill>
              </a:rPr>
              <a:t>ing </a:t>
            </a:r>
            <a:r>
              <a:rPr lang="en-US" altLang="ko-KR" sz="4400" spc="-150" dirty="0">
                <a:solidFill>
                  <a:schemeClr val="bg1"/>
                </a:solidFill>
              </a:rPr>
              <a:t>Program</a:t>
            </a:r>
            <a:endParaRPr lang="ko-KR" altLang="en-US" sz="4400" spc="-150" dirty="0">
              <a:solidFill>
                <a:schemeClr val="bg1"/>
              </a:solidFill>
            </a:endParaRPr>
          </a:p>
        </p:txBody>
      </p:sp>
      <p:sp>
        <p:nvSpPr>
          <p:cNvPr id="6" name="TextBox 5">
            <a:extLst>
              <a:ext uri="{FF2B5EF4-FFF2-40B4-BE49-F238E27FC236}">
                <a16:creationId xmlns:a16="http://schemas.microsoft.com/office/drawing/2014/main" id="{B1BEB93D-E860-DD72-63D2-BA2ACD126D65}"/>
              </a:ext>
            </a:extLst>
          </p:cNvPr>
          <p:cNvSpPr txBox="1"/>
          <p:nvPr/>
        </p:nvSpPr>
        <p:spPr>
          <a:xfrm>
            <a:off x="513347" y="2903620"/>
            <a:ext cx="1808508" cy="400110"/>
          </a:xfrm>
          <a:prstGeom prst="rect">
            <a:avLst/>
          </a:prstGeom>
          <a:noFill/>
        </p:spPr>
        <p:txBody>
          <a:bodyPr wrap="none" rtlCol="0">
            <a:spAutoFit/>
          </a:bodyPr>
          <a:lstStyle/>
          <a:p>
            <a:r>
              <a:rPr lang="ko-KR" altLang="en-US" sz="2000" dirty="0" err="1">
                <a:solidFill>
                  <a:schemeClr val="bg1"/>
                </a:solidFill>
              </a:rPr>
              <a:t>이세형</a:t>
            </a:r>
            <a:r>
              <a:rPr lang="ko-KR" altLang="en-US" sz="2000" dirty="0">
                <a:solidFill>
                  <a:schemeClr val="bg1"/>
                </a:solidFill>
              </a:rPr>
              <a:t> </a:t>
            </a:r>
            <a:r>
              <a:rPr lang="ko-KR" altLang="en-US" sz="2000" dirty="0" err="1">
                <a:solidFill>
                  <a:schemeClr val="bg1"/>
                </a:solidFill>
              </a:rPr>
              <a:t>이양배</a:t>
            </a:r>
            <a:endParaRPr lang="ko-KR" altLang="en-US" sz="2000" dirty="0">
              <a:solidFill>
                <a:schemeClr val="bg1"/>
              </a:solidFill>
            </a:endParaRPr>
          </a:p>
        </p:txBody>
      </p:sp>
      <p:cxnSp>
        <p:nvCxnSpPr>
          <p:cNvPr id="7" name="직선 연결선 6">
            <a:extLst>
              <a:ext uri="{FF2B5EF4-FFF2-40B4-BE49-F238E27FC236}">
                <a16:creationId xmlns:a16="http://schemas.microsoft.com/office/drawing/2014/main" id="{AA083F78-7EAC-088E-92A6-2CCA7C19FAAA}"/>
              </a:ext>
            </a:extLst>
          </p:cNvPr>
          <p:cNvCxnSpPr>
            <a:cxnSpLocks/>
          </p:cNvCxnSpPr>
          <p:nvPr/>
        </p:nvCxnSpPr>
        <p:spPr>
          <a:xfrm>
            <a:off x="513347" y="2542674"/>
            <a:ext cx="11700000"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962833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695F5617-8CB3-2C90-D484-7E78AF629F77}"/>
              </a:ext>
            </a:extLst>
          </p:cNvPr>
          <p:cNvCxnSpPr/>
          <p:nvPr/>
        </p:nvCxnSpPr>
        <p:spPr>
          <a:xfrm>
            <a:off x="144378" y="176464"/>
            <a:ext cx="12060000" cy="0"/>
          </a:xfrm>
          <a:prstGeom prst="line">
            <a:avLst/>
          </a:prstGeom>
          <a:ln w="76200">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4" name="직선 연결선 3">
            <a:extLst>
              <a:ext uri="{FF2B5EF4-FFF2-40B4-BE49-F238E27FC236}">
                <a16:creationId xmlns:a16="http://schemas.microsoft.com/office/drawing/2014/main" id="{8B4A3B93-1F0C-9A0F-F5F7-F4FD3957F3AF}"/>
              </a:ext>
            </a:extLst>
          </p:cNvPr>
          <p:cNvCxnSpPr/>
          <p:nvPr/>
        </p:nvCxnSpPr>
        <p:spPr>
          <a:xfrm>
            <a:off x="144378" y="6705601"/>
            <a:ext cx="12060000" cy="0"/>
          </a:xfrm>
          <a:prstGeom prst="line">
            <a:avLst/>
          </a:prstGeom>
          <a:ln w="3175">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748DE9C-B5AD-BAA4-4EBD-53FA1916E9A2}"/>
              </a:ext>
            </a:extLst>
          </p:cNvPr>
          <p:cNvSpPr txBox="1"/>
          <p:nvPr/>
        </p:nvSpPr>
        <p:spPr>
          <a:xfrm>
            <a:off x="852336" y="867035"/>
            <a:ext cx="982961" cy="646331"/>
          </a:xfrm>
          <a:prstGeom prst="rect">
            <a:avLst/>
          </a:prstGeom>
          <a:noFill/>
        </p:spPr>
        <p:txBody>
          <a:bodyPr wrap="none" rtlCol="0">
            <a:spAutoFit/>
          </a:bodyPr>
          <a:lstStyle/>
          <a:p>
            <a:r>
              <a:rPr lang="ko-KR" altLang="en-US" sz="3600" b="1" dirty="0">
                <a:solidFill>
                  <a:schemeClr val="accent1"/>
                </a:solidFill>
                <a:latin typeface="+mj-ea"/>
                <a:ea typeface="+mj-ea"/>
              </a:rPr>
              <a:t>목차</a:t>
            </a:r>
          </a:p>
        </p:txBody>
      </p:sp>
      <p:sp>
        <p:nvSpPr>
          <p:cNvPr id="7" name="TextBox 6">
            <a:extLst>
              <a:ext uri="{FF2B5EF4-FFF2-40B4-BE49-F238E27FC236}">
                <a16:creationId xmlns:a16="http://schemas.microsoft.com/office/drawing/2014/main" id="{CE308183-DB54-F711-9B69-C8C5752AF7AF}"/>
              </a:ext>
            </a:extLst>
          </p:cNvPr>
          <p:cNvSpPr txBox="1"/>
          <p:nvPr/>
        </p:nvSpPr>
        <p:spPr>
          <a:xfrm>
            <a:off x="390305" y="2100942"/>
            <a:ext cx="304892" cy="400110"/>
          </a:xfrm>
          <a:prstGeom prst="rect">
            <a:avLst/>
          </a:prstGeom>
          <a:noFill/>
        </p:spPr>
        <p:txBody>
          <a:bodyPr wrap="none" rtlCol="0">
            <a:spAutoFit/>
          </a:bodyPr>
          <a:lstStyle/>
          <a:p>
            <a:r>
              <a:rPr lang="en-US" altLang="ko-KR" sz="2000" b="1" dirty="0">
                <a:solidFill>
                  <a:schemeClr val="accent1"/>
                </a:solidFill>
              </a:rPr>
              <a:t>1</a:t>
            </a:r>
            <a:endParaRPr lang="ko-KR" altLang="en-US" sz="2000" b="1" dirty="0">
              <a:solidFill>
                <a:schemeClr val="accent1"/>
              </a:solidFill>
            </a:endParaRPr>
          </a:p>
        </p:txBody>
      </p:sp>
      <p:sp>
        <p:nvSpPr>
          <p:cNvPr id="8" name="TextBox 7">
            <a:extLst>
              <a:ext uri="{FF2B5EF4-FFF2-40B4-BE49-F238E27FC236}">
                <a16:creationId xmlns:a16="http://schemas.microsoft.com/office/drawing/2014/main" id="{BC5F8E78-68AC-B048-5336-EE835D4169E6}"/>
              </a:ext>
            </a:extLst>
          </p:cNvPr>
          <p:cNvSpPr txBox="1"/>
          <p:nvPr/>
        </p:nvSpPr>
        <p:spPr>
          <a:xfrm>
            <a:off x="1119065" y="2051262"/>
            <a:ext cx="2367956" cy="523220"/>
          </a:xfrm>
          <a:prstGeom prst="rect">
            <a:avLst/>
          </a:prstGeom>
          <a:noFill/>
        </p:spPr>
        <p:txBody>
          <a:bodyPr wrap="none" rtlCol="0">
            <a:spAutoFit/>
          </a:bodyPr>
          <a:lstStyle/>
          <a:p>
            <a:r>
              <a:rPr lang="en-US" altLang="ko-KR" sz="2800" spc="-300" dirty="0">
                <a:solidFill>
                  <a:schemeClr val="accent1"/>
                </a:solidFill>
              </a:rPr>
              <a:t>What is a Stack?</a:t>
            </a:r>
            <a:endParaRPr lang="ko-KR" altLang="en-US" sz="2800" spc="-300" dirty="0">
              <a:solidFill>
                <a:schemeClr val="accent1"/>
              </a:solidFill>
            </a:endParaRPr>
          </a:p>
        </p:txBody>
      </p:sp>
      <p:sp>
        <p:nvSpPr>
          <p:cNvPr id="9" name="TextBox 8">
            <a:extLst>
              <a:ext uri="{FF2B5EF4-FFF2-40B4-BE49-F238E27FC236}">
                <a16:creationId xmlns:a16="http://schemas.microsoft.com/office/drawing/2014/main" id="{313F5BEB-A29E-EC98-4681-67E53CB0B3C2}"/>
              </a:ext>
            </a:extLst>
          </p:cNvPr>
          <p:cNvSpPr txBox="1"/>
          <p:nvPr/>
        </p:nvSpPr>
        <p:spPr>
          <a:xfrm>
            <a:off x="390305" y="3177160"/>
            <a:ext cx="341760" cy="400110"/>
          </a:xfrm>
          <a:prstGeom prst="rect">
            <a:avLst/>
          </a:prstGeom>
          <a:noFill/>
        </p:spPr>
        <p:txBody>
          <a:bodyPr wrap="none" rtlCol="0">
            <a:spAutoFit/>
          </a:bodyPr>
          <a:lstStyle/>
          <a:p>
            <a:r>
              <a:rPr lang="en-US" altLang="ko-KR" sz="2000" b="1" dirty="0">
                <a:solidFill>
                  <a:schemeClr val="accent1"/>
                </a:solidFill>
              </a:rPr>
              <a:t>2</a:t>
            </a:r>
            <a:endParaRPr lang="ko-KR" altLang="en-US" sz="2000" b="1" dirty="0">
              <a:solidFill>
                <a:schemeClr val="accent1"/>
              </a:solidFill>
            </a:endParaRPr>
          </a:p>
        </p:txBody>
      </p:sp>
      <p:sp>
        <p:nvSpPr>
          <p:cNvPr id="10" name="TextBox 9">
            <a:extLst>
              <a:ext uri="{FF2B5EF4-FFF2-40B4-BE49-F238E27FC236}">
                <a16:creationId xmlns:a16="http://schemas.microsoft.com/office/drawing/2014/main" id="{15EF1453-BC33-8329-E803-35808F5E93AA}"/>
              </a:ext>
            </a:extLst>
          </p:cNvPr>
          <p:cNvSpPr txBox="1"/>
          <p:nvPr/>
        </p:nvSpPr>
        <p:spPr>
          <a:xfrm>
            <a:off x="1119065" y="3115605"/>
            <a:ext cx="1146468" cy="523220"/>
          </a:xfrm>
          <a:prstGeom prst="rect">
            <a:avLst/>
          </a:prstGeom>
          <a:noFill/>
        </p:spPr>
        <p:txBody>
          <a:bodyPr wrap="none" rtlCol="0">
            <a:spAutoFit/>
          </a:bodyPr>
          <a:lstStyle/>
          <a:p>
            <a:r>
              <a:rPr lang="ko-KR" altLang="en-US" sz="2800" spc="-300" dirty="0" smtClean="0">
                <a:solidFill>
                  <a:schemeClr val="accent1"/>
                </a:solidFill>
              </a:rPr>
              <a:t>계산기</a:t>
            </a:r>
            <a:endParaRPr lang="ko-KR" altLang="en-US" sz="2800" spc="-300" dirty="0">
              <a:solidFill>
                <a:schemeClr val="accent1"/>
              </a:solidFill>
            </a:endParaRPr>
          </a:p>
        </p:txBody>
      </p:sp>
      <p:sp>
        <p:nvSpPr>
          <p:cNvPr id="11" name="TextBox 10">
            <a:extLst>
              <a:ext uri="{FF2B5EF4-FFF2-40B4-BE49-F238E27FC236}">
                <a16:creationId xmlns:a16="http://schemas.microsoft.com/office/drawing/2014/main" id="{C67FBC02-6717-E326-10F3-EED37C2CE102}"/>
              </a:ext>
            </a:extLst>
          </p:cNvPr>
          <p:cNvSpPr txBox="1"/>
          <p:nvPr/>
        </p:nvSpPr>
        <p:spPr>
          <a:xfrm>
            <a:off x="390305" y="4253378"/>
            <a:ext cx="348172" cy="400110"/>
          </a:xfrm>
          <a:prstGeom prst="rect">
            <a:avLst/>
          </a:prstGeom>
          <a:noFill/>
        </p:spPr>
        <p:txBody>
          <a:bodyPr wrap="none" rtlCol="0">
            <a:spAutoFit/>
          </a:bodyPr>
          <a:lstStyle/>
          <a:p>
            <a:r>
              <a:rPr lang="en-US" altLang="ko-KR" sz="2000" b="1" dirty="0">
                <a:solidFill>
                  <a:schemeClr val="accent1"/>
                </a:solidFill>
              </a:rPr>
              <a:t>3</a:t>
            </a:r>
            <a:endParaRPr lang="ko-KR" altLang="en-US" sz="2000" b="1" dirty="0">
              <a:solidFill>
                <a:schemeClr val="accent1"/>
              </a:solidFill>
            </a:endParaRPr>
          </a:p>
        </p:txBody>
      </p:sp>
      <p:sp>
        <p:nvSpPr>
          <p:cNvPr id="12" name="TextBox 11">
            <a:extLst>
              <a:ext uri="{FF2B5EF4-FFF2-40B4-BE49-F238E27FC236}">
                <a16:creationId xmlns:a16="http://schemas.microsoft.com/office/drawing/2014/main" id="{475A99F0-E26F-49EF-19FA-5DA225DF25D0}"/>
              </a:ext>
            </a:extLst>
          </p:cNvPr>
          <p:cNvSpPr txBox="1"/>
          <p:nvPr/>
        </p:nvSpPr>
        <p:spPr>
          <a:xfrm>
            <a:off x="1119065" y="4191823"/>
            <a:ext cx="3775393" cy="523220"/>
          </a:xfrm>
          <a:prstGeom prst="rect">
            <a:avLst/>
          </a:prstGeom>
          <a:noFill/>
        </p:spPr>
        <p:txBody>
          <a:bodyPr wrap="none" rtlCol="0">
            <a:spAutoFit/>
          </a:bodyPr>
          <a:lstStyle/>
          <a:p>
            <a:r>
              <a:rPr lang="en-US" altLang="ko-KR" sz="2800" spc="-300" dirty="0">
                <a:solidFill>
                  <a:schemeClr val="accent1"/>
                </a:solidFill>
              </a:rPr>
              <a:t>What is a Double inked list?</a:t>
            </a:r>
            <a:endParaRPr lang="ko-KR" altLang="en-US" sz="2800" spc="-300" dirty="0">
              <a:solidFill>
                <a:schemeClr val="accent1"/>
              </a:solidFill>
            </a:endParaRPr>
          </a:p>
        </p:txBody>
      </p:sp>
      <p:sp>
        <p:nvSpPr>
          <p:cNvPr id="13" name="TextBox 12">
            <a:extLst>
              <a:ext uri="{FF2B5EF4-FFF2-40B4-BE49-F238E27FC236}">
                <a16:creationId xmlns:a16="http://schemas.microsoft.com/office/drawing/2014/main" id="{CEC5CD14-4594-1730-18CF-710701846C6F}"/>
              </a:ext>
            </a:extLst>
          </p:cNvPr>
          <p:cNvSpPr txBox="1"/>
          <p:nvPr/>
        </p:nvSpPr>
        <p:spPr>
          <a:xfrm>
            <a:off x="390305" y="5329596"/>
            <a:ext cx="352982" cy="400110"/>
          </a:xfrm>
          <a:prstGeom prst="rect">
            <a:avLst/>
          </a:prstGeom>
          <a:noFill/>
        </p:spPr>
        <p:txBody>
          <a:bodyPr wrap="none" rtlCol="0">
            <a:spAutoFit/>
          </a:bodyPr>
          <a:lstStyle/>
          <a:p>
            <a:r>
              <a:rPr lang="en-US" altLang="ko-KR" sz="2000" b="1" dirty="0">
                <a:solidFill>
                  <a:schemeClr val="accent1"/>
                </a:solidFill>
              </a:rPr>
              <a:t>4</a:t>
            </a:r>
            <a:endParaRPr lang="ko-KR" altLang="en-US" sz="2000" b="1" dirty="0">
              <a:solidFill>
                <a:schemeClr val="accent1"/>
              </a:solidFill>
            </a:endParaRPr>
          </a:p>
        </p:txBody>
      </p:sp>
      <p:sp>
        <p:nvSpPr>
          <p:cNvPr id="14" name="TextBox 13">
            <a:extLst>
              <a:ext uri="{FF2B5EF4-FFF2-40B4-BE49-F238E27FC236}">
                <a16:creationId xmlns:a16="http://schemas.microsoft.com/office/drawing/2014/main" id="{E4BB9965-4F0D-8E0C-4C5A-019C795529F3}"/>
              </a:ext>
            </a:extLst>
          </p:cNvPr>
          <p:cNvSpPr txBox="1"/>
          <p:nvPr/>
        </p:nvSpPr>
        <p:spPr>
          <a:xfrm>
            <a:off x="1119065" y="5268041"/>
            <a:ext cx="2912977" cy="523220"/>
          </a:xfrm>
          <a:prstGeom prst="rect">
            <a:avLst/>
          </a:prstGeom>
          <a:noFill/>
        </p:spPr>
        <p:txBody>
          <a:bodyPr wrap="none" rtlCol="0">
            <a:spAutoFit/>
          </a:bodyPr>
          <a:lstStyle/>
          <a:p>
            <a:r>
              <a:rPr lang="ko-KR" altLang="en-US" sz="2800" spc="-300" dirty="0" smtClean="0">
                <a:solidFill>
                  <a:schemeClr val="accent1"/>
                </a:solidFill>
              </a:rPr>
              <a:t>주식 매매 프로그램</a:t>
            </a:r>
            <a:endParaRPr lang="ko-KR" altLang="en-US" sz="2800" spc="-300" dirty="0">
              <a:solidFill>
                <a:schemeClr val="accent1"/>
              </a:solidFill>
            </a:endParaRPr>
          </a:p>
        </p:txBody>
      </p:sp>
      <p:sp>
        <p:nvSpPr>
          <p:cNvPr id="15" name="TextBox 14">
            <a:extLst>
              <a:ext uri="{FF2B5EF4-FFF2-40B4-BE49-F238E27FC236}">
                <a16:creationId xmlns:a16="http://schemas.microsoft.com/office/drawing/2014/main" id="{627B173C-BF4B-5D6B-514A-71779E736CDB}"/>
              </a:ext>
            </a:extLst>
          </p:cNvPr>
          <p:cNvSpPr txBox="1"/>
          <p:nvPr/>
        </p:nvSpPr>
        <p:spPr>
          <a:xfrm>
            <a:off x="2207636" y="1131333"/>
            <a:ext cx="1935145" cy="369332"/>
          </a:xfrm>
          <a:prstGeom prst="rect">
            <a:avLst/>
          </a:prstGeom>
          <a:noFill/>
        </p:spPr>
        <p:txBody>
          <a:bodyPr wrap="none" rtlCol="0">
            <a:spAutoFit/>
          </a:bodyPr>
          <a:lstStyle/>
          <a:p>
            <a:r>
              <a:rPr lang="en-US" altLang="ko-KR" dirty="0">
                <a:solidFill>
                  <a:schemeClr val="accent1"/>
                </a:solidFill>
                <a:latin typeface="+mn-ea"/>
              </a:rPr>
              <a:t>table of contents</a:t>
            </a:r>
            <a:endParaRPr lang="ko-KR" altLang="en-US" dirty="0">
              <a:solidFill>
                <a:schemeClr val="accent1"/>
              </a:solidFill>
              <a:latin typeface="+mn-ea"/>
            </a:endParaRPr>
          </a:p>
        </p:txBody>
      </p:sp>
      <p:pic>
        <p:nvPicPr>
          <p:cNvPr id="1026" name="Picture 2" descr="http://javakorean.com/wp2/wp-content/uploads/2014/03/%EC%9E%90%EB%A3%8C%EA%B5%AC%EC%A1%B0-%EC%8B%9C%EA%B0%81%ED%99%94.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71292" y="290202"/>
            <a:ext cx="10662461" cy="63863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31437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7" name="그룹 6">
            <a:extLst>
              <a:ext uri="{FF2B5EF4-FFF2-40B4-BE49-F238E27FC236}">
                <a16:creationId xmlns:a16="http://schemas.microsoft.com/office/drawing/2014/main" id="{ADC16E78-8819-8219-C770-75C3BD1E4D45}"/>
              </a:ext>
            </a:extLst>
          </p:cNvPr>
          <p:cNvGrpSpPr/>
          <p:nvPr/>
        </p:nvGrpSpPr>
        <p:grpSpPr>
          <a:xfrm>
            <a:off x="6817895" y="872277"/>
            <a:ext cx="5374105" cy="4483771"/>
            <a:chOff x="6817895" y="310803"/>
            <a:chExt cx="5374105" cy="4483771"/>
          </a:xfrm>
        </p:grpSpPr>
        <p:sp>
          <p:nvSpPr>
            <p:cNvPr id="2" name="TextBox 1">
              <a:extLst>
                <a:ext uri="{FF2B5EF4-FFF2-40B4-BE49-F238E27FC236}">
                  <a16:creationId xmlns:a16="http://schemas.microsoft.com/office/drawing/2014/main" id="{1E4D379F-0D7A-E10A-C2FD-B3F877B38412}"/>
                </a:ext>
              </a:extLst>
            </p:cNvPr>
            <p:cNvSpPr txBox="1"/>
            <p:nvPr/>
          </p:nvSpPr>
          <p:spPr>
            <a:xfrm>
              <a:off x="6817895" y="310803"/>
              <a:ext cx="1430200" cy="3154710"/>
            </a:xfrm>
            <a:prstGeom prst="rect">
              <a:avLst/>
            </a:prstGeom>
            <a:noFill/>
          </p:spPr>
          <p:txBody>
            <a:bodyPr wrap="none" rtlCol="0">
              <a:spAutoFit/>
            </a:bodyPr>
            <a:lstStyle/>
            <a:p>
              <a:r>
                <a:rPr lang="en-US" altLang="ko-KR" sz="19900" b="1" dirty="0">
                  <a:solidFill>
                    <a:schemeClr val="bg1"/>
                  </a:solidFill>
                  <a:latin typeface="+mj-ea"/>
                  <a:ea typeface="+mj-ea"/>
                </a:rPr>
                <a:t>1</a:t>
              </a:r>
              <a:endParaRPr lang="ko-KR" altLang="en-US" sz="19900" b="1" dirty="0">
                <a:solidFill>
                  <a:schemeClr val="bg1"/>
                </a:solidFill>
                <a:latin typeface="+mj-ea"/>
                <a:ea typeface="+mj-ea"/>
              </a:endParaRPr>
            </a:p>
          </p:txBody>
        </p:sp>
        <p:sp>
          <p:nvSpPr>
            <p:cNvPr id="3" name="TextBox 2">
              <a:extLst>
                <a:ext uri="{FF2B5EF4-FFF2-40B4-BE49-F238E27FC236}">
                  <a16:creationId xmlns:a16="http://schemas.microsoft.com/office/drawing/2014/main" id="{773F2969-8E1F-0403-B6B6-037C4B0D5DB2}"/>
                </a:ext>
              </a:extLst>
            </p:cNvPr>
            <p:cNvSpPr txBox="1"/>
            <p:nvPr/>
          </p:nvSpPr>
          <p:spPr>
            <a:xfrm>
              <a:off x="6817895" y="3350782"/>
              <a:ext cx="4230645" cy="830997"/>
            </a:xfrm>
            <a:prstGeom prst="rect">
              <a:avLst/>
            </a:prstGeom>
            <a:noFill/>
          </p:spPr>
          <p:txBody>
            <a:bodyPr wrap="none" rtlCol="0">
              <a:spAutoFit/>
            </a:bodyPr>
            <a:lstStyle/>
            <a:p>
              <a:r>
                <a:rPr lang="ko-KR" altLang="en-US" sz="4800" b="1" spc="-300" dirty="0">
                  <a:solidFill>
                    <a:schemeClr val="bg1"/>
                  </a:solidFill>
                  <a:latin typeface="+mn-ea"/>
                </a:rPr>
                <a:t>Stack 자료구조</a:t>
              </a:r>
            </a:p>
          </p:txBody>
        </p:sp>
        <p:cxnSp>
          <p:nvCxnSpPr>
            <p:cNvPr id="4" name="직선 연결선 3">
              <a:extLst>
                <a:ext uri="{FF2B5EF4-FFF2-40B4-BE49-F238E27FC236}">
                  <a16:creationId xmlns:a16="http://schemas.microsoft.com/office/drawing/2014/main" id="{F9894119-F233-DC33-68F5-7374CF0E569E}"/>
                </a:ext>
              </a:extLst>
            </p:cNvPr>
            <p:cNvCxnSpPr>
              <a:cxnSpLocks/>
            </p:cNvCxnSpPr>
            <p:nvPr/>
          </p:nvCxnSpPr>
          <p:spPr>
            <a:xfrm>
              <a:off x="6817895" y="4545921"/>
              <a:ext cx="537410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01021128-BA25-D6FF-656C-87D086ADE451}"/>
                </a:ext>
              </a:extLst>
            </p:cNvPr>
            <p:cNvCxnSpPr>
              <a:cxnSpLocks/>
            </p:cNvCxnSpPr>
            <p:nvPr/>
          </p:nvCxnSpPr>
          <p:spPr>
            <a:xfrm>
              <a:off x="6817895" y="4794574"/>
              <a:ext cx="537410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6744537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4084773" cy="769441"/>
          </a:xfrm>
          <a:prstGeom prst="rect">
            <a:avLst/>
          </a:prstGeom>
          <a:noFill/>
        </p:spPr>
        <p:txBody>
          <a:bodyPr wrap="none" rtlCol="0">
            <a:spAutoFit/>
          </a:bodyPr>
          <a:lstStyle/>
          <a:p>
            <a:r>
              <a:rPr lang="ko-KR" altLang="en-US" sz="4400" b="1" spc="-300" dirty="0">
                <a:solidFill>
                  <a:schemeClr val="accent1"/>
                </a:solidFill>
              </a:rPr>
              <a:t>Stack(스택)이란?</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A533E35D-5D7C-9775-C063-E4161DFEE7C5}"/>
              </a:ext>
            </a:extLst>
          </p:cNvPr>
          <p:cNvSpPr/>
          <p:nvPr/>
        </p:nvSpPr>
        <p:spPr>
          <a:xfrm>
            <a:off x="3136229" y="4953003"/>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A6EE510B-CBB0-C770-7D0F-5E75EBB47954}"/>
              </a:ext>
            </a:extLst>
          </p:cNvPr>
          <p:cNvSpPr txBox="1"/>
          <p:nvPr/>
        </p:nvSpPr>
        <p:spPr>
          <a:xfrm>
            <a:off x="3782703" y="5127175"/>
            <a:ext cx="4626588" cy="769441"/>
          </a:xfrm>
          <a:prstGeom prst="rect">
            <a:avLst/>
          </a:prstGeom>
          <a:noFill/>
        </p:spPr>
        <p:txBody>
          <a:bodyPr wrap="none" rtlCol="0">
            <a:spAutoFit/>
          </a:bodyPr>
          <a:lstStyle/>
          <a:p>
            <a:pPr algn="ctr"/>
            <a:r>
              <a:rPr lang="ko-KR" altLang="en-US" sz="4400" spc="-300" dirty="0" err="1">
                <a:solidFill>
                  <a:schemeClr val="bg1"/>
                </a:solidFill>
              </a:rPr>
              <a:t>Postfix</a:t>
            </a:r>
            <a:r>
              <a:rPr lang="ko-KR" altLang="en-US" sz="4400" spc="-300" dirty="0">
                <a:solidFill>
                  <a:schemeClr val="bg1"/>
                </a:solidFill>
              </a:rPr>
              <a:t> 계산의 핵심</a:t>
            </a:r>
          </a:p>
        </p:txBody>
      </p:sp>
      <p:sp>
        <p:nvSpPr>
          <p:cNvPr id="2" name="직사각형 1">
            <a:extLst>
              <a:ext uri="{FF2B5EF4-FFF2-40B4-BE49-F238E27FC236}">
                <a16:creationId xmlns:a16="http://schemas.microsoft.com/office/drawing/2014/main" id="{8E881CF8-446C-F0A6-C23F-73C4527DDE49}"/>
              </a:ext>
            </a:extLst>
          </p:cNvPr>
          <p:cNvSpPr/>
          <p:nvPr/>
        </p:nvSpPr>
        <p:spPr>
          <a:xfrm>
            <a:off x="3136231" y="1436234"/>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DA48AEE2-82B1-6D9E-5CBB-6918EC49DC2A}"/>
              </a:ext>
            </a:extLst>
          </p:cNvPr>
          <p:cNvSpPr txBox="1"/>
          <p:nvPr/>
        </p:nvSpPr>
        <p:spPr>
          <a:xfrm>
            <a:off x="3115053" y="1737403"/>
            <a:ext cx="5961888" cy="646331"/>
          </a:xfrm>
          <a:prstGeom prst="rect">
            <a:avLst/>
          </a:prstGeom>
          <a:noFill/>
        </p:spPr>
        <p:txBody>
          <a:bodyPr wrap="none" rtlCol="0">
            <a:spAutoFit/>
          </a:bodyPr>
          <a:lstStyle/>
          <a:p>
            <a:pPr algn="ctr"/>
            <a:r>
              <a:rPr lang="ko-KR" altLang="en-US" sz="3600" spc="-300" dirty="0">
                <a:solidFill>
                  <a:schemeClr val="bg1"/>
                </a:solidFill>
              </a:rPr>
              <a:t>LIFO: 마지막 삽입 → 먼저 꺼냄</a:t>
            </a:r>
          </a:p>
        </p:txBody>
      </p:sp>
      <p:sp>
        <p:nvSpPr>
          <p:cNvPr id="15" name="이등변 삼각형 14">
            <a:extLst>
              <a:ext uri="{FF2B5EF4-FFF2-40B4-BE49-F238E27FC236}">
                <a16:creationId xmlns:a16="http://schemas.microsoft.com/office/drawing/2014/main" id="{0C095E96-C995-F11E-293F-F485FC4E3223}"/>
              </a:ext>
            </a:extLst>
          </p:cNvPr>
          <p:cNvSpPr/>
          <p:nvPr/>
        </p:nvSpPr>
        <p:spPr>
          <a:xfrm rot="10800000">
            <a:off x="5956429" y="2775362"/>
            <a:ext cx="279134"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0B4B4394-508A-F880-4605-DC3ED74B1F1F}"/>
              </a:ext>
            </a:extLst>
          </p:cNvPr>
          <p:cNvSpPr/>
          <p:nvPr/>
        </p:nvSpPr>
        <p:spPr>
          <a:xfrm>
            <a:off x="3136230" y="3194618"/>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BEF7AA54-918F-E449-38FE-9DB519BCC48F}"/>
              </a:ext>
            </a:extLst>
          </p:cNvPr>
          <p:cNvSpPr txBox="1"/>
          <p:nvPr/>
        </p:nvSpPr>
        <p:spPr>
          <a:xfrm>
            <a:off x="3668089" y="3419588"/>
            <a:ext cx="4855816" cy="769441"/>
          </a:xfrm>
          <a:prstGeom prst="rect">
            <a:avLst/>
          </a:prstGeom>
          <a:noFill/>
        </p:spPr>
        <p:txBody>
          <a:bodyPr wrap="none" rtlCol="0">
            <a:spAutoFit/>
          </a:bodyPr>
          <a:lstStyle/>
          <a:p>
            <a:pPr algn="ctr"/>
            <a:r>
              <a:rPr lang="ko-KR" altLang="en-US" sz="4400" spc="-300" dirty="0">
                <a:solidFill>
                  <a:schemeClr val="bg1"/>
                </a:solidFill>
              </a:rPr>
              <a:t>PUSH / POP / PEEK</a:t>
            </a:r>
          </a:p>
        </p:txBody>
      </p:sp>
      <p:sp>
        <p:nvSpPr>
          <p:cNvPr id="16" name="이등변 삼각형 15">
            <a:extLst>
              <a:ext uri="{FF2B5EF4-FFF2-40B4-BE49-F238E27FC236}">
                <a16:creationId xmlns:a16="http://schemas.microsoft.com/office/drawing/2014/main" id="{8AECA5E6-28CC-9BFF-90A6-0B495ACFC4F9}"/>
              </a:ext>
            </a:extLst>
          </p:cNvPr>
          <p:cNvSpPr/>
          <p:nvPr/>
        </p:nvSpPr>
        <p:spPr>
          <a:xfrm rot="10800000">
            <a:off x="5956429" y="4533746"/>
            <a:ext cx="279134"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837012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Stack(스택)이란?</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A533E35D-5D7C-9775-C063-E4161DFEE7C5}"/>
              </a:ext>
            </a:extLst>
          </p:cNvPr>
          <p:cNvSpPr/>
          <p:nvPr/>
        </p:nvSpPr>
        <p:spPr>
          <a:xfrm>
            <a:off x="291428" y="4953003"/>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A6EE510B-CBB0-C770-7D0F-5E75EBB47954}"/>
              </a:ext>
            </a:extLst>
          </p:cNvPr>
          <p:cNvSpPr txBox="1"/>
          <p:nvPr/>
        </p:nvSpPr>
        <p:spPr>
          <a:xfrm>
            <a:off x="569171" y="5066691"/>
            <a:ext cx="2725769" cy="523220"/>
          </a:xfrm>
          <a:prstGeom prst="rect">
            <a:avLst/>
          </a:prstGeom>
          <a:noFill/>
        </p:spPr>
        <p:txBody>
          <a:bodyPr wrap="square" rtlCol="0">
            <a:spAutoFit/>
          </a:bodyPr>
          <a:lstStyle/>
          <a:p>
            <a:pPr algn="ctr"/>
            <a:r>
              <a:rPr lang="ko-KR" altLang="en-US" sz="2800" b="1" dirty="0">
                <a:solidFill>
                  <a:schemeClr val="bg1"/>
                </a:solidFill>
              </a:rPr>
              <a:t>POP( )</a:t>
            </a:r>
          </a:p>
        </p:txBody>
      </p:sp>
      <p:sp>
        <p:nvSpPr>
          <p:cNvPr id="2" name="직사각형 1">
            <a:extLst>
              <a:ext uri="{FF2B5EF4-FFF2-40B4-BE49-F238E27FC236}">
                <a16:creationId xmlns:a16="http://schemas.microsoft.com/office/drawing/2014/main" id="{8E881CF8-446C-F0A6-C23F-73C4527DDE49}"/>
              </a:ext>
            </a:extLst>
          </p:cNvPr>
          <p:cNvSpPr/>
          <p:nvPr/>
        </p:nvSpPr>
        <p:spPr>
          <a:xfrm>
            <a:off x="291430" y="1436234"/>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이등변 삼각형 14">
            <a:extLst>
              <a:ext uri="{FF2B5EF4-FFF2-40B4-BE49-F238E27FC236}">
                <a16:creationId xmlns:a16="http://schemas.microsoft.com/office/drawing/2014/main" id="{0C095E96-C995-F11E-293F-F485FC4E3223}"/>
              </a:ext>
            </a:extLst>
          </p:cNvPr>
          <p:cNvSpPr/>
          <p:nvPr/>
        </p:nvSpPr>
        <p:spPr>
          <a:xfrm rot="10800000">
            <a:off x="1797178" y="2775361"/>
            <a:ext cx="231963"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0B4B4394-508A-F880-4605-DC3ED74B1F1F}"/>
              </a:ext>
            </a:extLst>
          </p:cNvPr>
          <p:cNvSpPr/>
          <p:nvPr/>
        </p:nvSpPr>
        <p:spPr>
          <a:xfrm>
            <a:off x="291429" y="3194618"/>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BEF7AA54-918F-E449-38FE-9DB519BCC48F}"/>
              </a:ext>
            </a:extLst>
          </p:cNvPr>
          <p:cNvSpPr txBox="1"/>
          <p:nvPr/>
        </p:nvSpPr>
        <p:spPr>
          <a:xfrm>
            <a:off x="449113" y="3295763"/>
            <a:ext cx="3037847" cy="523220"/>
          </a:xfrm>
          <a:prstGeom prst="rect">
            <a:avLst/>
          </a:prstGeom>
          <a:noFill/>
        </p:spPr>
        <p:txBody>
          <a:bodyPr wrap="square" rtlCol="0">
            <a:spAutoFit/>
          </a:bodyPr>
          <a:lstStyle/>
          <a:p>
            <a:pPr algn="ctr"/>
            <a:r>
              <a:rPr lang="ko-KR" altLang="en-US" sz="2800" b="1" dirty="0">
                <a:solidFill>
                  <a:schemeClr val="bg1"/>
                </a:solidFill>
              </a:rPr>
              <a:t>PUSH(</a:t>
            </a:r>
            <a:r>
              <a:rPr lang="en-US" altLang="ko-KR" sz="2800" b="1" dirty="0">
                <a:solidFill>
                  <a:schemeClr val="bg1"/>
                </a:solidFill>
              </a:rPr>
              <a:t>2</a:t>
            </a:r>
            <a:r>
              <a:rPr lang="ko-KR" altLang="en-US" sz="2800" b="1" dirty="0">
                <a:solidFill>
                  <a:schemeClr val="bg1"/>
                </a:solidFill>
              </a:rPr>
              <a:t>)</a:t>
            </a:r>
          </a:p>
        </p:txBody>
      </p:sp>
      <p:sp>
        <p:nvSpPr>
          <p:cNvPr id="16" name="이등변 삼각형 15">
            <a:extLst>
              <a:ext uri="{FF2B5EF4-FFF2-40B4-BE49-F238E27FC236}">
                <a16:creationId xmlns:a16="http://schemas.microsoft.com/office/drawing/2014/main" id="{8AECA5E6-28CC-9BFF-90A6-0B495ACFC4F9}"/>
              </a:ext>
            </a:extLst>
          </p:cNvPr>
          <p:cNvSpPr/>
          <p:nvPr/>
        </p:nvSpPr>
        <p:spPr>
          <a:xfrm rot="10800000">
            <a:off x="1797178" y="4533745"/>
            <a:ext cx="231963"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17" name="그룹 16"/>
          <p:cNvGrpSpPr/>
          <p:nvPr/>
        </p:nvGrpSpPr>
        <p:grpSpPr>
          <a:xfrm>
            <a:off x="4015401" y="894549"/>
            <a:ext cx="7755258" cy="5490902"/>
            <a:chOff x="3934718" y="795936"/>
            <a:chExt cx="7755258" cy="5490902"/>
          </a:xfrm>
        </p:grpSpPr>
        <p:pic>
          <p:nvPicPr>
            <p:cNvPr id="18" name="Picture 2" descr="https://upload.wikimedia.org/wikipedia/commons/thumb/e/e4/Lifo_stack.svg/1280px-Lifo_stack.svg.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2527" y="1073836"/>
              <a:ext cx="7188507" cy="5026339"/>
            </a:xfrm>
            <a:prstGeom prst="rect">
              <a:avLst/>
            </a:prstGeom>
            <a:noFill/>
            <a:extLst>
              <a:ext uri="{909E8E84-426E-40DD-AFC4-6F175D3DCCD1}">
                <a14:hiddenFill xmlns:a14="http://schemas.microsoft.com/office/drawing/2010/main">
                  <a:solidFill>
                    <a:srgbClr val="FFFFFF"/>
                  </a:solidFill>
                </a14:hiddenFill>
              </a:ext>
            </a:extLst>
          </p:spPr>
        </p:pic>
        <p:sp>
          <p:nvSpPr>
            <p:cNvPr id="19" name="직사각형 18">
              <a:extLst>
                <a:ext uri="{FF2B5EF4-FFF2-40B4-BE49-F238E27FC236}">
                  <a16:creationId xmlns:a16="http://schemas.microsoft.com/office/drawing/2014/main" id="{B3BB2C81-2C36-BFAF-F8BF-91BC4B766C18}"/>
                </a:ext>
              </a:extLst>
            </p:cNvPr>
            <p:cNvSpPr/>
            <p:nvPr/>
          </p:nvSpPr>
          <p:spPr>
            <a:xfrm>
              <a:off x="3934718" y="795936"/>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B3BB2C81-2C36-BFAF-F8BF-91BC4B766C18}"/>
              </a:ext>
            </a:extLst>
          </p:cNvPr>
          <p:cNvSpPr/>
          <p:nvPr/>
        </p:nvSpPr>
        <p:spPr>
          <a:xfrm>
            <a:off x="-12561628" y="1538968"/>
            <a:ext cx="2994024" cy="4699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5CC9E76E-8EE8-7CCC-512E-560C10F30FD6}"/>
              </a:ext>
            </a:extLst>
          </p:cNvPr>
          <p:cNvSpPr/>
          <p:nvPr/>
        </p:nvSpPr>
        <p:spPr>
          <a:xfrm>
            <a:off x="-8864007" y="1538968"/>
            <a:ext cx="2994024" cy="4699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직사각형 23">
            <a:extLst>
              <a:ext uri="{FF2B5EF4-FFF2-40B4-BE49-F238E27FC236}">
                <a16:creationId xmlns:a16="http://schemas.microsoft.com/office/drawing/2014/main" id="{8440672B-A8EF-ECCB-0200-D3BA1AFF1A40}"/>
              </a:ext>
            </a:extLst>
          </p:cNvPr>
          <p:cNvSpPr/>
          <p:nvPr/>
        </p:nvSpPr>
        <p:spPr>
          <a:xfrm>
            <a:off x="-5166386" y="1538968"/>
            <a:ext cx="2994024" cy="4699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356C14DF-3209-6D48-AE52-BD33B68FF16F}"/>
              </a:ext>
            </a:extLst>
          </p:cNvPr>
          <p:cNvSpPr txBox="1"/>
          <p:nvPr/>
        </p:nvSpPr>
        <p:spPr>
          <a:xfrm>
            <a:off x="-9379863" y="3653002"/>
            <a:ext cx="328113" cy="369332"/>
          </a:xfrm>
          <a:prstGeom prst="rect">
            <a:avLst/>
          </a:prstGeom>
          <a:noFill/>
        </p:spPr>
        <p:txBody>
          <a:bodyPr wrap="none" rtlCol="0">
            <a:spAutoFit/>
          </a:bodyPr>
          <a:lstStyle/>
          <a:p>
            <a:r>
              <a:rPr lang="en-US" altLang="ko-KR" dirty="0">
                <a:latin typeface="+mn-ea"/>
              </a:rPr>
              <a:t>&gt;</a:t>
            </a:r>
            <a:endParaRPr lang="ko-KR" altLang="en-US" dirty="0">
              <a:latin typeface="+mn-ea"/>
            </a:endParaRPr>
          </a:p>
        </p:txBody>
      </p:sp>
      <p:sp>
        <p:nvSpPr>
          <p:cNvPr id="26" name="TextBox 25">
            <a:extLst>
              <a:ext uri="{FF2B5EF4-FFF2-40B4-BE49-F238E27FC236}">
                <a16:creationId xmlns:a16="http://schemas.microsoft.com/office/drawing/2014/main" id="{FA02CB6D-D812-5ABF-9060-B2F109FB9D3D}"/>
              </a:ext>
            </a:extLst>
          </p:cNvPr>
          <p:cNvSpPr txBox="1"/>
          <p:nvPr/>
        </p:nvSpPr>
        <p:spPr>
          <a:xfrm>
            <a:off x="-5682241" y="3653002"/>
            <a:ext cx="328113" cy="369332"/>
          </a:xfrm>
          <a:prstGeom prst="rect">
            <a:avLst/>
          </a:prstGeom>
          <a:noFill/>
        </p:spPr>
        <p:txBody>
          <a:bodyPr wrap="none" rtlCol="0">
            <a:spAutoFit/>
          </a:bodyPr>
          <a:lstStyle/>
          <a:p>
            <a:r>
              <a:rPr lang="en-US" altLang="ko-KR" dirty="0">
                <a:latin typeface="+mn-ea"/>
              </a:rPr>
              <a:t>&gt;</a:t>
            </a:r>
            <a:endParaRPr lang="ko-KR" altLang="en-US" dirty="0">
              <a:latin typeface="+mn-ea"/>
            </a:endParaRPr>
          </a:p>
        </p:txBody>
      </p:sp>
      <p:sp>
        <p:nvSpPr>
          <p:cNvPr id="27" name="직사각형 26">
            <a:extLst>
              <a:ext uri="{FF2B5EF4-FFF2-40B4-BE49-F238E27FC236}">
                <a16:creationId xmlns:a16="http://schemas.microsoft.com/office/drawing/2014/main" id="{9F677B01-8FB5-8DC6-B676-456D321BD005}"/>
              </a:ext>
            </a:extLst>
          </p:cNvPr>
          <p:cNvSpPr/>
          <p:nvPr/>
        </p:nvSpPr>
        <p:spPr>
          <a:xfrm>
            <a:off x="-12306963" y="1767568"/>
            <a:ext cx="2514600" cy="35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970E707E-BE05-865D-DA63-75A73413D84A}"/>
              </a:ext>
            </a:extLst>
          </p:cNvPr>
          <p:cNvSpPr/>
          <p:nvPr/>
        </p:nvSpPr>
        <p:spPr>
          <a:xfrm>
            <a:off x="-8611263" y="1767568"/>
            <a:ext cx="2514600" cy="35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5C1E65C2-5AE4-E701-E003-9BF73E2E398E}"/>
              </a:ext>
            </a:extLst>
          </p:cNvPr>
          <p:cNvSpPr/>
          <p:nvPr/>
        </p:nvSpPr>
        <p:spPr>
          <a:xfrm>
            <a:off x="-4915563" y="1767568"/>
            <a:ext cx="2514600" cy="3556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TextBox 29">
            <a:extLst>
              <a:ext uri="{FF2B5EF4-FFF2-40B4-BE49-F238E27FC236}">
                <a16:creationId xmlns:a16="http://schemas.microsoft.com/office/drawing/2014/main" id="{30454894-0171-1E1A-CBB1-970768B52DC7}"/>
              </a:ext>
            </a:extLst>
          </p:cNvPr>
          <p:cNvSpPr txBox="1"/>
          <p:nvPr/>
        </p:nvSpPr>
        <p:spPr>
          <a:xfrm>
            <a:off x="-11488771" y="3320113"/>
            <a:ext cx="848310" cy="400110"/>
          </a:xfrm>
          <a:prstGeom prst="rect">
            <a:avLst/>
          </a:prstGeom>
          <a:noFill/>
        </p:spPr>
        <p:txBody>
          <a:bodyPr wrap="none" rtlCol="0">
            <a:spAutoFit/>
          </a:bodyPr>
          <a:lstStyle/>
          <a:p>
            <a:pPr algn="ctr"/>
            <a:r>
              <a:rPr lang="ko-KR" altLang="en-US" sz="2000" b="1" dirty="0">
                <a:solidFill>
                  <a:schemeClr val="bg1"/>
                </a:solidFill>
              </a:rPr>
              <a:t>[ STACK ]</a:t>
            </a:r>
          </a:p>
        </p:txBody>
      </p:sp>
      <p:sp>
        <p:nvSpPr>
          <p:cNvPr id="31" name="TextBox 30">
            <a:extLst>
              <a:ext uri="{FF2B5EF4-FFF2-40B4-BE49-F238E27FC236}">
                <a16:creationId xmlns:a16="http://schemas.microsoft.com/office/drawing/2014/main" id="{15A4542A-93EF-F6D8-0FCA-0E92CE1BCF23}"/>
              </a:ext>
            </a:extLst>
          </p:cNvPr>
          <p:cNvSpPr txBox="1"/>
          <p:nvPr/>
        </p:nvSpPr>
        <p:spPr>
          <a:xfrm>
            <a:off x="-7778118" y="3320113"/>
            <a:ext cx="848310" cy="400110"/>
          </a:xfrm>
          <a:prstGeom prst="rect">
            <a:avLst/>
          </a:prstGeom>
          <a:noFill/>
        </p:spPr>
        <p:txBody>
          <a:bodyPr wrap="none" rtlCol="0">
            <a:spAutoFit/>
          </a:bodyPr>
          <a:lstStyle/>
          <a:p>
            <a:pPr algn="ctr"/>
            <a:r>
              <a:rPr lang="ko-KR" altLang="en-US" sz="2000" b="1" dirty="0">
                <a:solidFill>
                  <a:schemeClr val="bg1"/>
                </a:solidFill>
              </a:rPr>
              <a:t>PUSH(5)</a:t>
            </a:r>
          </a:p>
        </p:txBody>
      </p:sp>
      <p:sp>
        <p:nvSpPr>
          <p:cNvPr id="32" name="TextBox 31">
            <a:extLst>
              <a:ext uri="{FF2B5EF4-FFF2-40B4-BE49-F238E27FC236}">
                <a16:creationId xmlns:a16="http://schemas.microsoft.com/office/drawing/2014/main" id="{509B1A0F-2409-C589-9525-947EA3C1F374}"/>
              </a:ext>
            </a:extLst>
          </p:cNvPr>
          <p:cNvSpPr txBox="1"/>
          <p:nvPr/>
        </p:nvSpPr>
        <p:spPr>
          <a:xfrm>
            <a:off x="-4067465" y="3320113"/>
            <a:ext cx="848310" cy="400110"/>
          </a:xfrm>
          <a:prstGeom prst="rect">
            <a:avLst/>
          </a:prstGeom>
          <a:noFill/>
        </p:spPr>
        <p:txBody>
          <a:bodyPr wrap="none" rtlCol="0">
            <a:spAutoFit/>
          </a:bodyPr>
          <a:lstStyle/>
          <a:p>
            <a:pPr algn="ctr"/>
            <a:r>
              <a:rPr lang="ko-KR" altLang="en-US" sz="2000" b="1" dirty="0">
                <a:solidFill>
                  <a:schemeClr val="bg1"/>
                </a:solidFill>
              </a:rPr>
              <a:t>POP( )</a:t>
            </a:r>
          </a:p>
        </p:txBody>
      </p:sp>
      <p:sp>
        <p:nvSpPr>
          <p:cNvPr id="33" name="TextBox 32">
            <a:extLst>
              <a:ext uri="{FF2B5EF4-FFF2-40B4-BE49-F238E27FC236}">
                <a16:creationId xmlns:a16="http://schemas.microsoft.com/office/drawing/2014/main" id="{7353C824-937A-E110-963F-5F8649640E2E}"/>
              </a:ext>
            </a:extLst>
          </p:cNvPr>
          <p:cNvSpPr txBox="1"/>
          <p:nvPr/>
        </p:nvSpPr>
        <p:spPr>
          <a:xfrm>
            <a:off x="-12058914" y="5539468"/>
            <a:ext cx="2018501" cy="400110"/>
          </a:xfrm>
          <a:prstGeom prst="rect">
            <a:avLst/>
          </a:prstGeom>
          <a:noFill/>
        </p:spPr>
        <p:txBody>
          <a:bodyPr wrap="none" rtlCol="0">
            <a:spAutoFit/>
          </a:bodyPr>
          <a:lstStyle/>
          <a:p>
            <a:pPr algn="ctr"/>
            <a:r>
              <a:rPr lang="ko-KR" altLang="en-US" sz="1600" dirty="0"/>
              <a:t>top = -1 (빈 스택)</a:t>
            </a:r>
          </a:p>
        </p:txBody>
      </p:sp>
      <p:sp>
        <p:nvSpPr>
          <p:cNvPr id="34" name="TextBox 33">
            <a:extLst>
              <a:ext uri="{FF2B5EF4-FFF2-40B4-BE49-F238E27FC236}">
                <a16:creationId xmlns:a16="http://schemas.microsoft.com/office/drawing/2014/main" id="{3488B951-445B-EE1A-916B-A8BF6CFE58AC}"/>
              </a:ext>
            </a:extLst>
          </p:cNvPr>
          <p:cNvSpPr txBox="1"/>
          <p:nvPr/>
        </p:nvSpPr>
        <p:spPr>
          <a:xfrm>
            <a:off x="-8337780" y="5539468"/>
            <a:ext cx="2018501" cy="400110"/>
          </a:xfrm>
          <a:prstGeom prst="rect">
            <a:avLst/>
          </a:prstGeom>
          <a:noFill/>
        </p:spPr>
        <p:txBody>
          <a:bodyPr wrap="none" rtlCol="0">
            <a:spAutoFit/>
          </a:bodyPr>
          <a:lstStyle/>
          <a:p>
            <a:pPr algn="ctr"/>
            <a:r>
              <a:rPr lang="ko-KR" altLang="en-US" sz="1600" dirty="0"/>
              <a:t>top++, stack[top]=5</a:t>
            </a:r>
          </a:p>
        </p:txBody>
      </p:sp>
      <p:sp>
        <p:nvSpPr>
          <p:cNvPr id="35" name="TextBox 34">
            <a:extLst>
              <a:ext uri="{FF2B5EF4-FFF2-40B4-BE49-F238E27FC236}">
                <a16:creationId xmlns:a16="http://schemas.microsoft.com/office/drawing/2014/main" id="{51CA7F28-1BA9-633D-4F8E-6D730B3B3494}"/>
              </a:ext>
            </a:extLst>
          </p:cNvPr>
          <p:cNvSpPr txBox="1"/>
          <p:nvPr/>
        </p:nvSpPr>
        <p:spPr>
          <a:xfrm>
            <a:off x="-4616646" y="5539468"/>
            <a:ext cx="2018501" cy="400110"/>
          </a:xfrm>
          <a:prstGeom prst="rect">
            <a:avLst/>
          </a:prstGeom>
          <a:noFill/>
        </p:spPr>
        <p:txBody>
          <a:bodyPr wrap="none" rtlCol="0">
            <a:spAutoFit/>
          </a:bodyPr>
          <a:lstStyle/>
          <a:p>
            <a:pPr algn="ctr"/>
            <a:r>
              <a:rPr lang="ko-KR" altLang="en-US" sz="1600" dirty="0"/>
              <a:t>res=</a:t>
            </a:r>
            <a:r>
              <a:rPr lang="ko-KR" altLang="en-US" sz="1600" dirty="0" err="1"/>
              <a:t>stack</a:t>
            </a:r>
            <a:r>
              <a:rPr lang="ko-KR" altLang="en-US" sz="1600" dirty="0"/>
              <a:t>[</a:t>
            </a:r>
            <a:r>
              <a:rPr lang="ko-KR" altLang="en-US" sz="1600" dirty="0" err="1"/>
              <a:t>top</a:t>
            </a:r>
            <a:r>
              <a:rPr lang="ko-KR" altLang="en-US" sz="1600" dirty="0"/>
              <a:t>], top--</a:t>
            </a:r>
          </a:p>
        </p:txBody>
      </p:sp>
      <p:sp>
        <p:nvSpPr>
          <p:cNvPr id="36" name="TextBox 35">
            <a:extLst>
              <a:ext uri="{FF2B5EF4-FFF2-40B4-BE49-F238E27FC236}">
                <a16:creationId xmlns:a16="http://schemas.microsoft.com/office/drawing/2014/main" id="{BEF7AA54-918F-E449-38FE-9DB519BCC48F}"/>
              </a:ext>
            </a:extLst>
          </p:cNvPr>
          <p:cNvSpPr txBox="1"/>
          <p:nvPr/>
        </p:nvSpPr>
        <p:spPr>
          <a:xfrm>
            <a:off x="411013" y="1505063"/>
            <a:ext cx="3037847" cy="523220"/>
          </a:xfrm>
          <a:prstGeom prst="rect">
            <a:avLst/>
          </a:prstGeom>
          <a:noFill/>
        </p:spPr>
        <p:txBody>
          <a:bodyPr wrap="square" rtlCol="0">
            <a:spAutoFit/>
          </a:bodyPr>
          <a:lstStyle/>
          <a:p>
            <a:pPr algn="ctr"/>
            <a:r>
              <a:rPr lang="ko-KR" altLang="en-US" sz="2800" b="1" dirty="0">
                <a:solidFill>
                  <a:schemeClr val="bg1"/>
                </a:solidFill>
              </a:rPr>
              <a:t>[ STACK ]</a:t>
            </a:r>
          </a:p>
        </p:txBody>
      </p:sp>
      <p:sp>
        <p:nvSpPr>
          <p:cNvPr id="37" name="TextBox 36">
            <a:extLst>
              <a:ext uri="{FF2B5EF4-FFF2-40B4-BE49-F238E27FC236}">
                <a16:creationId xmlns:a16="http://schemas.microsoft.com/office/drawing/2014/main" id="{7353C824-937A-E110-963F-5F8649640E2E}"/>
              </a:ext>
            </a:extLst>
          </p:cNvPr>
          <p:cNvSpPr txBox="1"/>
          <p:nvPr/>
        </p:nvSpPr>
        <p:spPr>
          <a:xfrm>
            <a:off x="575340" y="2246789"/>
            <a:ext cx="2799164" cy="338554"/>
          </a:xfrm>
          <a:prstGeom prst="rect">
            <a:avLst/>
          </a:prstGeom>
          <a:noFill/>
        </p:spPr>
        <p:txBody>
          <a:bodyPr wrap="none" rtlCol="0">
            <a:spAutoFit/>
          </a:bodyPr>
          <a:lstStyle/>
          <a:p>
            <a:pPr algn="ctr"/>
            <a:r>
              <a:rPr lang="ko-KR" altLang="en-US" sz="1600" dirty="0"/>
              <a:t>top = </a:t>
            </a:r>
            <a:r>
              <a:rPr lang="en-US" altLang="ko-KR" sz="1600" dirty="0"/>
              <a:t>0</a:t>
            </a:r>
            <a:r>
              <a:rPr lang="ko-KR" altLang="en-US" sz="1600" dirty="0"/>
              <a:t> (스택에 </a:t>
            </a:r>
            <a:r>
              <a:rPr lang="en-US" altLang="ko-KR" sz="1600" dirty="0"/>
              <a:t>1</a:t>
            </a:r>
            <a:r>
              <a:rPr lang="ko-KR" altLang="en-US" sz="1600" dirty="0"/>
              <a:t>개가 있음)</a:t>
            </a:r>
          </a:p>
        </p:txBody>
      </p:sp>
      <p:sp>
        <p:nvSpPr>
          <p:cNvPr id="38" name="TextBox 37">
            <a:extLst>
              <a:ext uri="{FF2B5EF4-FFF2-40B4-BE49-F238E27FC236}">
                <a16:creationId xmlns:a16="http://schemas.microsoft.com/office/drawing/2014/main" id="{3488B951-445B-EE1A-916B-A8BF6CFE58AC}"/>
              </a:ext>
            </a:extLst>
          </p:cNvPr>
          <p:cNvSpPr txBox="1"/>
          <p:nvPr/>
        </p:nvSpPr>
        <p:spPr>
          <a:xfrm>
            <a:off x="915081" y="3986221"/>
            <a:ext cx="2165979" cy="338554"/>
          </a:xfrm>
          <a:prstGeom prst="rect">
            <a:avLst/>
          </a:prstGeom>
          <a:noFill/>
        </p:spPr>
        <p:txBody>
          <a:bodyPr wrap="none" rtlCol="0">
            <a:spAutoFit/>
          </a:bodyPr>
          <a:lstStyle/>
          <a:p>
            <a:pPr algn="ctr"/>
            <a:r>
              <a:rPr lang="ko-KR" altLang="en-US" sz="1600" dirty="0"/>
              <a:t>top++, </a:t>
            </a:r>
            <a:r>
              <a:rPr lang="ko-KR" altLang="en-US" sz="1600" dirty="0" err="1"/>
              <a:t>stack</a:t>
            </a:r>
            <a:r>
              <a:rPr lang="ko-KR" altLang="en-US" sz="1600" dirty="0"/>
              <a:t>[</a:t>
            </a:r>
            <a:r>
              <a:rPr lang="ko-KR" altLang="en-US" sz="1600" dirty="0" err="1"/>
              <a:t>top</a:t>
            </a:r>
            <a:r>
              <a:rPr lang="ko-KR" altLang="en-US" sz="1600" dirty="0"/>
              <a:t>]=</a:t>
            </a:r>
            <a:r>
              <a:rPr lang="en-US" altLang="ko-KR" sz="1600" dirty="0"/>
              <a:t>2</a:t>
            </a:r>
            <a:endParaRPr lang="ko-KR" altLang="en-US" sz="1600" dirty="0"/>
          </a:p>
        </p:txBody>
      </p:sp>
      <p:sp>
        <p:nvSpPr>
          <p:cNvPr id="39" name="TextBox 38">
            <a:extLst>
              <a:ext uri="{FF2B5EF4-FFF2-40B4-BE49-F238E27FC236}">
                <a16:creationId xmlns:a16="http://schemas.microsoft.com/office/drawing/2014/main" id="{51CA7F28-1BA9-633D-4F8E-6D730B3B3494}"/>
              </a:ext>
            </a:extLst>
          </p:cNvPr>
          <p:cNvSpPr txBox="1"/>
          <p:nvPr/>
        </p:nvSpPr>
        <p:spPr>
          <a:xfrm>
            <a:off x="992140" y="5778862"/>
            <a:ext cx="2018501" cy="400110"/>
          </a:xfrm>
          <a:prstGeom prst="rect">
            <a:avLst/>
          </a:prstGeom>
          <a:noFill/>
        </p:spPr>
        <p:txBody>
          <a:bodyPr wrap="none" rtlCol="0">
            <a:spAutoFit/>
          </a:bodyPr>
          <a:lstStyle/>
          <a:p>
            <a:pPr algn="ctr"/>
            <a:r>
              <a:rPr lang="ko-KR" altLang="en-US" sz="1600" dirty="0"/>
              <a:t>res=stack[top], top--</a:t>
            </a:r>
          </a:p>
        </p:txBody>
      </p:sp>
    </p:spTree>
    <p:extLst>
      <p:ext uri="{BB962C8B-B14F-4D97-AF65-F5344CB8AC3E}">
        <p14:creationId xmlns:p14="http://schemas.microsoft.com/office/powerpoint/2010/main" val="16360543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7" name="그룹 6">
            <a:extLst>
              <a:ext uri="{FF2B5EF4-FFF2-40B4-BE49-F238E27FC236}">
                <a16:creationId xmlns:a16="http://schemas.microsoft.com/office/drawing/2014/main" id="{ADC16E78-8819-8219-C770-75C3BD1E4D45}"/>
              </a:ext>
            </a:extLst>
          </p:cNvPr>
          <p:cNvGrpSpPr/>
          <p:nvPr/>
        </p:nvGrpSpPr>
        <p:grpSpPr>
          <a:xfrm>
            <a:off x="6817895" y="872277"/>
            <a:ext cx="5374105" cy="4483771"/>
            <a:chOff x="6817895" y="310803"/>
            <a:chExt cx="5374105" cy="4483771"/>
          </a:xfrm>
        </p:grpSpPr>
        <p:sp>
          <p:nvSpPr>
            <p:cNvPr id="2" name="TextBox 1">
              <a:extLst>
                <a:ext uri="{FF2B5EF4-FFF2-40B4-BE49-F238E27FC236}">
                  <a16:creationId xmlns:a16="http://schemas.microsoft.com/office/drawing/2014/main" id="{1E4D379F-0D7A-E10A-C2FD-B3F877B38412}"/>
                </a:ext>
              </a:extLst>
            </p:cNvPr>
            <p:cNvSpPr txBox="1"/>
            <p:nvPr/>
          </p:nvSpPr>
          <p:spPr>
            <a:xfrm>
              <a:off x="6817895" y="310803"/>
              <a:ext cx="1782860" cy="3154710"/>
            </a:xfrm>
            <a:prstGeom prst="rect">
              <a:avLst/>
            </a:prstGeom>
            <a:noFill/>
          </p:spPr>
          <p:txBody>
            <a:bodyPr wrap="none" rtlCol="0">
              <a:spAutoFit/>
            </a:bodyPr>
            <a:lstStyle/>
            <a:p>
              <a:r>
                <a:rPr lang="en-US" altLang="ko-KR" sz="19900" b="1" dirty="0">
                  <a:solidFill>
                    <a:schemeClr val="bg1"/>
                  </a:solidFill>
                  <a:latin typeface="+mj-ea"/>
                  <a:ea typeface="+mj-ea"/>
                </a:rPr>
                <a:t>2</a:t>
              </a:r>
              <a:endParaRPr lang="ko-KR" altLang="en-US" sz="19900" b="1" dirty="0">
                <a:solidFill>
                  <a:schemeClr val="bg1"/>
                </a:solidFill>
                <a:latin typeface="+mj-ea"/>
                <a:ea typeface="+mj-ea"/>
              </a:endParaRPr>
            </a:p>
          </p:txBody>
        </p:sp>
        <p:sp>
          <p:nvSpPr>
            <p:cNvPr id="3" name="TextBox 2">
              <a:extLst>
                <a:ext uri="{FF2B5EF4-FFF2-40B4-BE49-F238E27FC236}">
                  <a16:creationId xmlns:a16="http://schemas.microsoft.com/office/drawing/2014/main" id="{773F2969-8E1F-0403-B6B6-037C4B0D5DB2}"/>
                </a:ext>
              </a:extLst>
            </p:cNvPr>
            <p:cNvSpPr txBox="1"/>
            <p:nvPr/>
          </p:nvSpPr>
          <p:spPr>
            <a:xfrm>
              <a:off x="6817895" y="3350782"/>
              <a:ext cx="1502334" cy="677108"/>
            </a:xfrm>
            <a:prstGeom prst="rect">
              <a:avLst/>
            </a:prstGeom>
            <a:noFill/>
          </p:spPr>
          <p:txBody>
            <a:bodyPr wrap="none" rtlCol="0">
              <a:spAutoFit/>
            </a:bodyPr>
            <a:lstStyle/>
            <a:p>
              <a:r>
                <a:rPr lang="ko-KR" altLang="en-US" sz="3800" b="1" spc="-300" dirty="0" smtClean="0">
                  <a:solidFill>
                    <a:schemeClr val="bg1"/>
                  </a:solidFill>
                  <a:latin typeface="+mn-ea"/>
                </a:rPr>
                <a:t>계산기</a:t>
              </a:r>
              <a:endParaRPr lang="ko-KR" altLang="en-US" sz="3800" b="1" spc="-300" dirty="0">
                <a:solidFill>
                  <a:schemeClr val="bg1"/>
                </a:solidFill>
                <a:latin typeface="+mn-ea"/>
              </a:endParaRPr>
            </a:p>
          </p:txBody>
        </p:sp>
        <p:cxnSp>
          <p:nvCxnSpPr>
            <p:cNvPr id="4" name="직선 연결선 3">
              <a:extLst>
                <a:ext uri="{FF2B5EF4-FFF2-40B4-BE49-F238E27FC236}">
                  <a16:creationId xmlns:a16="http://schemas.microsoft.com/office/drawing/2014/main" id="{F9894119-F233-DC33-68F5-7374CF0E569E}"/>
                </a:ext>
              </a:extLst>
            </p:cNvPr>
            <p:cNvCxnSpPr>
              <a:cxnSpLocks/>
            </p:cNvCxnSpPr>
            <p:nvPr/>
          </p:nvCxnSpPr>
          <p:spPr>
            <a:xfrm>
              <a:off x="6817895" y="4545921"/>
              <a:ext cx="5374105"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01021128-BA25-D6FF-656C-87D086ADE451}"/>
                </a:ext>
              </a:extLst>
            </p:cNvPr>
            <p:cNvCxnSpPr>
              <a:cxnSpLocks/>
            </p:cNvCxnSpPr>
            <p:nvPr/>
          </p:nvCxnSpPr>
          <p:spPr>
            <a:xfrm>
              <a:off x="6817895" y="4794574"/>
              <a:ext cx="537410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8416495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32893" cy="338554"/>
          </a:xfrm>
          <a:prstGeom prst="rect">
            <a:avLst/>
          </a:prstGeom>
          <a:noFill/>
        </p:spPr>
        <p:txBody>
          <a:bodyPr wrap="none" rtlCol="0">
            <a:spAutoFit/>
          </a:bodyPr>
          <a:lstStyle/>
          <a:p>
            <a:r>
              <a:rPr lang="en-US" altLang="ko-KR" sz="1600" dirty="0">
                <a:solidFill>
                  <a:schemeClr val="accent1"/>
                </a:solidFill>
              </a:rPr>
              <a:t>Part 2</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중위 → 후위 변환 4단계</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 name="직사각형 1">
            <a:extLst>
              <a:ext uri="{FF2B5EF4-FFF2-40B4-BE49-F238E27FC236}">
                <a16:creationId xmlns:a16="http://schemas.microsoft.com/office/drawing/2014/main" id="{D60A2222-1861-0C93-F3FF-B480F0A8C532}"/>
              </a:ext>
            </a:extLst>
          </p:cNvPr>
          <p:cNvSpPr/>
          <p:nvPr/>
        </p:nvSpPr>
        <p:spPr>
          <a:xfrm>
            <a:off x="928225" y="2036558"/>
            <a:ext cx="2041451" cy="35087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직사각형 6">
            <a:extLst>
              <a:ext uri="{FF2B5EF4-FFF2-40B4-BE49-F238E27FC236}">
                <a16:creationId xmlns:a16="http://schemas.microsoft.com/office/drawing/2014/main" id="{9C86559F-3837-B749-A77F-EE960F0146CE}"/>
              </a:ext>
            </a:extLst>
          </p:cNvPr>
          <p:cNvSpPr/>
          <p:nvPr/>
        </p:nvSpPr>
        <p:spPr>
          <a:xfrm>
            <a:off x="928225" y="2036556"/>
            <a:ext cx="2041451" cy="604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8" name="직사각형 7">
            <a:extLst>
              <a:ext uri="{FF2B5EF4-FFF2-40B4-BE49-F238E27FC236}">
                <a16:creationId xmlns:a16="http://schemas.microsoft.com/office/drawing/2014/main" id="{43C8C25A-844B-8FFA-1272-6223DD0085C9}"/>
              </a:ext>
            </a:extLst>
          </p:cNvPr>
          <p:cNvSpPr/>
          <p:nvPr/>
        </p:nvSpPr>
        <p:spPr>
          <a:xfrm>
            <a:off x="9203900" y="2036558"/>
            <a:ext cx="2041451" cy="35087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4AF95BF3-A33E-3ED4-D4B8-1B89DC6B1DC5}"/>
              </a:ext>
            </a:extLst>
          </p:cNvPr>
          <p:cNvSpPr/>
          <p:nvPr/>
        </p:nvSpPr>
        <p:spPr>
          <a:xfrm>
            <a:off x="3686783" y="2036558"/>
            <a:ext cx="2041451" cy="35087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7970CC38-9B93-3086-7155-DB6D495644D4}"/>
              </a:ext>
            </a:extLst>
          </p:cNvPr>
          <p:cNvSpPr/>
          <p:nvPr/>
        </p:nvSpPr>
        <p:spPr>
          <a:xfrm>
            <a:off x="6445341" y="2036558"/>
            <a:ext cx="2041451" cy="350878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 name="TextBox 10">
            <a:extLst>
              <a:ext uri="{FF2B5EF4-FFF2-40B4-BE49-F238E27FC236}">
                <a16:creationId xmlns:a16="http://schemas.microsoft.com/office/drawing/2014/main" id="{5925BD38-1355-AAE3-2553-362CAFB84745}"/>
              </a:ext>
            </a:extLst>
          </p:cNvPr>
          <p:cNvSpPr txBox="1"/>
          <p:nvPr/>
        </p:nvSpPr>
        <p:spPr>
          <a:xfrm>
            <a:off x="3133303" y="3723758"/>
            <a:ext cx="389850" cy="369332"/>
          </a:xfrm>
          <a:prstGeom prst="rect">
            <a:avLst/>
          </a:prstGeom>
          <a:noFill/>
        </p:spPr>
        <p:txBody>
          <a:bodyPr wrap="none" rtlCol="0">
            <a:spAutoFit/>
          </a:bodyPr>
          <a:lstStyle/>
          <a:p>
            <a:r>
              <a:rPr lang="en-US" altLang="ko-KR" dirty="0">
                <a:latin typeface="+mn-ea"/>
              </a:rPr>
              <a:t>&gt;&gt;</a:t>
            </a:r>
            <a:endParaRPr lang="ko-KR" altLang="en-US" dirty="0">
              <a:latin typeface="+mn-ea"/>
            </a:endParaRPr>
          </a:p>
        </p:txBody>
      </p:sp>
      <p:sp>
        <p:nvSpPr>
          <p:cNvPr id="12" name="TextBox 11">
            <a:extLst>
              <a:ext uri="{FF2B5EF4-FFF2-40B4-BE49-F238E27FC236}">
                <a16:creationId xmlns:a16="http://schemas.microsoft.com/office/drawing/2014/main" id="{40F86137-706A-7C35-3E7B-48C64B8441B0}"/>
              </a:ext>
            </a:extLst>
          </p:cNvPr>
          <p:cNvSpPr txBox="1"/>
          <p:nvPr/>
        </p:nvSpPr>
        <p:spPr>
          <a:xfrm>
            <a:off x="5907507" y="3723758"/>
            <a:ext cx="389850" cy="369332"/>
          </a:xfrm>
          <a:prstGeom prst="rect">
            <a:avLst/>
          </a:prstGeom>
          <a:noFill/>
        </p:spPr>
        <p:txBody>
          <a:bodyPr wrap="none" rtlCol="0">
            <a:spAutoFit/>
          </a:bodyPr>
          <a:lstStyle/>
          <a:p>
            <a:r>
              <a:rPr lang="en-US" altLang="ko-KR" dirty="0">
                <a:latin typeface="+mn-ea"/>
              </a:rPr>
              <a:t>&gt;&gt;</a:t>
            </a:r>
            <a:endParaRPr lang="ko-KR" altLang="en-US" dirty="0">
              <a:latin typeface="+mn-ea"/>
            </a:endParaRPr>
          </a:p>
        </p:txBody>
      </p:sp>
      <p:sp>
        <p:nvSpPr>
          <p:cNvPr id="13" name="TextBox 12">
            <a:extLst>
              <a:ext uri="{FF2B5EF4-FFF2-40B4-BE49-F238E27FC236}">
                <a16:creationId xmlns:a16="http://schemas.microsoft.com/office/drawing/2014/main" id="{372AFCB4-70C9-58E5-F2A7-831DC41BFDD2}"/>
              </a:ext>
            </a:extLst>
          </p:cNvPr>
          <p:cNvSpPr txBox="1"/>
          <p:nvPr/>
        </p:nvSpPr>
        <p:spPr>
          <a:xfrm>
            <a:off x="8634767" y="3723758"/>
            <a:ext cx="389850" cy="369332"/>
          </a:xfrm>
          <a:prstGeom prst="rect">
            <a:avLst/>
          </a:prstGeom>
          <a:noFill/>
        </p:spPr>
        <p:txBody>
          <a:bodyPr wrap="none" rtlCol="0">
            <a:spAutoFit/>
          </a:bodyPr>
          <a:lstStyle/>
          <a:p>
            <a:r>
              <a:rPr lang="en-US" altLang="ko-KR" dirty="0">
                <a:latin typeface="+mn-ea"/>
              </a:rPr>
              <a:t>&gt;&gt;</a:t>
            </a:r>
            <a:endParaRPr lang="ko-KR" altLang="en-US" dirty="0">
              <a:latin typeface="+mn-ea"/>
            </a:endParaRPr>
          </a:p>
        </p:txBody>
      </p:sp>
      <p:sp>
        <p:nvSpPr>
          <p:cNvPr id="14" name="TextBox 13">
            <a:extLst>
              <a:ext uri="{FF2B5EF4-FFF2-40B4-BE49-F238E27FC236}">
                <a16:creationId xmlns:a16="http://schemas.microsoft.com/office/drawing/2014/main" id="{2F9B041E-DDEB-6C62-ECA0-3BC0C2E9BA85}"/>
              </a:ext>
            </a:extLst>
          </p:cNvPr>
          <p:cNvSpPr txBox="1"/>
          <p:nvPr/>
        </p:nvSpPr>
        <p:spPr>
          <a:xfrm>
            <a:off x="1549320" y="2151529"/>
            <a:ext cx="768159" cy="369332"/>
          </a:xfrm>
          <a:prstGeom prst="rect">
            <a:avLst/>
          </a:prstGeom>
          <a:noFill/>
        </p:spPr>
        <p:txBody>
          <a:bodyPr wrap="none" rtlCol="0">
            <a:spAutoFit/>
          </a:bodyPr>
          <a:lstStyle/>
          <a:p>
            <a:pPr algn="ctr"/>
            <a:r>
              <a:rPr lang="en-US" altLang="ko-KR" dirty="0">
                <a:solidFill>
                  <a:schemeClr val="bg1">
                    <a:lumMod val="95000"/>
                  </a:schemeClr>
                </a:solidFill>
              </a:rPr>
              <a:t>피연산자 처리</a:t>
            </a:r>
            <a:endParaRPr lang="ko-KR" altLang="en-US" dirty="0">
              <a:solidFill>
                <a:schemeClr val="bg1">
                  <a:lumMod val="95000"/>
                </a:schemeClr>
              </a:solidFill>
            </a:endParaRPr>
          </a:p>
        </p:txBody>
      </p:sp>
      <p:sp>
        <p:nvSpPr>
          <p:cNvPr id="15" name="직사각형 14">
            <a:extLst>
              <a:ext uri="{FF2B5EF4-FFF2-40B4-BE49-F238E27FC236}">
                <a16:creationId xmlns:a16="http://schemas.microsoft.com/office/drawing/2014/main" id="{D71F45B0-605A-3EEB-231C-67A24AD70A01}"/>
              </a:ext>
            </a:extLst>
          </p:cNvPr>
          <p:cNvSpPr/>
          <p:nvPr/>
        </p:nvSpPr>
        <p:spPr>
          <a:xfrm>
            <a:off x="3686782" y="2036556"/>
            <a:ext cx="2041451" cy="604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TextBox 15">
            <a:extLst>
              <a:ext uri="{FF2B5EF4-FFF2-40B4-BE49-F238E27FC236}">
                <a16:creationId xmlns:a16="http://schemas.microsoft.com/office/drawing/2014/main" id="{6D46FD89-E348-2DE4-1889-54E2ADFDD6B6}"/>
              </a:ext>
            </a:extLst>
          </p:cNvPr>
          <p:cNvSpPr txBox="1"/>
          <p:nvPr/>
        </p:nvSpPr>
        <p:spPr>
          <a:xfrm>
            <a:off x="4331121" y="2151529"/>
            <a:ext cx="768159" cy="369332"/>
          </a:xfrm>
          <a:prstGeom prst="rect">
            <a:avLst/>
          </a:prstGeom>
          <a:noFill/>
        </p:spPr>
        <p:txBody>
          <a:bodyPr wrap="none" rtlCol="0">
            <a:spAutoFit/>
          </a:bodyPr>
          <a:lstStyle/>
          <a:p>
            <a:pPr algn="ctr"/>
            <a:r>
              <a:rPr lang="en-US" altLang="ko-KR" dirty="0">
                <a:solidFill>
                  <a:schemeClr val="bg1">
                    <a:lumMod val="95000"/>
                  </a:schemeClr>
                </a:solidFill>
              </a:rPr>
              <a:t>연산자 처리</a:t>
            </a:r>
            <a:endParaRPr lang="ko-KR" altLang="en-US" dirty="0">
              <a:solidFill>
                <a:schemeClr val="bg1">
                  <a:lumMod val="95000"/>
                </a:schemeClr>
              </a:solidFill>
            </a:endParaRPr>
          </a:p>
        </p:txBody>
      </p:sp>
      <p:sp>
        <p:nvSpPr>
          <p:cNvPr id="17" name="직사각형 16">
            <a:extLst>
              <a:ext uri="{FF2B5EF4-FFF2-40B4-BE49-F238E27FC236}">
                <a16:creationId xmlns:a16="http://schemas.microsoft.com/office/drawing/2014/main" id="{1E1A3D78-ED92-F94F-B0D0-BC15DEBDC75A}"/>
              </a:ext>
            </a:extLst>
          </p:cNvPr>
          <p:cNvSpPr/>
          <p:nvPr/>
        </p:nvSpPr>
        <p:spPr>
          <a:xfrm>
            <a:off x="6445339" y="2036556"/>
            <a:ext cx="2041451" cy="604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TextBox 17">
            <a:extLst>
              <a:ext uri="{FF2B5EF4-FFF2-40B4-BE49-F238E27FC236}">
                <a16:creationId xmlns:a16="http://schemas.microsoft.com/office/drawing/2014/main" id="{5109BDDB-F8CF-CC54-B1E4-A028C81111AD}"/>
              </a:ext>
            </a:extLst>
          </p:cNvPr>
          <p:cNvSpPr txBox="1"/>
          <p:nvPr/>
        </p:nvSpPr>
        <p:spPr>
          <a:xfrm>
            <a:off x="7090479" y="2151529"/>
            <a:ext cx="768159" cy="369332"/>
          </a:xfrm>
          <a:prstGeom prst="rect">
            <a:avLst/>
          </a:prstGeom>
          <a:noFill/>
        </p:spPr>
        <p:txBody>
          <a:bodyPr wrap="none" rtlCol="0">
            <a:spAutoFit/>
          </a:bodyPr>
          <a:lstStyle/>
          <a:p>
            <a:pPr algn="ctr"/>
            <a:r>
              <a:rPr lang="en-US" altLang="ko-KR" dirty="0">
                <a:solidFill>
                  <a:schemeClr val="bg1">
                    <a:lumMod val="95000"/>
                  </a:schemeClr>
                </a:solidFill>
              </a:rPr>
              <a:t>괄호 처리</a:t>
            </a:r>
            <a:endParaRPr lang="ko-KR" altLang="en-US" dirty="0">
              <a:solidFill>
                <a:schemeClr val="bg1">
                  <a:lumMod val="95000"/>
                </a:schemeClr>
              </a:solidFill>
            </a:endParaRPr>
          </a:p>
        </p:txBody>
      </p:sp>
      <p:sp>
        <p:nvSpPr>
          <p:cNvPr id="19" name="직사각형 18">
            <a:extLst>
              <a:ext uri="{FF2B5EF4-FFF2-40B4-BE49-F238E27FC236}">
                <a16:creationId xmlns:a16="http://schemas.microsoft.com/office/drawing/2014/main" id="{BD681D37-D302-8C28-4973-B7F299E24EAC}"/>
              </a:ext>
            </a:extLst>
          </p:cNvPr>
          <p:cNvSpPr/>
          <p:nvPr/>
        </p:nvSpPr>
        <p:spPr>
          <a:xfrm>
            <a:off x="9203896" y="2036556"/>
            <a:ext cx="2041451" cy="6042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0" name="TextBox 19">
            <a:extLst>
              <a:ext uri="{FF2B5EF4-FFF2-40B4-BE49-F238E27FC236}">
                <a16:creationId xmlns:a16="http://schemas.microsoft.com/office/drawing/2014/main" id="{903BEDFB-CD23-0158-3EC2-D039ED625191}"/>
              </a:ext>
            </a:extLst>
          </p:cNvPr>
          <p:cNvSpPr txBox="1"/>
          <p:nvPr/>
        </p:nvSpPr>
        <p:spPr>
          <a:xfrm>
            <a:off x="9840808" y="2151529"/>
            <a:ext cx="768159" cy="369332"/>
          </a:xfrm>
          <a:prstGeom prst="rect">
            <a:avLst/>
          </a:prstGeom>
          <a:noFill/>
        </p:spPr>
        <p:txBody>
          <a:bodyPr wrap="none" rtlCol="0">
            <a:spAutoFit/>
          </a:bodyPr>
          <a:lstStyle/>
          <a:p>
            <a:pPr algn="ctr"/>
            <a:r>
              <a:rPr lang="en-US" altLang="ko-KR" dirty="0">
                <a:solidFill>
                  <a:schemeClr val="bg1">
                    <a:lumMod val="95000"/>
                  </a:schemeClr>
                </a:solidFill>
              </a:rPr>
              <a:t>종료 처리</a:t>
            </a:r>
            <a:endParaRPr lang="ko-KR" altLang="en-US" dirty="0">
              <a:solidFill>
                <a:schemeClr val="bg1">
                  <a:lumMod val="95000"/>
                </a:schemeClr>
              </a:solidFill>
            </a:endParaRPr>
          </a:p>
        </p:txBody>
      </p:sp>
      <p:sp>
        <p:nvSpPr>
          <p:cNvPr id="21" name="TextBox 20">
            <a:extLst>
              <a:ext uri="{FF2B5EF4-FFF2-40B4-BE49-F238E27FC236}">
                <a16:creationId xmlns:a16="http://schemas.microsoft.com/office/drawing/2014/main" id="{ABE2E9DD-A907-410C-F125-ADC1C9942C5F}"/>
              </a:ext>
            </a:extLst>
          </p:cNvPr>
          <p:cNvSpPr txBox="1"/>
          <p:nvPr/>
        </p:nvSpPr>
        <p:spPr>
          <a:xfrm>
            <a:off x="1097950" y="3273238"/>
            <a:ext cx="1682895" cy="1628587"/>
          </a:xfrm>
          <a:prstGeom prst="rect">
            <a:avLst/>
          </a:prstGeom>
          <a:noFill/>
        </p:spPr>
        <p:txBody>
          <a:bodyPr wrap="square" rtlCol="0">
            <a:spAutoFit/>
          </a:bodyPr>
          <a:lstStyle/>
          <a:p>
            <a:pPr algn="just">
              <a:lnSpc>
                <a:spcPct val="120000"/>
              </a:lnSpc>
            </a:pPr>
            <a:r>
              <a:rPr lang="ko-KR" altLang="en-US" sz="1400" spc="-150" dirty="0">
                <a:solidFill>
                  <a:schemeClr val="tx1">
                    <a:lumMod val="75000"/>
                    <a:lumOff val="25000"/>
                  </a:schemeClr>
                </a:solidFill>
                <a:latin typeface="+mn-ea"/>
              </a:rPr>
              <a:t>숫자를 만나면 즉시 출력 버퍼(temp_buff)에 저장</a:t>
            </a:r>
          </a:p>
        </p:txBody>
      </p:sp>
      <p:sp>
        <p:nvSpPr>
          <p:cNvPr id="22" name="TextBox 21">
            <a:extLst>
              <a:ext uri="{FF2B5EF4-FFF2-40B4-BE49-F238E27FC236}">
                <a16:creationId xmlns:a16="http://schemas.microsoft.com/office/drawing/2014/main" id="{0245D7FA-2EDE-736A-9A25-5D557ABCECD3}"/>
              </a:ext>
            </a:extLst>
          </p:cNvPr>
          <p:cNvSpPr txBox="1"/>
          <p:nvPr/>
        </p:nvSpPr>
        <p:spPr>
          <a:xfrm>
            <a:off x="3856508" y="3273238"/>
            <a:ext cx="1682895" cy="1628587"/>
          </a:xfrm>
          <a:prstGeom prst="rect">
            <a:avLst/>
          </a:prstGeom>
          <a:noFill/>
        </p:spPr>
        <p:txBody>
          <a:bodyPr wrap="square" rtlCol="0">
            <a:spAutoFit/>
          </a:bodyPr>
          <a:lstStyle/>
          <a:p>
            <a:pPr algn="just">
              <a:lnSpc>
                <a:spcPct val="120000"/>
              </a:lnSpc>
            </a:pPr>
            <a:r>
              <a:rPr lang="ko-KR" altLang="en-US" sz="1400" spc="-150" dirty="0">
                <a:solidFill>
                  <a:schemeClr val="tx1">
                    <a:lumMod val="75000"/>
                    <a:lumOff val="25000"/>
                  </a:schemeClr>
                </a:solidFill>
                <a:latin typeface="+mn-ea"/>
              </a:rPr>
              <a:t>우선순위 비교 후 스택에 PUSH, 낮은 연산자는 POP하여 출력</a:t>
            </a:r>
          </a:p>
        </p:txBody>
      </p:sp>
      <p:sp>
        <p:nvSpPr>
          <p:cNvPr id="23" name="TextBox 22">
            <a:extLst>
              <a:ext uri="{FF2B5EF4-FFF2-40B4-BE49-F238E27FC236}">
                <a16:creationId xmlns:a16="http://schemas.microsoft.com/office/drawing/2014/main" id="{C867BD25-5B93-EA6F-5BCB-D6D765DDE32D}"/>
              </a:ext>
            </a:extLst>
          </p:cNvPr>
          <p:cNvSpPr txBox="1"/>
          <p:nvPr/>
        </p:nvSpPr>
        <p:spPr>
          <a:xfrm>
            <a:off x="6615067" y="3273238"/>
            <a:ext cx="1682895" cy="867930"/>
          </a:xfrm>
          <a:prstGeom prst="rect">
            <a:avLst/>
          </a:prstGeom>
          <a:noFill/>
        </p:spPr>
        <p:txBody>
          <a:bodyPr wrap="square" rtlCol="0">
            <a:spAutoFit/>
          </a:bodyPr>
          <a:lstStyle/>
          <a:p>
            <a:pPr algn="just">
              <a:lnSpc>
                <a:spcPct val="120000"/>
              </a:lnSpc>
            </a:pPr>
            <a:r>
              <a:rPr lang="ko-KR" altLang="en-US" sz="1400" spc="-150" dirty="0">
                <a:solidFill>
                  <a:schemeClr val="tx1">
                    <a:lumMod val="75000"/>
                    <a:lumOff val="25000"/>
                  </a:schemeClr>
                </a:solidFill>
                <a:latin typeface="+mn-ea"/>
              </a:rPr>
              <a:t>( → 스택에 PUSH</a:t>
            </a:r>
            <a:r>
              <a:rPr lang="en-US" altLang="ko-KR" sz="1400" spc="-150" dirty="0">
                <a:solidFill>
                  <a:schemeClr val="tx1">
                    <a:lumMod val="75000"/>
                    <a:lumOff val="25000"/>
                  </a:schemeClr>
                </a:solidFill>
                <a:latin typeface="+mn-ea"/>
              </a:rPr>
              <a:t/>
            </a:r>
            <a:br>
              <a:rPr lang="en-US" altLang="ko-KR" sz="1400" spc="-150" dirty="0">
                <a:solidFill>
                  <a:schemeClr val="tx1">
                    <a:lumMod val="75000"/>
                    <a:lumOff val="25000"/>
                  </a:schemeClr>
                </a:solidFill>
                <a:latin typeface="+mn-ea"/>
              </a:rPr>
            </a:br>
            <a:r>
              <a:rPr lang="ko-KR" altLang="en-US" sz="1400" spc="-150" dirty="0">
                <a:solidFill>
                  <a:schemeClr val="tx1">
                    <a:lumMod val="75000"/>
                    <a:lumOff val="25000"/>
                  </a:schemeClr>
                </a:solidFill>
                <a:latin typeface="+mn-ea"/>
              </a:rPr>
              <a:t>) → ( 만날 때까지 POP하여 출력</a:t>
            </a:r>
          </a:p>
        </p:txBody>
      </p:sp>
      <p:sp>
        <p:nvSpPr>
          <p:cNvPr id="24" name="TextBox 23">
            <a:extLst>
              <a:ext uri="{FF2B5EF4-FFF2-40B4-BE49-F238E27FC236}">
                <a16:creationId xmlns:a16="http://schemas.microsoft.com/office/drawing/2014/main" id="{D017F5C0-7DEE-E4FF-F4EC-87DA8045BD02}"/>
              </a:ext>
            </a:extLst>
          </p:cNvPr>
          <p:cNvSpPr txBox="1"/>
          <p:nvPr/>
        </p:nvSpPr>
        <p:spPr>
          <a:xfrm>
            <a:off x="9383173" y="3273238"/>
            <a:ext cx="1682895" cy="1628587"/>
          </a:xfrm>
          <a:prstGeom prst="rect">
            <a:avLst/>
          </a:prstGeom>
          <a:noFill/>
        </p:spPr>
        <p:txBody>
          <a:bodyPr wrap="square" rtlCol="0">
            <a:spAutoFit/>
          </a:bodyPr>
          <a:lstStyle/>
          <a:p>
            <a:pPr algn="just">
              <a:lnSpc>
                <a:spcPct val="120000"/>
              </a:lnSpc>
            </a:pPr>
            <a:r>
              <a:rPr lang="ko-KR" altLang="en-US" sz="1400" spc="-150" dirty="0">
                <a:solidFill>
                  <a:schemeClr val="tx1">
                    <a:lumMod val="75000"/>
                    <a:lumOff val="25000"/>
                  </a:schemeClr>
                </a:solidFill>
                <a:latin typeface="+mn-ea"/>
              </a:rPr>
              <a:t>입력 끝(\n) 도달 시 스택에 남은 모든 연산자 POP 출력</a:t>
            </a:r>
          </a:p>
        </p:txBody>
      </p:sp>
    </p:spTree>
    <p:extLst>
      <p:ext uri="{BB962C8B-B14F-4D97-AF65-F5344CB8AC3E}">
        <p14:creationId xmlns:p14="http://schemas.microsoft.com/office/powerpoint/2010/main" val="150566299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501EAC-39D2-CA09-720C-EDF7F167A7D4}"/>
              </a:ext>
            </a:extLst>
          </p:cNvPr>
          <p:cNvSpPr txBox="1"/>
          <p:nvPr/>
        </p:nvSpPr>
        <p:spPr>
          <a:xfrm>
            <a:off x="3572686" y="1232077"/>
            <a:ext cx="4900701" cy="461665"/>
          </a:xfrm>
          <a:prstGeom prst="rect">
            <a:avLst/>
          </a:prstGeom>
          <a:noFill/>
        </p:spPr>
        <p:txBody>
          <a:bodyPr wrap="none" rtlCol="0">
            <a:spAutoFit/>
          </a:bodyPr>
          <a:lstStyle/>
          <a:p>
            <a:pPr algn="ctr"/>
            <a:r>
              <a:rPr lang="ko-KR" altLang="en-US" sz="2400" dirty="0" err="1"/>
              <a:t>main</a:t>
            </a:r>
            <a:r>
              <a:rPr lang="ko-KR" altLang="en-US" sz="2400" dirty="0"/>
              <a:t>( )  :  입력 수신 및 함수 호출</a:t>
            </a:r>
          </a:p>
        </p:txBody>
      </p:sp>
      <p:pic>
        <p:nvPicPr>
          <p:cNvPr id="10" name="그림 9"/>
          <p:cNvPicPr>
            <a:picLocks noChangeAspect="1"/>
          </p:cNvPicPr>
          <p:nvPr/>
        </p:nvPicPr>
        <p:blipFill>
          <a:blip r:embed="rId3"/>
          <a:stretch>
            <a:fillRect/>
          </a:stretch>
        </p:blipFill>
        <p:spPr>
          <a:xfrm>
            <a:off x="2111398" y="2267018"/>
            <a:ext cx="8125959" cy="2991267"/>
          </a:xfrm>
          <a:prstGeom prst="rect">
            <a:avLst/>
          </a:prstGeom>
        </p:spPr>
      </p:pic>
      <p:sp>
        <p:nvSpPr>
          <p:cNvPr id="12" name="양쪽 대괄호 11">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103248046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501EAC-39D2-CA09-720C-EDF7F167A7D4}"/>
              </a:ext>
            </a:extLst>
          </p:cNvPr>
          <p:cNvSpPr txBox="1"/>
          <p:nvPr/>
        </p:nvSpPr>
        <p:spPr>
          <a:xfrm>
            <a:off x="4511885" y="252031"/>
            <a:ext cx="6354624" cy="1200329"/>
          </a:xfrm>
          <a:prstGeom prst="rect">
            <a:avLst/>
          </a:prstGeom>
          <a:noFill/>
        </p:spPr>
        <p:txBody>
          <a:bodyPr wrap="none" rtlCol="0">
            <a:spAutoFit/>
          </a:bodyPr>
          <a:lstStyle/>
          <a:p>
            <a:pPr algn="ctr"/>
            <a:r>
              <a:rPr lang="ko-KR" altLang="en-US" sz="2400" dirty="0" err="1"/>
              <a:t>push_c</a:t>
            </a:r>
            <a:r>
              <a:rPr lang="ko-KR" altLang="en-US" sz="2400" dirty="0"/>
              <a:t> / </a:t>
            </a:r>
            <a:r>
              <a:rPr lang="ko-KR" altLang="en-US" sz="2400" dirty="0" err="1"/>
              <a:t>pop_c</a:t>
            </a:r>
            <a:r>
              <a:rPr lang="ko-KR" altLang="en-US" sz="2400" dirty="0"/>
              <a:t> / </a:t>
            </a:r>
            <a:r>
              <a:rPr lang="ko-KR" altLang="en-US" sz="2400" dirty="0" err="1"/>
              <a:t>peek_c</a:t>
            </a:r>
            <a:r>
              <a:rPr lang="ko-KR" altLang="en-US" sz="2400" dirty="0"/>
              <a:t>  :  문자 스택 연산
</a:t>
            </a:r>
            <a:r>
              <a:rPr lang="ko-KR" altLang="en-US" sz="2400" dirty="0" err="1"/>
              <a:t>push_i</a:t>
            </a:r>
            <a:r>
              <a:rPr lang="ko-KR" altLang="en-US" sz="2400" dirty="0"/>
              <a:t> / </a:t>
            </a:r>
            <a:r>
              <a:rPr lang="ko-KR" altLang="en-US" sz="2400" dirty="0" err="1"/>
              <a:t>pop_i</a:t>
            </a:r>
            <a:r>
              <a:rPr lang="ko-KR" altLang="en-US" sz="2400" dirty="0"/>
              <a:t> / </a:t>
            </a:r>
            <a:r>
              <a:rPr lang="ko-KR" altLang="en-US" sz="2400" dirty="0" err="1"/>
              <a:t>peek_i</a:t>
            </a:r>
            <a:r>
              <a:rPr lang="ko-KR" altLang="en-US" sz="2400" dirty="0"/>
              <a:t>  :  정수 스택 연산
</a:t>
            </a:r>
          </a:p>
        </p:txBody>
      </p:sp>
      <p:pic>
        <p:nvPicPr>
          <p:cNvPr id="15" name="그림 14"/>
          <p:cNvPicPr>
            <a:picLocks noChangeAspect="1"/>
          </p:cNvPicPr>
          <p:nvPr/>
        </p:nvPicPr>
        <p:blipFill>
          <a:blip r:embed="rId3"/>
          <a:stretch>
            <a:fillRect/>
          </a:stretch>
        </p:blipFill>
        <p:spPr>
          <a:xfrm>
            <a:off x="2185065" y="1440553"/>
            <a:ext cx="3467584" cy="4467849"/>
          </a:xfrm>
          <a:prstGeom prst="rect">
            <a:avLst/>
          </a:prstGeom>
        </p:spPr>
      </p:pic>
      <p:pic>
        <p:nvPicPr>
          <p:cNvPr id="16" name="그림 15"/>
          <p:cNvPicPr>
            <a:picLocks noChangeAspect="1"/>
          </p:cNvPicPr>
          <p:nvPr/>
        </p:nvPicPr>
        <p:blipFill>
          <a:blip r:embed="rId4"/>
          <a:stretch>
            <a:fillRect/>
          </a:stretch>
        </p:blipFill>
        <p:spPr>
          <a:xfrm>
            <a:off x="5340957" y="1483668"/>
            <a:ext cx="4696480" cy="4839375"/>
          </a:xfrm>
          <a:prstGeom prst="rect">
            <a:avLst/>
          </a:prstGeom>
        </p:spPr>
      </p:pic>
      <p:sp>
        <p:nvSpPr>
          <p:cNvPr id="17" name="양쪽 대괄호 16">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Tree>
    <p:extLst>
      <p:ext uri="{BB962C8B-B14F-4D97-AF65-F5344CB8AC3E}">
        <p14:creationId xmlns:p14="http://schemas.microsoft.com/office/powerpoint/2010/main" val="2536817586"/>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3326552"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8501EAC-39D2-CA09-720C-EDF7F167A7D4}"/>
              </a:ext>
            </a:extLst>
          </p:cNvPr>
          <p:cNvSpPr txBox="1"/>
          <p:nvPr/>
        </p:nvSpPr>
        <p:spPr>
          <a:xfrm>
            <a:off x="5291441" y="334271"/>
            <a:ext cx="6159058" cy="461665"/>
          </a:xfrm>
          <a:prstGeom prst="rect">
            <a:avLst/>
          </a:prstGeom>
          <a:noFill/>
        </p:spPr>
        <p:txBody>
          <a:bodyPr wrap="none" rtlCol="0">
            <a:spAutoFit/>
          </a:bodyPr>
          <a:lstStyle/>
          <a:p>
            <a:pPr algn="ctr"/>
            <a:r>
              <a:rPr lang="ko-KR" altLang="en-US" sz="2400" dirty="0" err="1"/>
              <a:t>back_display_make</a:t>
            </a:r>
            <a:r>
              <a:rPr lang="ko-KR" altLang="en-US" sz="2400" dirty="0"/>
              <a:t>( )  : 중위 → 후위 변환</a:t>
            </a:r>
          </a:p>
        </p:txBody>
      </p:sp>
      <p:sp>
        <p:nvSpPr>
          <p:cNvPr id="14" name="양쪽 대괄호 13">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15" name="그림 14"/>
          <p:cNvPicPr>
            <a:picLocks noChangeAspect="1"/>
          </p:cNvPicPr>
          <p:nvPr/>
        </p:nvPicPr>
        <p:blipFill>
          <a:blip r:embed="rId3"/>
          <a:stretch>
            <a:fillRect/>
          </a:stretch>
        </p:blipFill>
        <p:spPr>
          <a:xfrm>
            <a:off x="2301371" y="1318544"/>
            <a:ext cx="7964011" cy="4896533"/>
          </a:xfrm>
          <a:prstGeom prst="rect">
            <a:avLst/>
          </a:prstGeom>
        </p:spPr>
      </p:pic>
    </p:spTree>
    <p:extLst>
      <p:ext uri="{BB962C8B-B14F-4D97-AF65-F5344CB8AC3E}">
        <p14:creationId xmlns:p14="http://schemas.microsoft.com/office/powerpoint/2010/main" val="30317888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3326552"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8501EAC-39D2-CA09-720C-EDF7F167A7D4}"/>
              </a:ext>
            </a:extLst>
          </p:cNvPr>
          <p:cNvSpPr txBox="1"/>
          <p:nvPr/>
        </p:nvSpPr>
        <p:spPr>
          <a:xfrm>
            <a:off x="5291441" y="334271"/>
            <a:ext cx="6159058" cy="461665"/>
          </a:xfrm>
          <a:prstGeom prst="rect">
            <a:avLst/>
          </a:prstGeom>
          <a:noFill/>
        </p:spPr>
        <p:txBody>
          <a:bodyPr wrap="none" rtlCol="0">
            <a:spAutoFit/>
          </a:bodyPr>
          <a:lstStyle/>
          <a:p>
            <a:pPr algn="ctr"/>
            <a:r>
              <a:rPr lang="ko-KR" altLang="en-US" sz="2400" dirty="0" err="1"/>
              <a:t>back_display_make</a:t>
            </a:r>
            <a:r>
              <a:rPr lang="ko-KR" altLang="en-US" sz="2400" dirty="0"/>
              <a:t>( )  : 중위 → 후위 변환</a:t>
            </a:r>
          </a:p>
        </p:txBody>
      </p:sp>
      <p:sp>
        <p:nvSpPr>
          <p:cNvPr id="14" name="양쪽 대괄호 13">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7" name="그림 6"/>
          <p:cNvPicPr>
            <a:picLocks noChangeAspect="1"/>
          </p:cNvPicPr>
          <p:nvPr/>
        </p:nvPicPr>
        <p:blipFill>
          <a:blip r:embed="rId3"/>
          <a:stretch>
            <a:fillRect/>
          </a:stretch>
        </p:blipFill>
        <p:spPr>
          <a:xfrm>
            <a:off x="2336356" y="1337596"/>
            <a:ext cx="7535327" cy="4858428"/>
          </a:xfrm>
          <a:prstGeom prst="rect">
            <a:avLst/>
          </a:prstGeom>
        </p:spPr>
      </p:pic>
    </p:spTree>
    <p:extLst>
      <p:ext uri="{BB962C8B-B14F-4D97-AF65-F5344CB8AC3E}">
        <p14:creationId xmlns:p14="http://schemas.microsoft.com/office/powerpoint/2010/main" val="182096467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501EAC-39D2-CA09-720C-EDF7F167A7D4}"/>
              </a:ext>
            </a:extLst>
          </p:cNvPr>
          <p:cNvSpPr txBox="1"/>
          <p:nvPr/>
        </p:nvSpPr>
        <p:spPr>
          <a:xfrm>
            <a:off x="3123076" y="908229"/>
            <a:ext cx="5961888" cy="461665"/>
          </a:xfrm>
          <a:prstGeom prst="rect">
            <a:avLst/>
          </a:prstGeom>
          <a:noFill/>
        </p:spPr>
        <p:txBody>
          <a:bodyPr wrap="none" rtlCol="0">
            <a:spAutoFit/>
          </a:bodyPr>
          <a:lstStyle/>
          <a:p>
            <a:pPr algn="ctr"/>
            <a:r>
              <a:rPr lang="ko-KR" altLang="en-US" sz="2400" dirty="0" err="1"/>
              <a:t>back_display_calculate</a:t>
            </a:r>
            <a:r>
              <a:rPr lang="ko-KR" altLang="en-US" sz="2400" dirty="0"/>
              <a:t>( )  :  </a:t>
            </a:r>
            <a:r>
              <a:rPr lang="ko-KR" altLang="en-US" sz="2400" dirty="0" err="1"/>
              <a:t>후위식</a:t>
            </a:r>
            <a:r>
              <a:rPr lang="ko-KR" altLang="en-US" sz="2400" dirty="0"/>
              <a:t> 계산</a:t>
            </a:r>
          </a:p>
        </p:txBody>
      </p:sp>
      <p:sp>
        <p:nvSpPr>
          <p:cNvPr id="11" name="양쪽 대괄호 10">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2" name="그림 1"/>
          <p:cNvPicPr>
            <a:picLocks noChangeAspect="1"/>
          </p:cNvPicPr>
          <p:nvPr/>
        </p:nvPicPr>
        <p:blipFill>
          <a:blip r:embed="rId3"/>
          <a:stretch>
            <a:fillRect/>
          </a:stretch>
        </p:blipFill>
        <p:spPr>
          <a:xfrm>
            <a:off x="1840987" y="1688238"/>
            <a:ext cx="8526065" cy="3972479"/>
          </a:xfrm>
          <a:prstGeom prst="rect">
            <a:avLst/>
          </a:prstGeom>
        </p:spPr>
      </p:pic>
    </p:spTree>
    <p:extLst>
      <p:ext uri="{BB962C8B-B14F-4D97-AF65-F5344CB8AC3E}">
        <p14:creationId xmlns:p14="http://schemas.microsoft.com/office/powerpoint/2010/main" val="16995970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501EAC-39D2-CA09-720C-EDF7F167A7D4}"/>
              </a:ext>
            </a:extLst>
          </p:cNvPr>
          <p:cNvSpPr txBox="1"/>
          <p:nvPr/>
        </p:nvSpPr>
        <p:spPr>
          <a:xfrm>
            <a:off x="3123076" y="908229"/>
            <a:ext cx="5961888" cy="461665"/>
          </a:xfrm>
          <a:prstGeom prst="rect">
            <a:avLst/>
          </a:prstGeom>
          <a:noFill/>
        </p:spPr>
        <p:txBody>
          <a:bodyPr wrap="none" rtlCol="0">
            <a:spAutoFit/>
          </a:bodyPr>
          <a:lstStyle/>
          <a:p>
            <a:pPr algn="ctr"/>
            <a:r>
              <a:rPr lang="ko-KR" altLang="en-US" sz="2400" dirty="0" err="1"/>
              <a:t>back_display_calculate</a:t>
            </a:r>
            <a:r>
              <a:rPr lang="ko-KR" altLang="en-US" sz="2400" dirty="0"/>
              <a:t>( )  :  </a:t>
            </a:r>
            <a:r>
              <a:rPr lang="ko-KR" altLang="en-US" sz="2400" dirty="0" err="1"/>
              <a:t>후위식</a:t>
            </a:r>
            <a:r>
              <a:rPr lang="ko-KR" altLang="en-US" sz="2400" dirty="0"/>
              <a:t> 계산</a:t>
            </a:r>
          </a:p>
        </p:txBody>
      </p:sp>
      <p:sp>
        <p:nvSpPr>
          <p:cNvPr id="11" name="양쪽 대괄호 10">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7" name="그림 6"/>
          <p:cNvPicPr>
            <a:picLocks noChangeAspect="1"/>
          </p:cNvPicPr>
          <p:nvPr/>
        </p:nvPicPr>
        <p:blipFill>
          <a:blip r:embed="rId3"/>
          <a:stretch>
            <a:fillRect/>
          </a:stretch>
        </p:blipFill>
        <p:spPr>
          <a:xfrm>
            <a:off x="3364111" y="2117700"/>
            <a:ext cx="5620534" cy="3839111"/>
          </a:xfrm>
          <a:prstGeom prst="rect">
            <a:avLst/>
          </a:prstGeom>
        </p:spPr>
      </p:pic>
    </p:spTree>
    <p:extLst>
      <p:ext uri="{BB962C8B-B14F-4D97-AF65-F5344CB8AC3E}">
        <p14:creationId xmlns:p14="http://schemas.microsoft.com/office/powerpoint/2010/main" val="195781425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E3FBA607-E7FC-B7F8-2868-BC448F31F79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8326A7D-F71C-ED1C-CBFD-93F557654D2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3251639B-29EB-6E9D-733B-6F917838F571}"/>
              </a:ext>
            </a:extLst>
          </p:cNvPr>
          <p:cNvSpPr txBox="1"/>
          <p:nvPr/>
        </p:nvSpPr>
        <p:spPr>
          <a:xfrm>
            <a:off x="1163052" y="272716"/>
            <a:ext cx="2409634"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227D3D02-66A7-B0C0-2CF2-A0900C18861C}"/>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C8501EAC-39D2-CA09-720C-EDF7F167A7D4}"/>
              </a:ext>
            </a:extLst>
          </p:cNvPr>
          <p:cNvSpPr txBox="1"/>
          <p:nvPr/>
        </p:nvSpPr>
        <p:spPr>
          <a:xfrm>
            <a:off x="5703911" y="908229"/>
            <a:ext cx="800219" cy="461665"/>
          </a:xfrm>
          <a:prstGeom prst="rect">
            <a:avLst/>
          </a:prstGeom>
          <a:noFill/>
        </p:spPr>
        <p:txBody>
          <a:bodyPr wrap="none" rtlCol="0">
            <a:spAutoFit/>
          </a:bodyPr>
          <a:lstStyle/>
          <a:p>
            <a:pPr algn="ctr"/>
            <a:r>
              <a:rPr lang="ko-KR" altLang="en-US" sz="2400" dirty="0"/>
              <a:t>결과</a:t>
            </a:r>
          </a:p>
        </p:txBody>
      </p:sp>
      <p:sp>
        <p:nvSpPr>
          <p:cNvPr id="11" name="양쪽 대괄호 10">
            <a:extLst>
              <a:ext uri="{FF2B5EF4-FFF2-40B4-BE49-F238E27FC236}">
                <a16:creationId xmlns:a16="http://schemas.microsoft.com/office/drawing/2014/main" id="{BB84A156-89D3-24C7-611D-EAAE09E85E87}"/>
              </a:ext>
            </a:extLst>
          </p:cNvPr>
          <p:cNvSpPr/>
          <p:nvPr/>
        </p:nvSpPr>
        <p:spPr>
          <a:xfrm>
            <a:off x="1163052" y="2129883"/>
            <a:ext cx="9881937" cy="3077737"/>
          </a:xfrm>
          <a:prstGeom prst="bracketPair">
            <a:avLst>
              <a:gd name="adj" fmla="val 12319"/>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pic>
        <p:nvPicPr>
          <p:cNvPr id="2" name="그림 1"/>
          <p:cNvPicPr>
            <a:picLocks noChangeAspect="1"/>
          </p:cNvPicPr>
          <p:nvPr/>
        </p:nvPicPr>
        <p:blipFill>
          <a:blip r:embed="rId3"/>
          <a:stretch>
            <a:fillRect/>
          </a:stretch>
        </p:blipFill>
        <p:spPr>
          <a:xfrm>
            <a:off x="3378400" y="3245792"/>
            <a:ext cx="5591955" cy="428685"/>
          </a:xfrm>
          <a:prstGeom prst="rect">
            <a:avLst/>
          </a:prstGeom>
        </p:spPr>
      </p:pic>
    </p:spTree>
    <p:extLst>
      <p:ext uri="{BB962C8B-B14F-4D97-AF65-F5344CB8AC3E}">
        <p14:creationId xmlns:p14="http://schemas.microsoft.com/office/powerpoint/2010/main" val="38474563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400A798-81EB-E1F8-D331-F905B7D0C969}"/>
            </a:ext>
          </a:extLst>
        </p:cNvPr>
        <p:cNvGrpSpPr/>
        <p:nvPr/>
      </p:nvGrpSpPr>
      <p:grpSpPr>
        <a:xfrm>
          <a:off x="0" y="0"/>
          <a:ext cx="0" cy="0"/>
          <a:chOff x="0" y="0"/>
          <a:chExt cx="0" cy="0"/>
        </a:xfrm>
      </p:grpSpPr>
      <p:grpSp>
        <p:nvGrpSpPr>
          <p:cNvPr id="7" name="그룹 6">
            <a:extLst>
              <a:ext uri="{FF2B5EF4-FFF2-40B4-BE49-F238E27FC236}">
                <a16:creationId xmlns:a16="http://schemas.microsoft.com/office/drawing/2014/main" id="{43DCCEFB-D072-6A43-E28A-E8AF919A7DB2}"/>
              </a:ext>
            </a:extLst>
          </p:cNvPr>
          <p:cNvGrpSpPr/>
          <p:nvPr/>
        </p:nvGrpSpPr>
        <p:grpSpPr>
          <a:xfrm>
            <a:off x="5796109" y="873036"/>
            <a:ext cx="5730223" cy="4483012"/>
            <a:chOff x="6572362" y="311562"/>
            <a:chExt cx="5730223" cy="4483012"/>
          </a:xfrm>
        </p:grpSpPr>
        <p:sp>
          <p:nvSpPr>
            <p:cNvPr id="2" name="TextBox 1">
              <a:extLst>
                <a:ext uri="{FF2B5EF4-FFF2-40B4-BE49-F238E27FC236}">
                  <a16:creationId xmlns:a16="http://schemas.microsoft.com/office/drawing/2014/main" id="{F6829F10-3C95-612E-D297-5D837A7E0DE4}"/>
                </a:ext>
              </a:extLst>
            </p:cNvPr>
            <p:cNvSpPr txBox="1"/>
            <p:nvPr/>
          </p:nvSpPr>
          <p:spPr>
            <a:xfrm>
              <a:off x="6714067" y="311562"/>
              <a:ext cx="1478290" cy="3154710"/>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9900" b="1" dirty="0">
                  <a:solidFill>
                    <a:prstClr val="white"/>
                  </a:solidFill>
                  <a:latin typeface="Pretendard Black"/>
                  <a:ea typeface="+mj-ea"/>
                </a:rPr>
                <a:t>3</a:t>
              </a:r>
              <a:endParaRPr kumimoji="0" lang="ko-KR" altLang="en-US" sz="19900" b="1" i="0" u="none" strike="noStrike" kern="1200" cap="none" spc="0" normalizeH="0" baseline="0" noProof="0" dirty="0">
                <a:ln>
                  <a:noFill/>
                </a:ln>
                <a:solidFill>
                  <a:prstClr val="white"/>
                </a:solidFill>
                <a:effectLst/>
                <a:uLnTx/>
                <a:uFillTx/>
                <a:latin typeface="Pretendard Black"/>
                <a:ea typeface="+mj-ea"/>
                <a:cs typeface="+mn-cs"/>
              </a:endParaRPr>
            </a:p>
          </p:txBody>
        </p:sp>
        <p:sp>
          <p:nvSpPr>
            <p:cNvPr id="3" name="TextBox 2">
              <a:extLst>
                <a:ext uri="{FF2B5EF4-FFF2-40B4-BE49-F238E27FC236}">
                  <a16:creationId xmlns:a16="http://schemas.microsoft.com/office/drawing/2014/main" id="{3DD0AD4E-9147-D156-345A-4B087465D7E1}"/>
                </a:ext>
              </a:extLst>
            </p:cNvPr>
            <p:cNvSpPr txBox="1"/>
            <p:nvPr/>
          </p:nvSpPr>
          <p:spPr>
            <a:xfrm>
              <a:off x="6572362" y="3590598"/>
              <a:ext cx="5730223" cy="830997"/>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4800" b="1" spc="-300" dirty="0">
                  <a:solidFill>
                    <a:prstClr val="white"/>
                  </a:solidFill>
                  <a:latin typeface="Pretendard"/>
                </a:rPr>
                <a:t>Double Linked</a:t>
              </a:r>
              <a:r>
                <a:rPr kumimoji="0" lang="ko-KR" altLang="en-US" sz="4800" b="1" i="0" u="none" strike="noStrike" kern="1200" cap="none" spc="-300" normalizeH="0" baseline="0" noProof="0" dirty="0">
                  <a:ln>
                    <a:noFill/>
                  </a:ln>
                  <a:solidFill>
                    <a:prstClr val="white"/>
                  </a:solidFill>
                  <a:effectLst/>
                  <a:uLnTx/>
                  <a:uFillTx/>
                  <a:latin typeface="Pretendard"/>
                  <a:cs typeface="+mn-cs"/>
                </a:rPr>
                <a:t> 자료구조</a:t>
              </a:r>
            </a:p>
          </p:txBody>
        </p:sp>
        <p:cxnSp>
          <p:nvCxnSpPr>
            <p:cNvPr id="4" name="직선 연결선 3">
              <a:extLst>
                <a:ext uri="{FF2B5EF4-FFF2-40B4-BE49-F238E27FC236}">
                  <a16:creationId xmlns:a16="http://schemas.microsoft.com/office/drawing/2014/main" id="{BB555B79-030D-38E2-F55D-D7B0DA0DECA4}"/>
                </a:ext>
              </a:extLst>
            </p:cNvPr>
            <p:cNvCxnSpPr>
              <a:cxnSpLocks/>
            </p:cNvCxnSpPr>
            <p:nvPr/>
          </p:nvCxnSpPr>
          <p:spPr>
            <a:xfrm>
              <a:off x="6714067" y="4545921"/>
              <a:ext cx="5477933"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2049BDE2-FCA2-8FC0-C6D8-1CEC81D71B74}"/>
                </a:ext>
              </a:extLst>
            </p:cNvPr>
            <p:cNvCxnSpPr>
              <a:cxnSpLocks/>
            </p:cNvCxnSpPr>
            <p:nvPr/>
          </p:nvCxnSpPr>
          <p:spPr>
            <a:xfrm>
              <a:off x="6817895" y="4794574"/>
              <a:ext cx="5374105"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048514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380A1-304E-EF2F-3BA7-A1DF2218E0C4}"/>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2BAC935-42F4-25F1-F6FB-586D24CFE347}"/>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14ACF30-461C-3923-4722-C5559E582785}"/>
              </a:ext>
            </a:extLst>
          </p:cNvPr>
          <p:cNvSpPr txBox="1"/>
          <p:nvPr/>
        </p:nvSpPr>
        <p:spPr>
          <a:xfrm>
            <a:off x="144378" y="272716"/>
            <a:ext cx="675570"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BCFA4A52-FF95-FE24-6AEA-50B543B58D3F}"/>
              </a:ext>
            </a:extLst>
          </p:cNvPr>
          <p:cNvSpPr txBox="1"/>
          <p:nvPr/>
        </p:nvSpPr>
        <p:spPr>
          <a:xfrm>
            <a:off x="1163052" y="272716"/>
            <a:ext cx="4819589" cy="769441"/>
          </a:xfrm>
          <a:prstGeom prst="rect">
            <a:avLst/>
          </a:prstGeom>
          <a:noFill/>
        </p:spPr>
        <p:txBody>
          <a:bodyPr wrap="none" rtlCol="0">
            <a:spAutoFit/>
          </a:bodyPr>
          <a:lstStyle/>
          <a:p>
            <a:r>
              <a:rPr lang="en-US" altLang="ko-KR" sz="4400" b="1" spc="-300" dirty="0">
                <a:solidFill>
                  <a:schemeClr val="accent1"/>
                </a:solidFill>
              </a:rPr>
              <a:t>Double linked list</a:t>
            </a:r>
            <a:r>
              <a:rPr lang="ko-KR" altLang="en-US" sz="4400" b="1" spc="-300" dirty="0">
                <a:solidFill>
                  <a:schemeClr val="accent1"/>
                </a:solidFill>
              </a:rPr>
              <a:t>이란?</a:t>
            </a:r>
          </a:p>
        </p:txBody>
      </p:sp>
      <p:cxnSp>
        <p:nvCxnSpPr>
          <p:cNvPr id="6" name="직선 연결선 5">
            <a:extLst>
              <a:ext uri="{FF2B5EF4-FFF2-40B4-BE49-F238E27FC236}">
                <a16:creationId xmlns:a16="http://schemas.microsoft.com/office/drawing/2014/main" id="{6870C4E3-E68E-4A33-D6DB-49011732F426}"/>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5A041A3B-0FD2-9983-83E1-2411185A18CD}"/>
              </a:ext>
            </a:extLst>
          </p:cNvPr>
          <p:cNvSpPr/>
          <p:nvPr/>
        </p:nvSpPr>
        <p:spPr>
          <a:xfrm>
            <a:off x="3136229" y="4953003"/>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867F96FF-D311-8ED0-F662-AFD876B6FF57}"/>
              </a:ext>
            </a:extLst>
          </p:cNvPr>
          <p:cNvSpPr txBox="1"/>
          <p:nvPr/>
        </p:nvSpPr>
        <p:spPr>
          <a:xfrm>
            <a:off x="3950219" y="5127175"/>
            <a:ext cx="4291560" cy="769441"/>
          </a:xfrm>
          <a:prstGeom prst="rect">
            <a:avLst/>
          </a:prstGeom>
          <a:noFill/>
        </p:spPr>
        <p:txBody>
          <a:bodyPr wrap="none" rtlCol="0">
            <a:spAutoFit/>
          </a:bodyPr>
          <a:lstStyle/>
          <a:p>
            <a:pPr algn="ctr"/>
            <a:r>
              <a:rPr lang="ko-KR" altLang="en-US" sz="4400" spc="-300" dirty="0">
                <a:solidFill>
                  <a:schemeClr val="bg1"/>
                </a:solidFill>
              </a:rPr>
              <a:t>노드의 </a:t>
            </a:r>
            <a:r>
              <a:rPr lang="en-US" altLang="ko-KR" sz="4400" spc="-300" dirty="0">
                <a:solidFill>
                  <a:schemeClr val="bg1"/>
                </a:solidFill>
              </a:rPr>
              <a:t>3</a:t>
            </a:r>
            <a:r>
              <a:rPr lang="ko-KR" altLang="en-US" sz="4400" spc="-300" dirty="0">
                <a:solidFill>
                  <a:schemeClr val="bg1"/>
                </a:solidFill>
              </a:rPr>
              <a:t>분할 구조</a:t>
            </a:r>
          </a:p>
        </p:txBody>
      </p:sp>
      <p:sp>
        <p:nvSpPr>
          <p:cNvPr id="2" name="직사각형 1">
            <a:extLst>
              <a:ext uri="{FF2B5EF4-FFF2-40B4-BE49-F238E27FC236}">
                <a16:creationId xmlns:a16="http://schemas.microsoft.com/office/drawing/2014/main" id="{FF845CED-3B14-14B9-3EB3-D66A54E0ADF4}"/>
              </a:ext>
            </a:extLst>
          </p:cNvPr>
          <p:cNvSpPr/>
          <p:nvPr/>
        </p:nvSpPr>
        <p:spPr>
          <a:xfrm>
            <a:off x="3136231" y="1436234"/>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278E972E-7E83-3EDA-2353-7BFB8502E344}"/>
              </a:ext>
            </a:extLst>
          </p:cNvPr>
          <p:cNvSpPr txBox="1"/>
          <p:nvPr/>
        </p:nvSpPr>
        <p:spPr>
          <a:xfrm>
            <a:off x="4879959" y="1737403"/>
            <a:ext cx="2432077" cy="646331"/>
          </a:xfrm>
          <a:prstGeom prst="rect">
            <a:avLst/>
          </a:prstGeom>
          <a:noFill/>
        </p:spPr>
        <p:txBody>
          <a:bodyPr wrap="none" rtlCol="0">
            <a:spAutoFit/>
          </a:bodyPr>
          <a:lstStyle/>
          <a:p>
            <a:pPr algn="ctr"/>
            <a:r>
              <a:rPr lang="ko-KR" altLang="en-US" sz="3600" spc="-300" dirty="0">
                <a:solidFill>
                  <a:schemeClr val="bg1"/>
                </a:solidFill>
              </a:rPr>
              <a:t>양방향  탐색</a:t>
            </a:r>
          </a:p>
        </p:txBody>
      </p:sp>
      <p:sp>
        <p:nvSpPr>
          <p:cNvPr id="15" name="이등변 삼각형 14">
            <a:extLst>
              <a:ext uri="{FF2B5EF4-FFF2-40B4-BE49-F238E27FC236}">
                <a16:creationId xmlns:a16="http://schemas.microsoft.com/office/drawing/2014/main" id="{15D4C598-4E40-96FC-8C14-1FEFE52F6FCD}"/>
              </a:ext>
            </a:extLst>
          </p:cNvPr>
          <p:cNvSpPr/>
          <p:nvPr/>
        </p:nvSpPr>
        <p:spPr>
          <a:xfrm rot="10800000">
            <a:off x="5956429" y="2775362"/>
            <a:ext cx="279134"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3C40C095-52B5-5919-15B2-12DBD10E7B7D}"/>
              </a:ext>
            </a:extLst>
          </p:cNvPr>
          <p:cNvSpPr/>
          <p:nvPr/>
        </p:nvSpPr>
        <p:spPr>
          <a:xfrm>
            <a:off x="3136230" y="3194618"/>
            <a:ext cx="5919537" cy="11871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C9321429-E9BF-A8E8-AB85-06B633D186F5}"/>
              </a:ext>
            </a:extLst>
          </p:cNvPr>
          <p:cNvSpPr txBox="1"/>
          <p:nvPr/>
        </p:nvSpPr>
        <p:spPr>
          <a:xfrm>
            <a:off x="5132659" y="3419588"/>
            <a:ext cx="1926682" cy="769441"/>
          </a:xfrm>
          <a:prstGeom prst="rect">
            <a:avLst/>
          </a:prstGeom>
          <a:noFill/>
        </p:spPr>
        <p:txBody>
          <a:bodyPr wrap="none" rtlCol="0">
            <a:spAutoFit/>
          </a:bodyPr>
          <a:lstStyle/>
          <a:p>
            <a:pPr algn="ctr"/>
            <a:r>
              <a:rPr lang="en-US" altLang="ko-KR" sz="4400" spc="-300" dirty="0">
                <a:solidFill>
                  <a:schemeClr val="bg1"/>
                </a:solidFill>
              </a:rPr>
              <a:t>head, tail</a:t>
            </a:r>
            <a:endParaRPr lang="ko-KR" altLang="en-US" sz="4400" spc="-300" dirty="0">
              <a:solidFill>
                <a:schemeClr val="bg1"/>
              </a:solidFill>
            </a:endParaRPr>
          </a:p>
        </p:txBody>
      </p:sp>
      <p:sp>
        <p:nvSpPr>
          <p:cNvPr id="16" name="이등변 삼각형 15">
            <a:extLst>
              <a:ext uri="{FF2B5EF4-FFF2-40B4-BE49-F238E27FC236}">
                <a16:creationId xmlns:a16="http://schemas.microsoft.com/office/drawing/2014/main" id="{BB19303E-8BF6-493A-4ACB-9C1D1F04567F}"/>
              </a:ext>
            </a:extLst>
          </p:cNvPr>
          <p:cNvSpPr/>
          <p:nvPr/>
        </p:nvSpPr>
        <p:spPr>
          <a:xfrm rot="10800000">
            <a:off x="5956429" y="4533746"/>
            <a:ext cx="279134"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43184905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1FCEC-ECE8-6893-3415-F8F5D208C078}"/>
            </a:ext>
          </a:extLst>
        </p:cNvPr>
        <p:cNvGrpSpPr/>
        <p:nvPr/>
      </p:nvGrpSpPr>
      <p:grpSpPr>
        <a:xfrm>
          <a:off x="0" y="0"/>
          <a:ext cx="0" cy="0"/>
          <a:chOff x="0" y="0"/>
          <a:chExt cx="0" cy="0"/>
        </a:xfrm>
      </p:grpSpPr>
      <p:pic>
        <p:nvPicPr>
          <p:cNvPr id="41" name="그림 40">
            <a:extLst>
              <a:ext uri="{FF2B5EF4-FFF2-40B4-BE49-F238E27FC236}">
                <a16:creationId xmlns:a16="http://schemas.microsoft.com/office/drawing/2014/main" id="{BBA2260E-ACC1-F8F2-ACEA-59C4CDD89EE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13279" y="2205698"/>
            <a:ext cx="7699653" cy="3097509"/>
          </a:xfrm>
          <a:prstGeom prst="rect">
            <a:avLst/>
          </a:prstGeom>
        </p:spPr>
      </p:pic>
      <p:cxnSp>
        <p:nvCxnSpPr>
          <p:cNvPr id="3" name="직선 연결선 2">
            <a:extLst>
              <a:ext uri="{FF2B5EF4-FFF2-40B4-BE49-F238E27FC236}">
                <a16:creationId xmlns:a16="http://schemas.microsoft.com/office/drawing/2014/main" id="{11CEC1ED-84E1-952E-33C9-E4CC47A7FB0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5A3C84B2-6618-3C15-C8CC-B8876DCCA0DA}"/>
              </a:ext>
            </a:extLst>
          </p:cNvPr>
          <p:cNvSpPr txBox="1"/>
          <p:nvPr/>
        </p:nvSpPr>
        <p:spPr>
          <a:xfrm>
            <a:off x="144378" y="272716"/>
            <a:ext cx="675570"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FC7AB2D4-D679-E867-7A80-75C8AAE61814}"/>
              </a:ext>
            </a:extLst>
          </p:cNvPr>
          <p:cNvSpPr txBox="1"/>
          <p:nvPr/>
        </p:nvSpPr>
        <p:spPr>
          <a:xfrm>
            <a:off x="1163052" y="272716"/>
            <a:ext cx="2627642" cy="523220"/>
          </a:xfrm>
          <a:prstGeom prst="rect">
            <a:avLst/>
          </a:prstGeom>
          <a:noFill/>
        </p:spPr>
        <p:txBody>
          <a:bodyPr wrap="none" rtlCol="0">
            <a:spAutoFit/>
          </a:bodyPr>
          <a:lstStyle/>
          <a:p>
            <a:r>
              <a:rPr lang="ko-KR" altLang="en-US" sz="2800" b="1" spc="-300" dirty="0">
                <a:solidFill>
                  <a:schemeClr val="accent1"/>
                </a:solidFill>
              </a:rPr>
              <a:t>노드</a:t>
            </a:r>
            <a:r>
              <a:rPr lang="en-US" altLang="ko-KR" sz="2800" b="1" spc="-300" dirty="0">
                <a:solidFill>
                  <a:schemeClr val="accent1"/>
                </a:solidFill>
              </a:rPr>
              <a:t>(Node) </a:t>
            </a:r>
            <a:r>
              <a:rPr lang="ko-KR" altLang="en-US" sz="2800" b="1" spc="-300" dirty="0">
                <a:solidFill>
                  <a:schemeClr val="accent1"/>
                </a:solidFill>
              </a:rPr>
              <a:t>구조체</a:t>
            </a:r>
          </a:p>
        </p:txBody>
      </p:sp>
      <p:cxnSp>
        <p:nvCxnSpPr>
          <p:cNvPr id="6" name="직선 연결선 5">
            <a:extLst>
              <a:ext uri="{FF2B5EF4-FFF2-40B4-BE49-F238E27FC236}">
                <a16:creationId xmlns:a16="http://schemas.microsoft.com/office/drawing/2014/main" id="{140F75E7-3456-10AB-7562-5871089680F8}"/>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직사각형 9">
            <a:extLst>
              <a:ext uri="{FF2B5EF4-FFF2-40B4-BE49-F238E27FC236}">
                <a16:creationId xmlns:a16="http://schemas.microsoft.com/office/drawing/2014/main" id="{FAC0C16D-7300-D68E-035F-A3E2A95E19E3}"/>
              </a:ext>
            </a:extLst>
          </p:cNvPr>
          <p:cNvSpPr/>
          <p:nvPr/>
        </p:nvSpPr>
        <p:spPr>
          <a:xfrm>
            <a:off x="291428" y="4953003"/>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A5ABA718-D951-FC58-FB30-AB5C313298C3}"/>
              </a:ext>
            </a:extLst>
          </p:cNvPr>
          <p:cNvSpPr txBox="1"/>
          <p:nvPr/>
        </p:nvSpPr>
        <p:spPr>
          <a:xfrm>
            <a:off x="569171" y="5066691"/>
            <a:ext cx="2725769" cy="523220"/>
          </a:xfrm>
          <a:prstGeom prst="rect">
            <a:avLst/>
          </a:prstGeom>
          <a:noFill/>
        </p:spPr>
        <p:txBody>
          <a:bodyPr wrap="square" rtlCol="0">
            <a:spAutoFit/>
          </a:bodyPr>
          <a:lstStyle/>
          <a:p>
            <a:pPr algn="ctr"/>
            <a:r>
              <a:rPr lang="en-US" altLang="ko-KR" sz="2800" b="1" dirty="0">
                <a:solidFill>
                  <a:schemeClr val="bg1"/>
                </a:solidFill>
              </a:rPr>
              <a:t>next</a:t>
            </a:r>
            <a:endParaRPr lang="ko-KR" altLang="en-US" sz="2800" b="1" dirty="0">
              <a:solidFill>
                <a:schemeClr val="bg1"/>
              </a:solidFill>
            </a:endParaRPr>
          </a:p>
        </p:txBody>
      </p:sp>
      <p:sp>
        <p:nvSpPr>
          <p:cNvPr id="2" name="직사각형 1">
            <a:extLst>
              <a:ext uri="{FF2B5EF4-FFF2-40B4-BE49-F238E27FC236}">
                <a16:creationId xmlns:a16="http://schemas.microsoft.com/office/drawing/2014/main" id="{D2547AC1-07FD-7C81-30A7-C1E58C8164A1}"/>
              </a:ext>
            </a:extLst>
          </p:cNvPr>
          <p:cNvSpPr/>
          <p:nvPr/>
        </p:nvSpPr>
        <p:spPr>
          <a:xfrm>
            <a:off x="291430" y="1436234"/>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이등변 삼각형 14">
            <a:extLst>
              <a:ext uri="{FF2B5EF4-FFF2-40B4-BE49-F238E27FC236}">
                <a16:creationId xmlns:a16="http://schemas.microsoft.com/office/drawing/2014/main" id="{407283C0-C600-9954-6A47-F44EB2EC80CB}"/>
              </a:ext>
            </a:extLst>
          </p:cNvPr>
          <p:cNvSpPr/>
          <p:nvPr/>
        </p:nvSpPr>
        <p:spPr>
          <a:xfrm rot="10800000">
            <a:off x="1797178" y="2775361"/>
            <a:ext cx="231963"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 name="직사각형 8">
            <a:extLst>
              <a:ext uri="{FF2B5EF4-FFF2-40B4-BE49-F238E27FC236}">
                <a16:creationId xmlns:a16="http://schemas.microsoft.com/office/drawing/2014/main" id="{039B32A0-AF9E-1481-DA53-319C73DB367E}"/>
              </a:ext>
            </a:extLst>
          </p:cNvPr>
          <p:cNvSpPr/>
          <p:nvPr/>
        </p:nvSpPr>
        <p:spPr>
          <a:xfrm>
            <a:off x="291429" y="3194618"/>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BE615318-609B-7599-DB34-FF8CE9A07F73}"/>
              </a:ext>
            </a:extLst>
          </p:cNvPr>
          <p:cNvSpPr txBox="1"/>
          <p:nvPr/>
        </p:nvSpPr>
        <p:spPr>
          <a:xfrm>
            <a:off x="449113" y="3295763"/>
            <a:ext cx="3037847" cy="523220"/>
          </a:xfrm>
          <a:prstGeom prst="rect">
            <a:avLst/>
          </a:prstGeom>
          <a:noFill/>
        </p:spPr>
        <p:txBody>
          <a:bodyPr wrap="square" rtlCol="0">
            <a:spAutoFit/>
          </a:bodyPr>
          <a:lstStyle/>
          <a:p>
            <a:pPr algn="ctr"/>
            <a:r>
              <a:rPr lang="en-US" altLang="ko-KR" sz="2800" b="1" dirty="0">
                <a:solidFill>
                  <a:schemeClr val="bg1"/>
                </a:solidFill>
              </a:rPr>
              <a:t>data</a:t>
            </a:r>
            <a:endParaRPr lang="ko-KR" altLang="en-US" sz="2800" b="1" dirty="0">
              <a:solidFill>
                <a:schemeClr val="bg1"/>
              </a:solidFill>
            </a:endParaRPr>
          </a:p>
        </p:txBody>
      </p:sp>
      <p:sp>
        <p:nvSpPr>
          <p:cNvPr id="16" name="이등변 삼각형 15">
            <a:extLst>
              <a:ext uri="{FF2B5EF4-FFF2-40B4-BE49-F238E27FC236}">
                <a16:creationId xmlns:a16="http://schemas.microsoft.com/office/drawing/2014/main" id="{BF5653A1-27EA-2768-45E9-ACA4CEBF16E9}"/>
              </a:ext>
            </a:extLst>
          </p:cNvPr>
          <p:cNvSpPr/>
          <p:nvPr/>
        </p:nvSpPr>
        <p:spPr>
          <a:xfrm rot="10800000">
            <a:off x="1797178" y="4533745"/>
            <a:ext cx="231963" cy="240633"/>
          </a:xfrm>
          <a:prstGeom prst="triangl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5E3205AC-89EC-F915-A86B-17C06D19E99F}"/>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TextBox 35">
            <a:extLst>
              <a:ext uri="{FF2B5EF4-FFF2-40B4-BE49-F238E27FC236}">
                <a16:creationId xmlns:a16="http://schemas.microsoft.com/office/drawing/2014/main" id="{40A4013B-A2CD-21A7-8160-212D5B655085}"/>
              </a:ext>
            </a:extLst>
          </p:cNvPr>
          <p:cNvSpPr txBox="1"/>
          <p:nvPr/>
        </p:nvSpPr>
        <p:spPr>
          <a:xfrm>
            <a:off x="411013" y="1505063"/>
            <a:ext cx="3037847" cy="523220"/>
          </a:xfrm>
          <a:prstGeom prst="rect">
            <a:avLst/>
          </a:prstGeom>
          <a:noFill/>
        </p:spPr>
        <p:txBody>
          <a:bodyPr wrap="square" rtlCol="0">
            <a:spAutoFit/>
          </a:bodyPr>
          <a:lstStyle/>
          <a:p>
            <a:pPr algn="ctr"/>
            <a:r>
              <a:rPr lang="en-US" altLang="ko-KR" sz="2800" b="1" dirty="0" err="1">
                <a:solidFill>
                  <a:schemeClr val="bg1"/>
                </a:solidFill>
              </a:rPr>
              <a:t>prev</a:t>
            </a:r>
            <a:endParaRPr lang="ko-KR" altLang="en-US" sz="2800" b="1" dirty="0">
              <a:solidFill>
                <a:schemeClr val="bg1"/>
              </a:solidFill>
            </a:endParaRPr>
          </a:p>
        </p:txBody>
      </p:sp>
      <p:sp>
        <p:nvSpPr>
          <p:cNvPr id="37" name="TextBox 36">
            <a:extLst>
              <a:ext uri="{FF2B5EF4-FFF2-40B4-BE49-F238E27FC236}">
                <a16:creationId xmlns:a16="http://schemas.microsoft.com/office/drawing/2014/main" id="{5E0F0B3A-D930-2E01-7CB9-B7ABB6E85F39}"/>
              </a:ext>
            </a:extLst>
          </p:cNvPr>
          <p:cNvSpPr txBox="1"/>
          <p:nvPr/>
        </p:nvSpPr>
        <p:spPr>
          <a:xfrm>
            <a:off x="1015365" y="2246789"/>
            <a:ext cx="1919116" cy="338554"/>
          </a:xfrm>
          <a:prstGeom prst="rect">
            <a:avLst/>
          </a:prstGeom>
          <a:noFill/>
        </p:spPr>
        <p:txBody>
          <a:bodyPr wrap="none" rtlCol="0">
            <a:spAutoFit/>
          </a:bodyPr>
          <a:lstStyle/>
          <a:p>
            <a:pPr algn="ctr"/>
            <a:r>
              <a:rPr lang="ko-KR" altLang="en-US" sz="1600" dirty="0"/>
              <a:t>이전 노드를 가리킴</a:t>
            </a:r>
          </a:p>
        </p:txBody>
      </p:sp>
      <p:sp>
        <p:nvSpPr>
          <p:cNvPr id="38" name="TextBox 37">
            <a:extLst>
              <a:ext uri="{FF2B5EF4-FFF2-40B4-BE49-F238E27FC236}">
                <a16:creationId xmlns:a16="http://schemas.microsoft.com/office/drawing/2014/main" id="{AFEA5C04-2749-08C6-DFF7-B5722B0F569D}"/>
              </a:ext>
            </a:extLst>
          </p:cNvPr>
          <p:cNvSpPr txBox="1"/>
          <p:nvPr/>
        </p:nvSpPr>
        <p:spPr>
          <a:xfrm>
            <a:off x="479068" y="3986221"/>
            <a:ext cx="3038012" cy="338554"/>
          </a:xfrm>
          <a:prstGeom prst="rect">
            <a:avLst/>
          </a:prstGeom>
          <a:noFill/>
        </p:spPr>
        <p:txBody>
          <a:bodyPr wrap="none" rtlCol="0">
            <a:spAutoFit/>
          </a:bodyPr>
          <a:lstStyle/>
          <a:p>
            <a:pPr algn="ctr"/>
            <a:r>
              <a:rPr lang="ko-KR" altLang="en-US" sz="1600" dirty="0"/>
              <a:t>각 노드들이 가지고 있는 데이터</a:t>
            </a:r>
          </a:p>
        </p:txBody>
      </p:sp>
      <p:sp>
        <p:nvSpPr>
          <p:cNvPr id="39" name="TextBox 38">
            <a:extLst>
              <a:ext uri="{FF2B5EF4-FFF2-40B4-BE49-F238E27FC236}">
                <a16:creationId xmlns:a16="http://schemas.microsoft.com/office/drawing/2014/main" id="{C645A59B-FA73-7A3C-8C36-4DD29F327A07}"/>
              </a:ext>
            </a:extLst>
          </p:cNvPr>
          <p:cNvSpPr txBox="1"/>
          <p:nvPr/>
        </p:nvSpPr>
        <p:spPr>
          <a:xfrm>
            <a:off x="1041833" y="5778862"/>
            <a:ext cx="1919116" cy="338554"/>
          </a:xfrm>
          <a:prstGeom prst="rect">
            <a:avLst/>
          </a:prstGeom>
          <a:noFill/>
        </p:spPr>
        <p:txBody>
          <a:bodyPr wrap="none" rtlCol="0">
            <a:spAutoFit/>
          </a:bodyPr>
          <a:lstStyle/>
          <a:p>
            <a:pPr algn="ctr"/>
            <a:r>
              <a:rPr lang="ko-KR" altLang="en-US" sz="1600" dirty="0"/>
              <a:t>다음 노드를 </a:t>
            </a:r>
            <a:r>
              <a:rPr lang="ko-KR" altLang="en-US" sz="1600" dirty="0" err="1"/>
              <a:t>가르킴</a:t>
            </a:r>
            <a:endParaRPr lang="ko-KR" altLang="en-US" sz="1600" dirty="0"/>
          </a:p>
        </p:txBody>
      </p:sp>
    </p:spTree>
    <p:extLst>
      <p:ext uri="{BB962C8B-B14F-4D97-AF65-F5344CB8AC3E}">
        <p14:creationId xmlns:p14="http://schemas.microsoft.com/office/powerpoint/2010/main" val="3834350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781FA-5BD6-5035-67EA-DC12A1FCBB12}"/>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B04AB79D-21A4-98E3-CBF0-3D54F2614B4A}"/>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789105B3-4CF8-B193-F8C2-9702EB987ECF}"/>
              </a:ext>
            </a:extLst>
          </p:cNvPr>
          <p:cNvSpPr txBox="1"/>
          <p:nvPr/>
        </p:nvSpPr>
        <p:spPr>
          <a:xfrm>
            <a:off x="144378" y="272716"/>
            <a:ext cx="675570" cy="338554"/>
          </a:xfrm>
          <a:prstGeom prst="rect">
            <a:avLst/>
          </a:prstGeom>
          <a:noFill/>
        </p:spPr>
        <p:txBody>
          <a:bodyPr wrap="none" rtlCol="0">
            <a:spAutoFit/>
          </a:bodyPr>
          <a:lstStyle/>
          <a:p>
            <a:r>
              <a:rPr lang="en-US" altLang="ko-KR" sz="1600" dirty="0">
                <a:solidFill>
                  <a:schemeClr val="accent1"/>
                </a:solidFill>
              </a:rPr>
              <a:t>Part 3</a:t>
            </a:r>
            <a:endParaRPr lang="ko-KR" altLang="en-US" sz="1600" dirty="0">
              <a:solidFill>
                <a:schemeClr val="accent1"/>
              </a:solidFill>
            </a:endParaRPr>
          </a:p>
        </p:txBody>
      </p:sp>
      <p:sp>
        <p:nvSpPr>
          <p:cNvPr id="5" name="TextBox 4">
            <a:extLst>
              <a:ext uri="{FF2B5EF4-FFF2-40B4-BE49-F238E27FC236}">
                <a16:creationId xmlns:a16="http://schemas.microsoft.com/office/drawing/2014/main" id="{A69BAD86-5600-69C3-CBF8-4AB158AF2735}"/>
              </a:ext>
            </a:extLst>
          </p:cNvPr>
          <p:cNvSpPr txBox="1"/>
          <p:nvPr/>
        </p:nvSpPr>
        <p:spPr>
          <a:xfrm>
            <a:off x="1163052" y="272716"/>
            <a:ext cx="1553630" cy="523220"/>
          </a:xfrm>
          <a:prstGeom prst="rect">
            <a:avLst/>
          </a:prstGeom>
          <a:noFill/>
        </p:spPr>
        <p:txBody>
          <a:bodyPr wrap="none" rtlCol="0">
            <a:spAutoFit/>
          </a:bodyPr>
          <a:lstStyle/>
          <a:p>
            <a:r>
              <a:rPr lang="ko-KR" altLang="en-US" sz="2800" b="1" spc="-300" dirty="0">
                <a:solidFill>
                  <a:schemeClr val="accent1"/>
                </a:solidFill>
              </a:rPr>
              <a:t>노드  추가</a:t>
            </a:r>
          </a:p>
        </p:txBody>
      </p:sp>
      <p:cxnSp>
        <p:nvCxnSpPr>
          <p:cNvPr id="6" name="직선 연결선 5">
            <a:extLst>
              <a:ext uri="{FF2B5EF4-FFF2-40B4-BE49-F238E27FC236}">
                <a16:creationId xmlns:a16="http://schemas.microsoft.com/office/drawing/2014/main" id="{80E562F8-A22C-981A-FBBA-3635B1FFE531}"/>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7AC9240-39C6-4096-2CCF-81805E4D7B4F}"/>
              </a:ext>
            </a:extLst>
          </p:cNvPr>
          <p:cNvSpPr txBox="1"/>
          <p:nvPr/>
        </p:nvSpPr>
        <p:spPr>
          <a:xfrm>
            <a:off x="449113" y="3295763"/>
            <a:ext cx="3037847" cy="523220"/>
          </a:xfrm>
          <a:prstGeom prst="rect">
            <a:avLst/>
          </a:prstGeom>
          <a:noFill/>
        </p:spPr>
        <p:txBody>
          <a:bodyPr wrap="square" rtlCol="0">
            <a:spAutoFit/>
          </a:bodyPr>
          <a:lstStyle/>
          <a:p>
            <a:pPr algn="ctr"/>
            <a:r>
              <a:rPr lang="en-US" altLang="ko-KR" sz="2800" b="1" dirty="0">
                <a:solidFill>
                  <a:schemeClr val="bg1"/>
                </a:solidFill>
              </a:rPr>
              <a:t>data</a:t>
            </a:r>
            <a:endParaRPr lang="ko-KR" altLang="en-US" sz="2800" b="1" dirty="0">
              <a:solidFill>
                <a:schemeClr val="bg1"/>
              </a:solidFill>
            </a:endParaRPr>
          </a:p>
        </p:txBody>
      </p:sp>
      <p:sp>
        <p:nvSpPr>
          <p:cNvPr id="19" name="직사각형 18">
            <a:extLst>
              <a:ext uri="{FF2B5EF4-FFF2-40B4-BE49-F238E27FC236}">
                <a16:creationId xmlns:a16="http://schemas.microsoft.com/office/drawing/2014/main" id="{86F30000-BD2A-FEE3-9278-33D4BCA6BB50}"/>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8" name="그림 7">
            <a:extLst>
              <a:ext uri="{FF2B5EF4-FFF2-40B4-BE49-F238E27FC236}">
                <a16:creationId xmlns:a16="http://schemas.microsoft.com/office/drawing/2014/main" id="{4973C0D2-E3BB-C13E-F7B0-55DBC850A002}"/>
              </a:ext>
            </a:extLst>
          </p:cNvPr>
          <p:cNvPicPr>
            <a:picLocks noChangeAspect="1"/>
          </p:cNvPicPr>
          <p:nvPr/>
        </p:nvPicPr>
        <p:blipFill>
          <a:blip r:embed="rId3"/>
          <a:stretch>
            <a:fillRect/>
          </a:stretch>
        </p:blipFill>
        <p:spPr>
          <a:xfrm>
            <a:off x="4104875" y="942237"/>
            <a:ext cx="2988462" cy="1332000"/>
          </a:xfrm>
          <a:prstGeom prst="rect">
            <a:avLst/>
          </a:prstGeom>
        </p:spPr>
      </p:pic>
      <p:pic>
        <p:nvPicPr>
          <p:cNvPr id="12" name="그림 11">
            <a:extLst>
              <a:ext uri="{FF2B5EF4-FFF2-40B4-BE49-F238E27FC236}">
                <a16:creationId xmlns:a16="http://schemas.microsoft.com/office/drawing/2014/main" id="{50DC24F5-7611-70D0-F09A-C4F62C7C9CEC}"/>
              </a:ext>
            </a:extLst>
          </p:cNvPr>
          <p:cNvPicPr>
            <a:picLocks noChangeAspect="1"/>
          </p:cNvPicPr>
          <p:nvPr/>
        </p:nvPicPr>
        <p:blipFill>
          <a:blip r:embed="rId4"/>
          <a:stretch>
            <a:fillRect/>
          </a:stretch>
        </p:blipFill>
        <p:spPr>
          <a:xfrm>
            <a:off x="8782202" y="1019536"/>
            <a:ext cx="2988000" cy="1318110"/>
          </a:xfrm>
          <a:prstGeom prst="rect">
            <a:avLst/>
          </a:prstGeom>
        </p:spPr>
      </p:pic>
      <p:pic>
        <p:nvPicPr>
          <p:cNvPr id="18" name="그림 17">
            <a:extLst>
              <a:ext uri="{FF2B5EF4-FFF2-40B4-BE49-F238E27FC236}">
                <a16:creationId xmlns:a16="http://schemas.microsoft.com/office/drawing/2014/main" id="{1EAEC44F-8F61-FEFD-C380-BF8090A8D6D3}"/>
              </a:ext>
            </a:extLst>
          </p:cNvPr>
          <p:cNvPicPr>
            <a:picLocks/>
          </p:cNvPicPr>
          <p:nvPr/>
        </p:nvPicPr>
        <p:blipFill>
          <a:blip r:embed="rId5"/>
          <a:stretch>
            <a:fillRect/>
          </a:stretch>
        </p:blipFill>
        <p:spPr>
          <a:xfrm>
            <a:off x="4124229" y="2356878"/>
            <a:ext cx="2988000" cy="1317600"/>
          </a:xfrm>
          <a:prstGeom prst="rect">
            <a:avLst/>
          </a:prstGeom>
        </p:spPr>
      </p:pic>
      <p:pic>
        <p:nvPicPr>
          <p:cNvPr id="21" name="그림 20">
            <a:extLst>
              <a:ext uri="{FF2B5EF4-FFF2-40B4-BE49-F238E27FC236}">
                <a16:creationId xmlns:a16="http://schemas.microsoft.com/office/drawing/2014/main" id="{07F74050-C5DE-68F0-3599-7A9A3E59D755}"/>
              </a:ext>
            </a:extLst>
          </p:cNvPr>
          <p:cNvPicPr preferRelativeResize="0">
            <a:picLocks noChangeAspect="1"/>
          </p:cNvPicPr>
          <p:nvPr/>
        </p:nvPicPr>
        <p:blipFill>
          <a:blip r:embed="rId6"/>
          <a:stretch>
            <a:fillRect/>
          </a:stretch>
        </p:blipFill>
        <p:spPr>
          <a:xfrm>
            <a:off x="8754887" y="2430282"/>
            <a:ext cx="2988000" cy="1229395"/>
          </a:xfrm>
          <a:prstGeom prst="rect">
            <a:avLst/>
          </a:prstGeom>
        </p:spPr>
      </p:pic>
      <p:cxnSp>
        <p:nvCxnSpPr>
          <p:cNvPr id="23" name="직선 화살표 연결선 22">
            <a:extLst>
              <a:ext uri="{FF2B5EF4-FFF2-40B4-BE49-F238E27FC236}">
                <a16:creationId xmlns:a16="http://schemas.microsoft.com/office/drawing/2014/main" id="{2FF8DC86-513F-37BB-A301-E3274138428A}"/>
              </a:ext>
            </a:extLst>
          </p:cNvPr>
          <p:cNvCxnSpPr>
            <a:cxnSpLocks/>
          </p:cNvCxnSpPr>
          <p:nvPr/>
        </p:nvCxnSpPr>
        <p:spPr>
          <a:xfrm>
            <a:off x="7073303" y="1558054"/>
            <a:ext cx="1728933"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5" name="직선 화살표 연결선 24">
            <a:extLst>
              <a:ext uri="{FF2B5EF4-FFF2-40B4-BE49-F238E27FC236}">
                <a16:creationId xmlns:a16="http://schemas.microsoft.com/office/drawing/2014/main" id="{152DF793-0399-1838-9DF3-0EDC58770A9B}"/>
              </a:ext>
            </a:extLst>
          </p:cNvPr>
          <p:cNvCxnSpPr>
            <a:cxnSpLocks/>
          </p:cNvCxnSpPr>
          <p:nvPr/>
        </p:nvCxnSpPr>
        <p:spPr>
          <a:xfrm flipH="1">
            <a:off x="7082863" y="1642801"/>
            <a:ext cx="1698882" cy="97668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8" name="직선 화살표 연결선 27">
            <a:extLst>
              <a:ext uri="{FF2B5EF4-FFF2-40B4-BE49-F238E27FC236}">
                <a16:creationId xmlns:a16="http://schemas.microsoft.com/office/drawing/2014/main" id="{E9CDA1F6-71ED-AE7C-452D-E886D1F6A508}"/>
              </a:ext>
            </a:extLst>
          </p:cNvPr>
          <p:cNvCxnSpPr/>
          <p:nvPr/>
        </p:nvCxnSpPr>
        <p:spPr>
          <a:xfrm>
            <a:off x="7048369" y="2717448"/>
            <a:ext cx="1689322" cy="0"/>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35" name="그림 34">
            <a:extLst>
              <a:ext uri="{FF2B5EF4-FFF2-40B4-BE49-F238E27FC236}">
                <a16:creationId xmlns:a16="http://schemas.microsoft.com/office/drawing/2014/main" id="{DD43C60A-E30C-B669-002E-7D441C885458}"/>
              </a:ext>
            </a:extLst>
          </p:cNvPr>
          <p:cNvPicPr>
            <a:picLocks/>
          </p:cNvPicPr>
          <p:nvPr/>
        </p:nvPicPr>
        <p:blipFill>
          <a:blip r:embed="rId7"/>
          <a:stretch>
            <a:fillRect/>
          </a:stretch>
        </p:blipFill>
        <p:spPr>
          <a:xfrm>
            <a:off x="6096000" y="4141348"/>
            <a:ext cx="3096000" cy="1317600"/>
          </a:xfrm>
          <a:prstGeom prst="rect">
            <a:avLst/>
          </a:prstGeom>
        </p:spPr>
      </p:pic>
      <p:pic>
        <p:nvPicPr>
          <p:cNvPr id="41" name="그림 40">
            <a:extLst>
              <a:ext uri="{FF2B5EF4-FFF2-40B4-BE49-F238E27FC236}">
                <a16:creationId xmlns:a16="http://schemas.microsoft.com/office/drawing/2014/main" id="{A0C7A99B-9096-B5B2-4A18-6A40EAF221BC}"/>
              </a:ext>
            </a:extLst>
          </p:cNvPr>
          <p:cNvPicPr>
            <a:picLocks noChangeAspect="1"/>
          </p:cNvPicPr>
          <p:nvPr/>
        </p:nvPicPr>
        <p:blipFill>
          <a:blip r:embed="rId8"/>
          <a:stretch>
            <a:fillRect/>
          </a:stretch>
        </p:blipFill>
        <p:spPr>
          <a:xfrm>
            <a:off x="5687372" y="5545312"/>
            <a:ext cx="4411316" cy="788602"/>
          </a:xfrm>
          <a:prstGeom prst="rect">
            <a:avLst/>
          </a:prstGeom>
        </p:spPr>
      </p:pic>
      <p:cxnSp>
        <p:nvCxnSpPr>
          <p:cNvPr id="44" name="직선 화살표 연결선 43">
            <a:extLst>
              <a:ext uri="{FF2B5EF4-FFF2-40B4-BE49-F238E27FC236}">
                <a16:creationId xmlns:a16="http://schemas.microsoft.com/office/drawing/2014/main" id="{AAAD7BBF-1B60-04B3-213C-CAA8D5085AE5}"/>
              </a:ext>
            </a:extLst>
          </p:cNvPr>
          <p:cNvCxnSpPr>
            <a:cxnSpLocks/>
            <a:endCxn id="35" idx="0"/>
          </p:cNvCxnSpPr>
          <p:nvPr/>
        </p:nvCxnSpPr>
        <p:spPr>
          <a:xfrm flipH="1">
            <a:off x="7644000" y="2869025"/>
            <a:ext cx="1259836" cy="1272323"/>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47" name="직선 연결선 46">
            <a:extLst>
              <a:ext uri="{FF2B5EF4-FFF2-40B4-BE49-F238E27FC236}">
                <a16:creationId xmlns:a16="http://schemas.microsoft.com/office/drawing/2014/main" id="{890DB7D8-9878-0C98-C724-3179067E0D4D}"/>
              </a:ext>
            </a:extLst>
          </p:cNvPr>
          <p:cNvCxnSpPr/>
          <p:nvPr/>
        </p:nvCxnSpPr>
        <p:spPr>
          <a:xfrm>
            <a:off x="4015401" y="5452533"/>
            <a:ext cx="7727486" cy="0"/>
          </a:xfrm>
          <a:prstGeom prst="line">
            <a:avLst/>
          </a:prstGeom>
        </p:spPr>
        <p:style>
          <a:lnRef idx="1">
            <a:schemeClr val="accent1"/>
          </a:lnRef>
          <a:fillRef idx="0">
            <a:schemeClr val="accent1"/>
          </a:fillRef>
          <a:effectRef idx="0">
            <a:schemeClr val="accent1"/>
          </a:effectRef>
          <a:fontRef idx="minor">
            <a:schemeClr val="tx1"/>
          </a:fontRef>
        </p:style>
      </p:cxnSp>
      <p:sp>
        <p:nvSpPr>
          <p:cNvPr id="53" name="직사각형 52">
            <a:extLst>
              <a:ext uri="{FF2B5EF4-FFF2-40B4-BE49-F238E27FC236}">
                <a16:creationId xmlns:a16="http://schemas.microsoft.com/office/drawing/2014/main" id="{EB8DF210-3666-FEDF-6E7D-9FA641CD44F7}"/>
              </a:ext>
            </a:extLst>
          </p:cNvPr>
          <p:cNvSpPr/>
          <p:nvPr/>
        </p:nvSpPr>
        <p:spPr>
          <a:xfrm>
            <a:off x="291430" y="2926369"/>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TextBox 53">
            <a:extLst>
              <a:ext uri="{FF2B5EF4-FFF2-40B4-BE49-F238E27FC236}">
                <a16:creationId xmlns:a16="http://schemas.microsoft.com/office/drawing/2014/main" id="{AA254D18-615B-DE11-80DA-EFBA5A1F6920}"/>
              </a:ext>
            </a:extLst>
          </p:cNvPr>
          <p:cNvSpPr txBox="1"/>
          <p:nvPr/>
        </p:nvSpPr>
        <p:spPr>
          <a:xfrm>
            <a:off x="411241" y="2995198"/>
            <a:ext cx="3037847" cy="523220"/>
          </a:xfrm>
          <a:prstGeom prst="rect">
            <a:avLst/>
          </a:prstGeom>
          <a:noFill/>
        </p:spPr>
        <p:txBody>
          <a:bodyPr wrap="square" rtlCol="0">
            <a:spAutoFit/>
          </a:bodyPr>
          <a:lstStyle/>
          <a:p>
            <a:pPr algn="ctr"/>
            <a:r>
              <a:rPr lang="ko-KR" altLang="en-US" sz="2800" b="1" dirty="0">
                <a:solidFill>
                  <a:schemeClr val="bg1"/>
                </a:solidFill>
              </a:rPr>
              <a:t>전개 과정</a:t>
            </a:r>
          </a:p>
        </p:txBody>
      </p:sp>
      <p:sp>
        <p:nvSpPr>
          <p:cNvPr id="55" name="직사각형 54">
            <a:extLst>
              <a:ext uri="{FF2B5EF4-FFF2-40B4-BE49-F238E27FC236}">
                <a16:creationId xmlns:a16="http://schemas.microsoft.com/office/drawing/2014/main" id="{D322924E-6D1D-39C6-BF4C-F427FFB23EDB}"/>
              </a:ext>
            </a:extLst>
          </p:cNvPr>
          <p:cNvSpPr/>
          <p:nvPr/>
        </p:nvSpPr>
        <p:spPr>
          <a:xfrm>
            <a:off x="329782" y="5586430"/>
            <a:ext cx="3281257" cy="70040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6" name="TextBox 55">
            <a:extLst>
              <a:ext uri="{FF2B5EF4-FFF2-40B4-BE49-F238E27FC236}">
                <a16:creationId xmlns:a16="http://schemas.microsoft.com/office/drawing/2014/main" id="{13E753D2-B4BD-1682-1735-F23EA6A029F2}"/>
              </a:ext>
            </a:extLst>
          </p:cNvPr>
          <p:cNvSpPr txBox="1"/>
          <p:nvPr/>
        </p:nvSpPr>
        <p:spPr>
          <a:xfrm>
            <a:off x="411013" y="5709439"/>
            <a:ext cx="3037847" cy="523220"/>
          </a:xfrm>
          <a:prstGeom prst="rect">
            <a:avLst/>
          </a:prstGeom>
          <a:noFill/>
        </p:spPr>
        <p:txBody>
          <a:bodyPr wrap="square" rtlCol="0">
            <a:spAutoFit/>
          </a:bodyPr>
          <a:lstStyle/>
          <a:p>
            <a:pPr algn="ctr"/>
            <a:r>
              <a:rPr lang="ko-KR" altLang="en-US" sz="2800" b="1" dirty="0">
                <a:solidFill>
                  <a:schemeClr val="bg1"/>
                </a:solidFill>
              </a:rPr>
              <a:t>결과</a:t>
            </a:r>
          </a:p>
        </p:txBody>
      </p:sp>
    </p:spTree>
    <p:extLst>
      <p:ext uri="{BB962C8B-B14F-4D97-AF65-F5344CB8AC3E}">
        <p14:creationId xmlns:p14="http://schemas.microsoft.com/office/powerpoint/2010/main" val="2639789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C346514-A185-D41C-7ACA-F20B1EF5D57C}"/>
            </a:ext>
          </a:extLst>
        </p:cNvPr>
        <p:cNvGrpSpPr/>
        <p:nvPr/>
      </p:nvGrpSpPr>
      <p:grpSpPr>
        <a:xfrm>
          <a:off x="0" y="0"/>
          <a:ext cx="0" cy="0"/>
          <a:chOff x="0" y="0"/>
          <a:chExt cx="0" cy="0"/>
        </a:xfrm>
      </p:grpSpPr>
      <p:grpSp>
        <p:nvGrpSpPr>
          <p:cNvPr id="7" name="그룹 6">
            <a:extLst>
              <a:ext uri="{FF2B5EF4-FFF2-40B4-BE49-F238E27FC236}">
                <a16:creationId xmlns:a16="http://schemas.microsoft.com/office/drawing/2014/main" id="{73AA0908-7E23-382B-BE69-E74B06308D92}"/>
              </a:ext>
            </a:extLst>
          </p:cNvPr>
          <p:cNvGrpSpPr/>
          <p:nvPr/>
        </p:nvGrpSpPr>
        <p:grpSpPr>
          <a:xfrm>
            <a:off x="4771250" y="940770"/>
            <a:ext cx="7293750" cy="4483012"/>
            <a:chOff x="6714067" y="311562"/>
            <a:chExt cx="7293750" cy="4483012"/>
          </a:xfrm>
        </p:grpSpPr>
        <p:sp>
          <p:nvSpPr>
            <p:cNvPr id="2" name="TextBox 1">
              <a:extLst>
                <a:ext uri="{FF2B5EF4-FFF2-40B4-BE49-F238E27FC236}">
                  <a16:creationId xmlns:a16="http://schemas.microsoft.com/office/drawing/2014/main" id="{66B8033B-7E7A-D3B0-F1A1-3115A740CE85}"/>
                </a:ext>
              </a:extLst>
            </p:cNvPr>
            <p:cNvSpPr txBox="1"/>
            <p:nvPr/>
          </p:nvSpPr>
          <p:spPr>
            <a:xfrm>
              <a:off x="6714067" y="311562"/>
              <a:ext cx="1478290" cy="3154710"/>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19900" b="1" dirty="0">
                  <a:solidFill>
                    <a:prstClr val="white"/>
                  </a:solidFill>
                  <a:latin typeface="Pretendard Black"/>
                  <a:ea typeface="+mj-ea"/>
                </a:rPr>
                <a:t>4</a:t>
              </a:r>
              <a:endParaRPr kumimoji="0" lang="ko-KR" altLang="en-US" sz="19900" b="1" i="0" u="none" strike="noStrike" kern="1200" cap="none" spc="0" normalizeH="0" baseline="0" noProof="0" dirty="0">
                <a:ln>
                  <a:noFill/>
                </a:ln>
                <a:solidFill>
                  <a:prstClr val="white"/>
                </a:solidFill>
                <a:effectLst/>
                <a:uLnTx/>
                <a:uFillTx/>
                <a:latin typeface="Pretendard Black"/>
                <a:ea typeface="+mj-ea"/>
                <a:cs typeface="+mn-cs"/>
              </a:endParaRPr>
            </a:p>
          </p:txBody>
        </p:sp>
        <p:sp>
          <p:nvSpPr>
            <p:cNvPr id="3" name="TextBox 2">
              <a:extLst>
                <a:ext uri="{FF2B5EF4-FFF2-40B4-BE49-F238E27FC236}">
                  <a16:creationId xmlns:a16="http://schemas.microsoft.com/office/drawing/2014/main" id="{E1999FF6-7CA2-EB4D-9950-3317C80033AF}"/>
                </a:ext>
              </a:extLst>
            </p:cNvPr>
            <p:cNvSpPr txBox="1"/>
            <p:nvPr/>
          </p:nvSpPr>
          <p:spPr>
            <a:xfrm>
              <a:off x="6736820" y="3590598"/>
              <a:ext cx="5038559" cy="830997"/>
            </a:xfrm>
            <a:prstGeom prst="rect">
              <a:avLst/>
            </a:prstGeom>
            <a:noFill/>
          </p:spPr>
          <p:txBody>
            <a:bodyPr wrap="none" rtlCol="0">
              <a:spAutoFit/>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4800" b="1" spc="-300" dirty="0" smtClean="0">
                  <a:solidFill>
                    <a:prstClr val="white"/>
                  </a:solidFill>
                  <a:latin typeface="Pretendard"/>
                </a:rPr>
                <a:t>주식 매매 프로그램</a:t>
              </a:r>
              <a:endParaRPr kumimoji="0" lang="ko-KR" altLang="en-US" sz="4800" b="1" i="0" u="none" strike="noStrike" kern="1200" cap="none" spc="-300" normalizeH="0" baseline="0" noProof="0" dirty="0">
                <a:ln>
                  <a:noFill/>
                </a:ln>
                <a:solidFill>
                  <a:prstClr val="white"/>
                </a:solidFill>
                <a:effectLst/>
                <a:uLnTx/>
                <a:uFillTx/>
                <a:latin typeface="Pretendard"/>
                <a:cs typeface="+mn-cs"/>
              </a:endParaRPr>
            </a:p>
          </p:txBody>
        </p:sp>
        <p:cxnSp>
          <p:nvCxnSpPr>
            <p:cNvPr id="4" name="직선 연결선 3">
              <a:extLst>
                <a:ext uri="{FF2B5EF4-FFF2-40B4-BE49-F238E27FC236}">
                  <a16:creationId xmlns:a16="http://schemas.microsoft.com/office/drawing/2014/main" id="{DEC94D94-D8E4-219F-840C-2E2464609EF8}"/>
                </a:ext>
              </a:extLst>
            </p:cNvPr>
            <p:cNvCxnSpPr>
              <a:cxnSpLocks/>
            </p:cNvCxnSpPr>
            <p:nvPr/>
          </p:nvCxnSpPr>
          <p:spPr>
            <a:xfrm>
              <a:off x="6714067" y="4545921"/>
              <a:ext cx="7293750"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6" name="직선 연결선 5">
              <a:extLst>
                <a:ext uri="{FF2B5EF4-FFF2-40B4-BE49-F238E27FC236}">
                  <a16:creationId xmlns:a16="http://schemas.microsoft.com/office/drawing/2014/main" id="{CE0A6E7C-28CE-208F-D828-D1406AC934BC}"/>
                </a:ext>
              </a:extLst>
            </p:cNvPr>
            <p:cNvCxnSpPr>
              <a:cxnSpLocks/>
            </p:cNvCxnSpPr>
            <p:nvPr/>
          </p:nvCxnSpPr>
          <p:spPr>
            <a:xfrm>
              <a:off x="6817895" y="4794574"/>
              <a:ext cx="7189922"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833381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F1092-919E-AE87-730E-E2256FD53DE1}"/>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DD98997E-EAE4-C404-CF6D-4E314E6CEB2E}"/>
              </a:ext>
            </a:extLst>
          </p:cNvPr>
          <p:cNvCxnSpPr/>
          <p:nvPr/>
        </p:nvCxnSpPr>
        <p:spPr>
          <a:xfrm>
            <a:off x="144378" y="1350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E637E3E-F660-E232-CFD7-1CCCCCF80E8D}"/>
              </a:ext>
            </a:extLst>
          </p:cNvPr>
          <p:cNvSpPr txBox="1"/>
          <p:nvPr/>
        </p:nvSpPr>
        <p:spPr>
          <a:xfrm>
            <a:off x="144378" y="247316"/>
            <a:ext cx="675570" cy="338554"/>
          </a:xfrm>
          <a:prstGeom prst="rect">
            <a:avLst/>
          </a:prstGeom>
          <a:noFill/>
        </p:spPr>
        <p:txBody>
          <a:bodyPr wrap="none" rtlCol="0">
            <a:spAutoFit/>
          </a:bodyPr>
          <a:lstStyle/>
          <a:p>
            <a:r>
              <a:rPr lang="en-US" altLang="ko-KR" sz="1600" dirty="0">
                <a:solidFill>
                  <a:schemeClr val="accent1"/>
                </a:solidFill>
              </a:rPr>
              <a:t>Part 4</a:t>
            </a:r>
            <a:endParaRPr lang="ko-KR" altLang="en-US" sz="1600" dirty="0">
              <a:solidFill>
                <a:schemeClr val="accent1"/>
              </a:solidFill>
            </a:endParaRPr>
          </a:p>
        </p:txBody>
      </p:sp>
      <p:sp>
        <p:nvSpPr>
          <p:cNvPr id="5" name="TextBox 4">
            <a:extLst>
              <a:ext uri="{FF2B5EF4-FFF2-40B4-BE49-F238E27FC236}">
                <a16:creationId xmlns:a16="http://schemas.microsoft.com/office/drawing/2014/main" id="{A1B2F795-7C28-E6D0-79A8-4F8AF67B4F5D}"/>
              </a:ext>
            </a:extLst>
          </p:cNvPr>
          <p:cNvSpPr txBox="1"/>
          <p:nvPr/>
        </p:nvSpPr>
        <p:spPr>
          <a:xfrm>
            <a:off x="1163052" y="247316"/>
            <a:ext cx="1874231" cy="523220"/>
          </a:xfrm>
          <a:prstGeom prst="rect">
            <a:avLst/>
          </a:prstGeom>
          <a:noFill/>
        </p:spPr>
        <p:txBody>
          <a:bodyPr wrap="none" rtlCol="0">
            <a:spAutoFit/>
          </a:bodyPr>
          <a:lstStyle/>
          <a:p>
            <a:r>
              <a:rPr lang="ko-KR" altLang="en-US" sz="2800" b="1" spc="-300" dirty="0">
                <a:solidFill>
                  <a:schemeClr val="accent1"/>
                </a:solidFill>
              </a:rPr>
              <a:t>시스템  구조</a:t>
            </a:r>
          </a:p>
        </p:txBody>
      </p:sp>
      <p:cxnSp>
        <p:nvCxnSpPr>
          <p:cNvPr id="6" name="직선 연결선 5">
            <a:extLst>
              <a:ext uri="{FF2B5EF4-FFF2-40B4-BE49-F238E27FC236}">
                <a16:creationId xmlns:a16="http://schemas.microsoft.com/office/drawing/2014/main" id="{4BA176DD-ED06-AFC2-127F-D94DAE262DBF}"/>
              </a:ext>
            </a:extLst>
          </p:cNvPr>
          <p:cNvCxnSpPr/>
          <p:nvPr/>
        </p:nvCxnSpPr>
        <p:spPr>
          <a:xfrm>
            <a:off x="144378" y="67122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1486E16-A0A6-880A-BF4E-721A177CC957}"/>
              </a:ext>
            </a:extLst>
          </p:cNvPr>
          <p:cNvSpPr txBox="1"/>
          <p:nvPr/>
        </p:nvSpPr>
        <p:spPr>
          <a:xfrm>
            <a:off x="3309951" y="741916"/>
            <a:ext cx="2856714" cy="369332"/>
          </a:xfrm>
          <a:prstGeom prst="rect">
            <a:avLst/>
          </a:prstGeom>
          <a:noFill/>
        </p:spPr>
        <p:txBody>
          <a:bodyPr wrap="square" rtlCol="0">
            <a:spAutoFit/>
          </a:bodyPr>
          <a:lstStyle/>
          <a:p>
            <a:pPr algn="ctr"/>
            <a:r>
              <a:rPr lang="en-US" altLang="ko-KR" dirty="0">
                <a:solidFill>
                  <a:schemeClr val="bg1">
                    <a:lumMod val="95000"/>
                  </a:schemeClr>
                </a:solidFill>
              </a:rPr>
              <a:t>피연산자 처리</a:t>
            </a:r>
            <a:endParaRPr lang="ko-KR" altLang="en-US" dirty="0">
              <a:solidFill>
                <a:schemeClr val="bg1">
                  <a:lumMod val="95000"/>
                </a:schemeClr>
              </a:solidFill>
            </a:endParaRPr>
          </a:p>
        </p:txBody>
      </p:sp>
      <p:sp>
        <p:nvSpPr>
          <p:cNvPr id="16" name="TextBox 15">
            <a:extLst>
              <a:ext uri="{FF2B5EF4-FFF2-40B4-BE49-F238E27FC236}">
                <a16:creationId xmlns:a16="http://schemas.microsoft.com/office/drawing/2014/main" id="{65875B2F-8057-E0F8-C90D-5DB9DBD5587A}"/>
              </a:ext>
            </a:extLst>
          </p:cNvPr>
          <p:cNvSpPr txBox="1"/>
          <p:nvPr/>
        </p:nvSpPr>
        <p:spPr>
          <a:xfrm>
            <a:off x="4331121" y="2126129"/>
            <a:ext cx="768159" cy="369332"/>
          </a:xfrm>
          <a:prstGeom prst="rect">
            <a:avLst/>
          </a:prstGeom>
          <a:noFill/>
        </p:spPr>
        <p:txBody>
          <a:bodyPr wrap="none" rtlCol="0">
            <a:spAutoFit/>
          </a:bodyPr>
          <a:lstStyle/>
          <a:p>
            <a:pPr algn="ctr"/>
            <a:r>
              <a:rPr lang="en-US" altLang="ko-KR" dirty="0">
                <a:solidFill>
                  <a:schemeClr val="bg1">
                    <a:lumMod val="95000"/>
                  </a:schemeClr>
                </a:solidFill>
              </a:rPr>
              <a:t>연산자 처리</a:t>
            </a:r>
            <a:endParaRPr lang="ko-KR" altLang="en-US" dirty="0">
              <a:solidFill>
                <a:schemeClr val="bg1">
                  <a:lumMod val="95000"/>
                </a:schemeClr>
              </a:solidFill>
            </a:endParaRPr>
          </a:p>
        </p:txBody>
      </p:sp>
      <p:sp>
        <p:nvSpPr>
          <p:cNvPr id="20" name="TextBox 19">
            <a:extLst>
              <a:ext uri="{FF2B5EF4-FFF2-40B4-BE49-F238E27FC236}">
                <a16:creationId xmlns:a16="http://schemas.microsoft.com/office/drawing/2014/main" id="{B3CE42A7-91FE-34C0-DACD-35E1E441FB08}"/>
              </a:ext>
            </a:extLst>
          </p:cNvPr>
          <p:cNvSpPr txBox="1"/>
          <p:nvPr/>
        </p:nvSpPr>
        <p:spPr>
          <a:xfrm>
            <a:off x="9840808" y="2126129"/>
            <a:ext cx="768159" cy="369332"/>
          </a:xfrm>
          <a:prstGeom prst="rect">
            <a:avLst/>
          </a:prstGeom>
          <a:noFill/>
        </p:spPr>
        <p:txBody>
          <a:bodyPr wrap="none" rtlCol="0">
            <a:spAutoFit/>
          </a:bodyPr>
          <a:lstStyle/>
          <a:p>
            <a:pPr algn="ctr"/>
            <a:r>
              <a:rPr lang="en-US" altLang="ko-KR" dirty="0">
                <a:solidFill>
                  <a:schemeClr val="bg1">
                    <a:lumMod val="95000"/>
                  </a:schemeClr>
                </a:solidFill>
              </a:rPr>
              <a:t>종료 처리</a:t>
            </a:r>
            <a:endParaRPr lang="ko-KR" altLang="en-US" dirty="0">
              <a:solidFill>
                <a:schemeClr val="bg1">
                  <a:lumMod val="95000"/>
                </a:schemeClr>
              </a:solidFill>
            </a:endParaRPr>
          </a:p>
        </p:txBody>
      </p:sp>
      <p:sp>
        <p:nvSpPr>
          <p:cNvPr id="26" name="TextBox 25">
            <a:extLst>
              <a:ext uri="{FF2B5EF4-FFF2-40B4-BE49-F238E27FC236}">
                <a16:creationId xmlns:a16="http://schemas.microsoft.com/office/drawing/2014/main" id="{1983F969-C757-81EB-E1F3-3A41B05D3132}"/>
              </a:ext>
            </a:extLst>
          </p:cNvPr>
          <p:cNvSpPr txBox="1"/>
          <p:nvPr/>
        </p:nvSpPr>
        <p:spPr>
          <a:xfrm>
            <a:off x="4633668" y="725491"/>
            <a:ext cx="2856714" cy="369332"/>
          </a:xfrm>
          <a:prstGeom prst="rect">
            <a:avLst/>
          </a:prstGeom>
          <a:noFill/>
        </p:spPr>
        <p:txBody>
          <a:bodyPr wrap="square" rtlCol="0">
            <a:spAutoFit/>
          </a:bodyPr>
          <a:lstStyle/>
          <a:p>
            <a:pPr algn="ctr"/>
            <a:r>
              <a:rPr lang="en-US" altLang="ko-KR" dirty="0">
                <a:solidFill>
                  <a:schemeClr val="bg1">
                    <a:lumMod val="95000"/>
                  </a:schemeClr>
                </a:solidFill>
              </a:rPr>
              <a:t>피연산자 처리</a:t>
            </a:r>
            <a:endParaRPr lang="ko-KR" altLang="en-US" dirty="0">
              <a:solidFill>
                <a:schemeClr val="bg1">
                  <a:lumMod val="95000"/>
                </a:schemeClr>
              </a:solidFill>
            </a:endParaRPr>
          </a:p>
        </p:txBody>
      </p:sp>
      <p:sp>
        <p:nvSpPr>
          <p:cNvPr id="27" name="사각형: 둥근 모서리 26">
            <a:extLst>
              <a:ext uri="{FF2B5EF4-FFF2-40B4-BE49-F238E27FC236}">
                <a16:creationId xmlns:a16="http://schemas.microsoft.com/office/drawing/2014/main" id="{CE15347C-D371-D2BA-A132-CCB26634C515}"/>
              </a:ext>
            </a:extLst>
          </p:cNvPr>
          <p:cNvSpPr/>
          <p:nvPr/>
        </p:nvSpPr>
        <p:spPr>
          <a:xfrm>
            <a:off x="1812100" y="882829"/>
            <a:ext cx="8957733" cy="1188656"/>
          </a:xfrm>
          <a:prstGeom prst="roundRect">
            <a:avLst>
              <a:gd name="adj" fmla="val 48203"/>
            </a:avLst>
          </a:prstGeom>
          <a:solidFill>
            <a:schemeClr val="accent2"/>
          </a:solidFill>
          <a:ln>
            <a:noFill/>
          </a:ln>
          <a:effectLst>
            <a:outerShdw blurRad="76200" dist="12700" dir="2700000" algn="tl" rotWithShape="0">
              <a:schemeClr val="bg1">
                <a:lumMod val="85000"/>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A5E336C0-CDE2-1516-ED86-A9AE92231031}"/>
              </a:ext>
            </a:extLst>
          </p:cNvPr>
          <p:cNvSpPr txBox="1"/>
          <p:nvPr/>
        </p:nvSpPr>
        <p:spPr>
          <a:xfrm flipH="1">
            <a:off x="2717565" y="888492"/>
            <a:ext cx="6956657" cy="1077218"/>
          </a:xfrm>
          <a:prstGeom prst="rect">
            <a:avLst/>
          </a:prstGeom>
          <a:noFill/>
        </p:spPr>
        <p:txBody>
          <a:bodyPr wrap="square" rtlCol="0">
            <a:spAutoFit/>
          </a:bodyPr>
          <a:lstStyle/>
          <a:p>
            <a:pPr algn="ctr"/>
            <a:r>
              <a:rPr lang="ko-KR" altLang="en-US" sz="3200" b="1" spc="-300" dirty="0">
                <a:solidFill>
                  <a:schemeClr val="bg1"/>
                </a:solidFill>
                <a:latin typeface="+mn-ea"/>
              </a:rPr>
              <a:t>메인 메뉴                     </a:t>
            </a:r>
          </a:p>
          <a:p>
            <a:pPr algn="ctr"/>
            <a:r>
              <a:rPr lang="en-US" altLang="ko-KR" sz="3200" b="1" spc="-300" dirty="0">
                <a:solidFill>
                  <a:schemeClr val="bg1"/>
                </a:solidFill>
                <a:latin typeface="+mn-ea"/>
              </a:rPr>
              <a:t>1. </a:t>
            </a:r>
            <a:r>
              <a:rPr lang="ko-KR" altLang="en-US" sz="3200" b="1" spc="-300" dirty="0">
                <a:solidFill>
                  <a:schemeClr val="bg1"/>
                </a:solidFill>
                <a:latin typeface="+mn-ea"/>
              </a:rPr>
              <a:t>매수  </a:t>
            </a:r>
            <a:r>
              <a:rPr lang="en-US" altLang="ko-KR" sz="3200" b="1" spc="-300" dirty="0">
                <a:solidFill>
                  <a:schemeClr val="bg1"/>
                </a:solidFill>
                <a:latin typeface="+mn-ea"/>
              </a:rPr>
              <a:t>2. </a:t>
            </a:r>
            <a:r>
              <a:rPr lang="ko-KR" altLang="en-US" sz="3200" b="1" spc="-300" dirty="0">
                <a:solidFill>
                  <a:schemeClr val="bg1"/>
                </a:solidFill>
                <a:latin typeface="+mn-ea"/>
              </a:rPr>
              <a:t>매도  </a:t>
            </a:r>
            <a:r>
              <a:rPr lang="en-US" altLang="ko-KR" sz="3200" b="1" spc="-300" dirty="0">
                <a:solidFill>
                  <a:schemeClr val="bg1"/>
                </a:solidFill>
                <a:latin typeface="+mn-ea"/>
              </a:rPr>
              <a:t>3. </a:t>
            </a:r>
            <a:r>
              <a:rPr lang="ko-KR" altLang="en-US" sz="3200" b="1" spc="-300" dirty="0">
                <a:solidFill>
                  <a:schemeClr val="bg1"/>
                </a:solidFill>
                <a:latin typeface="+mn-ea"/>
              </a:rPr>
              <a:t>조회  </a:t>
            </a:r>
            <a:r>
              <a:rPr lang="en-US" altLang="ko-KR" sz="3200" b="1" spc="-300" dirty="0">
                <a:solidFill>
                  <a:schemeClr val="bg1"/>
                </a:solidFill>
                <a:latin typeface="+mn-ea"/>
              </a:rPr>
              <a:t>9. </a:t>
            </a:r>
            <a:r>
              <a:rPr lang="ko-KR" altLang="en-US" sz="3200" b="1" spc="-300" dirty="0">
                <a:solidFill>
                  <a:schemeClr val="bg1"/>
                </a:solidFill>
                <a:latin typeface="+mn-ea"/>
              </a:rPr>
              <a:t>종료 </a:t>
            </a:r>
          </a:p>
        </p:txBody>
      </p:sp>
      <p:sp>
        <p:nvSpPr>
          <p:cNvPr id="39" name="사각형: 둥근 모서리 38">
            <a:extLst>
              <a:ext uri="{FF2B5EF4-FFF2-40B4-BE49-F238E27FC236}">
                <a16:creationId xmlns:a16="http://schemas.microsoft.com/office/drawing/2014/main" id="{717ABA93-79DA-6390-7AC1-6179556C612A}"/>
              </a:ext>
            </a:extLst>
          </p:cNvPr>
          <p:cNvSpPr/>
          <p:nvPr/>
        </p:nvSpPr>
        <p:spPr>
          <a:xfrm>
            <a:off x="1812099" y="2752446"/>
            <a:ext cx="8957733" cy="1977928"/>
          </a:xfrm>
          <a:prstGeom prst="roundRect">
            <a:avLst>
              <a:gd name="adj" fmla="val 48203"/>
            </a:avLst>
          </a:prstGeom>
          <a:solidFill>
            <a:schemeClr val="accent2"/>
          </a:solidFill>
          <a:ln>
            <a:noFill/>
          </a:ln>
          <a:effectLst>
            <a:outerShdw blurRad="76200" dist="12700" dir="2700000" algn="tl" rotWithShape="0">
              <a:schemeClr val="bg1">
                <a:lumMod val="85000"/>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35" name="그룹 34">
            <a:extLst>
              <a:ext uri="{FF2B5EF4-FFF2-40B4-BE49-F238E27FC236}">
                <a16:creationId xmlns:a16="http://schemas.microsoft.com/office/drawing/2014/main" id="{3985B5B7-4097-2E31-1CA4-12BFC0F673EC}"/>
              </a:ext>
            </a:extLst>
          </p:cNvPr>
          <p:cNvGrpSpPr/>
          <p:nvPr/>
        </p:nvGrpSpPr>
        <p:grpSpPr>
          <a:xfrm>
            <a:off x="2717564" y="2900471"/>
            <a:ext cx="6833912" cy="1546591"/>
            <a:chOff x="3139023" y="649339"/>
            <a:chExt cx="9387238" cy="2124437"/>
          </a:xfrm>
        </p:grpSpPr>
        <p:sp>
          <p:nvSpPr>
            <p:cNvPr id="36" name="타원 35">
              <a:extLst>
                <a:ext uri="{FF2B5EF4-FFF2-40B4-BE49-F238E27FC236}">
                  <a16:creationId xmlns:a16="http://schemas.microsoft.com/office/drawing/2014/main" id="{CF128229-BCF4-3942-8AB0-B67B4AFE422B}"/>
                </a:ext>
              </a:extLst>
            </p:cNvPr>
            <p:cNvSpPr/>
            <p:nvPr/>
          </p:nvSpPr>
          <p:spPr>
            <a:xfrm>
              <a:off x="3139024" y="725131"/>
              <a:ext cx="2048645" cy="2048645"/>
            </a:xfrm>
            <a:prstGeom prst="ellipse">
              <a:avLst/>
            </a:prstGeom>
            <a:solidFill>
              <a:schemeClr val="bg1"/>
            </a:solidFill>
            <a:ln>
              <a:solidFill>
                <a:srgbClr val="1467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타원 36">
              <a:extLst>
                <a:ext uri="{FF2B5EF4-FFF2-40B4-BE49-F238E27FC236}">
                  <a16:creationId xmlns:a16="http://schemas.microsoft.com/office/drawing/2014/main" id="{E1C4603F-FF69-C796-AA24-D75BC6FBBAB3}"/>
                </a:ext>
              </a:extLst>
            </p:cNvPr>
            <p:cNvSpPr/>
            <p:nvPr/>
          </p:nvSpPr>
          <p:spPr>
            <a:xfrm>
              <a:off x="10477616" y="649339"/>
              <a:ext cx="2048645" cy="2048645"/>
            </a:xfrm>
            <a:prstGeom prst="ellipse">
              <a:avLst/>
            </a:prstGeom>
            <a:solidFill>
              <a:schemeClr val="bg1"/>
            </a:solidFill>
            <a:ln>
              <a:solidFill>
                <a:srgbClr val="1467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CEA99EE7-FF49-B2B0-B15C-E25EAB0CA6B0}"/>
                </a:ext>
              </a:extLst>
            </p:cNvPr>
            <p:cNvSpPr/>
            <p:nvPr/>
          </p:nvSpPr>
          <p:spPr>
            <a:xfrm>
              <a:off x="6808320" y="653323"/>
              <a:ext cx="2048645" cy="2048644"/>
            </a:xfrm>
            <a:prstGeom prst="ellipse">
              <a:avLst/>
            </a:prstGeom>
            <a:solidFill>
              <a:schemeClr val="bg1"/>
            </a:solidFill>
            <a:ln>
              <a:solidFill>
                <a:srgbClr val="1467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타원 39">
              <a:extLst>
                <a:ext uri="{FF2B5EF4-FFF2-40B4-BE49-F238E27FC236}">
                  <a16:creationId xmlns:a16="http://schemas.microsoft.com/office/drawing/2014/main" id="{355C9761-03CA-6FFA-50B8-1CAC6F2EC505}"/>
                </a:ext>
              </a:extLst>
            </p:cNvPr>
            <p:cNvSpPr/>
            <p:nvPr/>
          </p:nvSpPr>
          <p:spPr>
            <a:xfrm>
              <a:off x="3139023" y="661821"/>
              <a:ext cx="2048645" cy="2111955"/>
            </a:xfrm>
            <a:prstGeom prst="ellipse">
              <a:avLst/>
            </a:prstGeom>
            <a:solidFill>
              <a:schemeClr val="bg1"/>
            </a:solidFill>
            <a:ln>
              <a:solidFill>
                <a:srgbClr val="14677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44" name="TextBox 43">
            <a:extLst>
              <a:ext uri="{FF2B5EF4-FFF2-40B4-BE49-F238E27FC236}">
                <a16:creationId xmlns:a16="http://schemas.microsoft.com/office/drawing/2014/main" id="{4626A925-929D-F194-7F38-08C26CDBBE0A}"/>
              </a:ext>
            </a:extLst>
          </p:cNvPr>
          <p:cNvSpPr txBox="1"/>
          <p:nvPr/>
        </p:nvSpPr>
        <p:spPr>
          <a:xfrm flipH="1">
            <a:off x="5629599" y="3477979"/>
            <a:ext cx="1029102" cy="369332"/>
          </a:xfrm>
          <a:prstGeom prst="rect">
            <a:avLst/>
          </a:prstGeom>
          <a:noFill/>
        </p:spPr>
        <p:txBody>
          <a:bodyPr wrap="square" rtlCol="0">
            <a:spAutoFit/>
          </a:bodyPr>
          <a:lstStyle/>
          <a:p>
            <a:pPr algn="ctr"/>
            <a:r>
              <a:rPr lang="en-US" altLang="ko-KR" dirty="0">
                <a:solidFill>
                  <a:srgbClr val="146772"/>
                </a:solidFill>
              </a:rPr>
              <a:t>2. </a:t>
            </a:r>
            <a:r>
              <a:rPr lang="ko-KR" altLang="en-US" dirty="0">
                <a:solidFill>
                  <a:srgbClr val="146772"/>
                </a:solidFill>
              </a:rPr>
              <a:t>매도</a:t>
            </a:r>
          </a:p>
        </p:txBody>
      </p:sp>
      <p:sp>
        <p:nvSpPr>
          <p:cNvPr id="45" name="TextBox 44">
            <a:extLst>
              <a:ext uri="{FF2B5EF4-FFF2-40B4-BE49-F238E27FC236}">
                <a16:creationId xmlns:a16="http://schemas.microsoft.com/office/drawing/2014/main" id="{BCC4EC9B-888B-B731-BFD2-CF0E64D960D3}"/>
              </a:ext>
            </a:extLst>
          </p:cNvPr>
          <p:cNvSpPr txBox="1"/>
          <p:nvPr/>
        </p:nvSpPr>
        <p:spPr>
          <a:xfrm flipH="1">
            <a:off x="2948720" y="3516689"/>
            <a:ext cx="1029102" cy="369332"/>
          </a:xfrm>
          <a:prstGeom prst="rect">
            <a:avLst/>
          </a:prstGeom>
          <a:noFill/>
        </p:spPr>
        <p:txBody>
          <a:bodyPr wrap="square" rtlCol="0">
            <a:spAutoFit/>
          </a:bodyPr>
          <a:lstStyle/>
          <a:p>
            <a:pPr algn="ctr"/>
            <a:r>
              <a:rPr lang="en-US" altLang="ko-KR" dirty="0">
                <a:solidFill>
                  <a:srgbClr val="146772"/>
                </a:solidFill>
              </a:rPr>
              <a:t>1. </a:t>
            </a:r>
            <a:r>
              <a:rPr lang="ko-KR" altLang="en-US" dirty="0">
                <a:solidFill>
                  <a:srgbClr val="146772"/>
                </a:solidFill>
              </a:rPr>
              <a:t>매수</a:t>
            </a:r>
          </a:p>
        </p:txBody>
      </p:sp>
      <p:sp>
        <p:nvSpPr>
          <p:cNvPr id="46" name="TextBox 45">
            <a:extLst>
              <a:ext uri="{FF2B5EF4-FFF2-40B4-BE49-F238E27FC236}">
                <a16:creationId xmlns:a16="http://schemas.microsoft.com/office/drawing/2014/main" id="{383111E0-BAB4-5490-7BAE-95244C2B4DB1}"/>
              </a:ext>
            </a:extLst>
          </p:cNvPr>
          <p:cNvSpPr txBox="1"/>
          <p:nvPr/>
        </p:nvSpPr>
        <p:spPr>
          <a:xfrm flipH="1">
            <a:off x="8310478" y="3497334"/>
            <a:ext cx="1029102" cy="369332"/>
          </a:xfrm>
          <a:prstGeom prst="rect">
            <a:avLst/>
          </a:prstGeom>
          <a:noFill/>
        </p:spPr>
        <p:txBody>
          <a:bodyPr wrap="square" rtlCol="0">
            <a:spAutoFit/>
          </a:bodyPr>
          <a:lstStyle/>
          <a:p>
            <a:pPr algn="ctr"/>
            <a:r>
              <a:rPr lang="en-US" altLang="ko-KR" dirty="0">
                <a:solidFill>
                  <a:srgbClr val="146772"/>
                </a:solidFill>
              </a:rPr>
              <a:t>3. </a:t>
            </a:r>
            <a:r>
              <a:rPr lang="ko-KR" altLang="en-US" dirty="0">
                <a:solidFill>
                  <a:srgbClr val="146772"/>
                </a:solidFill>
              </a:rPr>
              <a:t>조회</a:t>
            </a:r>
            <a:endParaRPr lang="en-US" altLang="ko-KR" dirty="0">
              <a:solidFill>
                <a:srgbClr val="146772"/>
              </a:solidFill>
            </a:endParaRPr>
          </a:p>
        </p:txBody>
      </p:sp>
      <p:sp>
        <p:nvSpPr>
          <p:cNvPr id="58" name="사각형: 둥근 모서리 57">
            <a:extLst>
              <a:ext uri="{FF2B5EF4-FFF2-40B4-BE49-F238E27FC236}">
                <a16:creationId xmlns:a16="http://schemas.microsoft.com/office/drawing/2014/main" id="{1020D225-6E95-0632-0F34-25D477A92928}"/>
              </a:ext>
            </a:extLst>
          </p:cNvPr>
          <p:cNvSpPr/>
          <p:nvPr/>
        </p:nvSpPr>
        <p:spPr>
          <a:xfrm>
            <a:off x="2517778" y="4776464"/>
            <a:ext cx="7892891" cy="2020407"/>
          </a:xfrm>
          <a:prstGeom prst="roundRect">
            <a:avLst>
              <a:gd name="adj" fmla="val 48203"/>
            </a:avLst>
          </a:prstGeom>
          <a:solidFill>
            <a:schemeClr val="bg1"/>
          </a:solidFill>
          <a:ln>
            <a:noFill/>
          </a:ln>
          <a:effectLst>
            <a:outerShdw blurRad="76200" dist="12700" dir="2700000" algn="tl" rotWithShape="0">
              <a:schemeClr val="bg1">
                <a:lumMod val="85000"/>
                <a:alpha val="6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타원 46">
            <a:extLst>
              <a:ext uri="{FF2B5EF4-FFF2-40B4-BE49-F238E27FC236}">
                <a16:creationId xmlns:a16="http://schemas.microsoft.com/office/drawing/2014/main" id="{1A3D5EBF-FE64-294C-D5A0-090C6F57E76E}"/>
              </a:ext>
            </a:extLst>
          </p:cNvPr>
          <p:cNvSpPr/>
          <p:nvPr/>
        </p:nvSpPr>
        <p:spPr>
          <a:xfrm>
            <a:off x="2717564" y="5006341"/>
            <a:ext cx="1491414" cy="1491414"/>
          </a:xfrm>
          <a:prstGeom prst="ellipse">
            <a:avLst/>
          </a:prstGeom>
          <a:solidFill>
            <a:schemeClr val="accent3">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8" name="타원 47">
            <a:extLst>
              <a:ext uri="{FF2B5EF4-FFF2-40B4-BE49-F238E27FC236}">
                <a16:creationId xmlns:a16="http://schemas.microsoft.com/office/drawing/2014/main" id="{6BCCC7D1-FBBE-180E-320A-0EC0F65DC065}"/>
              </a:ext>
            </a:extLst>
          </p:cNvPr>
          <p:cNvSpPr/>
          <p:nvPr/>
        </p:nvSpPr>
        <p:spPr>
          <a:xfrm>
            <a:off x="8182808" y="5006341"/>
            <a:ext cx="1491414" cy="1491414"/>
          </a:xfrm>
          <a:prstGeom prst="ellipse">
            <a:avLst/>
          </a:prstGeom>
          <a:solidFill>
            <a:schemeClr val="accent3">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0" lang="ko-KR" altLang="en-US" sz="1400" b="0" i="0" u="none" strike="noStrike" kern="1200" cap="none" spc="0" normalizeH="0" baseline="0" noProof="0" dirty="0">
                <a:ln>
                  <a:noFill/>
                </a:ln>
                <a:solidFill>
                  <a:prstClr val="white"/>
                </a:solidFill>
                <a:effectLst/>
                <a:uLnTx/>
                <a:uFillTx/>
                <a:latin typeface="Pretendard"/>
                <a:cs typeface="+mn-cs"/>
              </a:rPr>
              <a:t>노드 </a:t>
            </a:r>
            <a:r>
              <a:rPr lang="ko-KR" altLang="en-US" sz="1400" dirty="0">
                <a:solidFill>
                  <a:prstClr val="white"/>
                </a:solidFill>
                <a:latin typeface="Pretendard"/>
              </a:rPr>
              <a:t>조회</a:t>
            </a:r>
            <a:endParaRPr lang="ko-KR" altLang="en-US" dirty="0"/>
          </a:p>
        </p:txBody>
      </p:sp>
      <p:sp>
        <p:nvSpPr>
          <p:cNvPr id="49" name="타원 48">
            <a:extLst>
              <a:ext uri="{FF2B5EF4-FFF2-40B4-BE49-F238E27FC236}">
                <a16:creationId xmlns:a16="http://schemas.microsoft.com/office/drawing/2014/main" id="{3A6304A6-A41E-1F91-958D-B3201DEA21F7}"/>
              </a:ext>
            </a:extLst>
          </p:cNvPr>
          <p:cNvSpPr/>
          <p:nvPr/>
        </p:nvSpPr>
        <p:spPr>
          <a:xfrm>
            <a:off x="5450186" y="5006341"/>
            <a:ext cx="1491414" cy="1491414"/>
          </a:xfrm>
          <a:prstGeom prst="ellipse">
            <a:avLst/>
          </a:prstGeom>
          <a:solidFill>
            <a:schemeClr val="accent3">
              <a:lumMod val="5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0" name="TextBox 49">
            <a:extLst>
              <a:ext uri="{FF2B5EF4-FFF2-40B4-BE49-F238E27FC236}">
                <a16:creationId xmlns:a16="http://schemas.microsoft.com/office/drawing/2014/main" id="{6EBB91AA-AAB2-4531-FCDD-032D9BBB2818}"/>
              </a:ext>
            </a:extLst>
          </p:cNvPr>
          <p:cNvSpPr txBox="1"/>
          <p:nvPr/>
        </p:nvSpPr>
        <p:spPr>
          <a:xfrm flipH="1">
            <a:off x="2948720" y="5600176"/>
            <a:ext cx="1029102" cy="307777"/>
          </a:xfrm>
          <a:prstGeom prst="rect">
            <a:avLst/>
          </a:prstGeom>
          <a:noFill/>
        </p:spPr>
        <p:txBody>
          <a:bodyPr wrap="square" rtlCol="0">
            <a:spAutoFit/>
          </a:bodyPr>
          <a:lstStyle/>
          <a:p>
            <a:pPr algn="ctr"/>
            <a:r>
              <a:rPr lang="ko-KR" altLang="en-US" sz="1400" dirty="0">
                <a:solidFill>
                  <a:schemeClr val="bg1"/>
                </a:solidFill>
              </a:rPr>
              <a:t>노드 생성</a:t>
            </a:r>
          </a:p>
        </p:txBody>
      </p:sp>
      <p:sp>
        <p:nvSpPr>
          <p:cNvPr id="51" name="TextBox 50">
            <a:extLst>
              <a:ext uri="{FF2B5EF4-FFF2-40B4-BE49-F238E27FC236}">
                <a16:creationId xmlns:a16="http://schemas.microsoft.com/office/drawing/2014/main" id="{568844D5-2039-BC72-9D20-15BFCD1C40D4}"/>
              </a:ext>
            </a:extLst>
          </p:cNvPr>
          <p:cNvSpPr txBox="1"/>
          <p:nvPr/>
        </p:nvSpPr>
        <p:spPr>
          <a:xfrm flipH="1">
            <a:off x="5681342" y="5393845"/>
            <a:ext cx="1029102" cy="738664"/>
          </a:xfrm>
          <a:prstGeom prst="rect">
            <a:avLst/>
          </a:prstGeom>
          <a:noFill/>
        </p:spPr>
        <p:txBody>
          <a:bodyPr wrap="square" rtlCol="0">
            <a:spAutoFit/>
          </a:bodyPr>
          <a:lstStyle/>
          <a:p>
            <a:pPr algn="ctr"/>
            <a:r>
              <a:rPr lang="ko-KR" altLang="en-US" sz="1400" dirty="0">
                <a:solidFill>
                  <a:schemeClr val="bg1"/>
                </a:solidFill>
              </a:rPr>
              <a:t>보유 수량 검증</a:t>
            </a:r>
            <a:r>
              <a:rPr lang="en-US" altLang="ko-KR" sz="1400" dirty="0">
                <a:solidFill>
                  <a:schemeClr val="bg1"/>
                </a:solidFill>
              </a:rPr>
              <a:t/>
            </a:r>
            <a:br>
              <a:rPr lang="en-US" altLang="ko-KR" sz="1400" dirty="0">
                <a:solidFill>
                  <a:schemeClr val="bg1"/>
                </a:solidFill>
              </a:rPr>
            </a:br>
            <a:r>
              <a:rPr lang="ko-KR" altLang="en-US" sz="1400" dirty="0">
                <a:solidFill>
                  <a:schemeClr val="bg1"/>
                </a:solidFill>
              </a:rPr>
              <a:t>노드 생성</a:t>
            </a:r>
          </a:p>
        </p:txBody>
      </p:sp>
    </p:spTree>
    <p:extLst>
      <p:ext uri="{BB962C8B-B14F-4D97-AF65-F5344CB8AC3E}">
        <p14:creationId xmlns:p14="http://schemas.microsoft.com/office/powerpoint/2010/main" val="1118444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9A0D2C-1D63-F1E7-1284-AA42497E78CD}"/>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8A9F930-6643-8774-6CD8-12680F6C96FB}"/>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86C6AFB9-2392-471C-1CDB-5A99D9145EA9}"/>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7A85F860-42D9-BE95-4E9F-46FFFA30B483}"/>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E95FD8DC-CD03-0C61-1E8C-42C2C5961D1B}"/>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A41AE27C-0D1A-8BEB-0A9A-7D86CFD3F685}"/>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 name="그림 22">
            <a:extLst>
              <a:ext uri="{FF2B5EF4-FFF2-40B4-BE49-F238E27FC236}">
                <a16:creationId xmlns:a16="http://schemas.microsoft.com/office/drawing/2014/main" id="{14677889-EA47-C482-C357-E093500657A7}"/>
              </a:ext>
            </a:extLst>
          </p:cNvPr>
          <p:cNvPicPr>
            <a:picLocks noChangeAspect="1"/>
          </p:cNvPicPr>
          <p:nvPr/>
        </p:nvPicPr>
        <p:blipFill>
          <a:blip r:embed="rId3"/>
          <a:stretch>
            <a:fillRect/>
          </a:stretch>
        </p:blipFill>
        <p:spPr>
          <a:xfrm>
            <a:off x="4015400" y="936779"/>
            <a:ext cx="7727487" cy="3178021"/>
          </a:xfrm>
          <a:prstGeom prst="rect">
            <a:avLst/>
          </a:prstGeom>
        </p:spPr>
      </p:pic>
      <p:pic>
        <p:nvPicPr>
          <p:cNvPr id="30" name="그림 29">
            <a:extLst>
              <a:ext uri="{FF2B5EF4-FFF2-40B4-BE49-F238E27FC236}">
                <a16:creationId xmlns:a16="http://schemas.microsoft.com/office/drawing/2014/main" id="{E82A52EF-6610-DF02-C640-BE53FA30E929}"/>
              </a:ext>
            </a:extLst>
          </p:cNvPr>
          <p:cNvPicPr>
            <a:picLocks noChangeAspect="1"/>
          </p:cNvPicPr>
          <p:nvPr/>
        </p:nvPicPr>
        <p:blipFill>
          <a:blip r:embed="rId4"/>
          <a:stretch>
            <a:fillRect/>
          </a:stretch>
        </p:blipFill>
        <p:spPr>
          <a:xfrm>
            <a:off x="4129516" y="4135916"/>
            <a:ext cx="7527027" cy="2228419"/>
          </a:xfrm>
          <a:prstGeom prst="rect">
            <a:avLst/>
          </a:prstGeom>
        </p:spPr>
      </p:pic>
      <p:sp>
        <p:nvSpPr>
          <p:cNvPr id="32" name="TextBox 31">
            <a:extLst>
              <a:ext uri="{FF2B5EF4-FFF2-40B4-BE49-F238E27FC236}">
                <a16:creationId xmlns:a16="http://schemas.microsoft.com/office/drawing/2014/main" id="{741EA2BE-B4E4-5C9E-F3B5-10774B5E436B}"/>
              </a:ext>
            </a:extLst>
          </p:cNvPr>
          <p:cNvSpPr txBox="1"/>
          <p:nvPr/>
        </p:nvSpPr>
        <p:spPr>
          <a:xfrm>
            <a:off x="295187" y="2413976"/>
            <a:ext cx="3413114" cy="369332"/>
          </a:xfrm>
          <a:prstGeom prst="rect">
            <a:avLst/>
          </a:prstGeom>
          <a:noFill/>
        </p:spPr>
        <p:txBody>
          <a:bodyPr wrap="none" rtlCol="0">
            <a:spAutoFit/>
          </a:bodyPr>
          <a:lstStyle/>
          <a:p>
            <a:pPr algn="ctr"/>
            <a:r>
              <a:rPr lang="ko-KR" altLang="ko-KR" dirty="0"/>
              <a:t>[ 노드 구조체 내부 데이터 구성 ]</a:t>
            </a:r>
            <a:endParaRPr lang="ko-KR" altLang="en-US" spc="-300" dirty="0"/>
          </a:p>
        </p:txBody>
      </p:sp>
      <p:sp>
        <p:nvSpPr>
          <p:cNvPr id="33" name="TextBox 32">
            <a:extLst>
              <a:ext uri="{FF2B5EF4-FFF2-40B4-BE49-F238E27FC236}">
                <a16:creationId xmlns:a16="http://schemas.microsoft.com/office/drawing/2014/main" id="{FF3CFCF1-5BA6-8DED-FE72-93C99CEE2418}"/>
              </a:ext>
            </a:extLst>
          </p:cNvPr>
          <p:cNvSpPr txBox="1"/>
          <p:nvPr/>
        </p:nvSpPr>
        <p:spPr>
          <a:xfrm>
            <a:off x="206221" y="5065459"/>
            <a:ext cx="3591048" cy="369332"/>
          </a:xfrm>
          <a:prstGeom prst="rect">
            <a:avLst/>
          </a:prstGeom>
          <a:noFill/>
        </p:spPr>
        <p:txBody>
          <a:bodyPr wrap="none" rtlCol="0">
            <a:spAutoFit/>
          </a:bodyPr>
          <a:lstStyle/>
          <a:p>
            <a:pPr algn="ctr"/>
            <a:r>
              <a:rPr lang="en-US" altLang="ko-KR" dirty="0"/>
              <a:t>[</a:t>
            </a:r>
            <a:r>
              <a:rPr lang="ko-KR" altLang="ko-KR" dirty="0"/>
              <a:t>리스트 구조체 내부 데이터 구성 </a:t>
            </a:r>
            <a:r>
              <a:rPr lang="en-US" altLang="ko-KR" dirty="0"/>
              <a:t>]</a:t>
            </a:r>
            <a:endParaRPr lang="ko-KR" altLang="en-US" spc="-300" dirty="0"/>
          </a:p>
        </p:txBody>
      </p:sp>
    </p:spTree>
    <p:extLst>
      <p:ext uri="{BB962C8B-B14F-4D97-AF65-F5344CB8AC3E}">
        <p14:creationId xmlns:p14="http://schemas.microsoft.com/office/powerpoint/2010/main" val="14750471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24067-7527-8D39-ED01-40A6973A9104}"/>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A49FF007-427C-9156-D295-29FDB6EBC0D0}"/>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3B200311-44D6-5252-9806-1FC35C35C1E3}"/>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4FAF61B6-FD1E-3046-6F80-427368AA17B7}"/>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E3096298-0988-1D80-7104-392B2E1A13F4}"/>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E0CEF6E9-8886-2273-F3FE-F63813DAD6EA}"/>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A62ACDD7-02DD-167E-2D1C-6C43E8A79C42}"/>
              </a:ext>
            </a:extLst>
          </p:cNvPr>
          <p:cNvSpPr txBox="1"/>
          <p:nvPr/>
        </p:nvSpPr>
        <p:spPr>
          <a:xfrm>
            <a:off x="1521001" y="3429000"/>
            <a:ext cx="1213795" cy="369332"/>
          </a:xfrm>
          <a:prstGeom prst="rect">
            <a:avLst/>
          </a:prstGeom>
          <a:noFill/>
        </p:spPr>
        <p:txBody>
          <a:bodyPr wrap="none" rtlCol="0">
            <a:spAutoFit/>
          </a:bodyPr>
          <a:lstStyle/>
          <a:p>
            <a:pPr algn="ctr"/>
            <a:r>
              <a:rPr lang="ko-KR" altLang="en-US" dirty="0"/>
              <a:t>메인 함수 </a:t>
            </a:r>
            <a:endParaRPr lang="ko-KR" altLang="en-US" spc="-300" dirty="0"/>
          </a:p>
        </p:txBody>
      </p:sp>
      <p:pic>
        <p:nvPicPr>
          <p:cNvPr id="7" name="그림 6">
            <a:extLst>
              <a:ext uri="{FF2B5EF4-FFF2-40B4-BE49-F238E27FC236}">
                <a16:creationId xmlns:a16="http://schemas.microsoft.com/office/drawing/2014/main" id="{67600329-6BBB-2B5A-E024-80C854215A9D}"/>
              </a:ext>
            </a:extLst>
          </p:cNvPr>
          <p:cNvPicPr>
            <a:picLocks noChangeAspect="1"/>
          </p:cNvPicPr>
          <p:nvPr/>
        </p:nvPicPr>
        <p:blipFill>
          <a:blip r:embed="rId3"/>
          <a:stretch>
            <a:fillRect/>
          </a:stretch>
        </p:blipFill>
        <p:spPr>
          <a:xfrm>
            <a:off x="4015401" y="894549"/>
            <a:ext cx="7699412" cy="5599792"/>
          </a:xfrm>
          <a:prstGeom prst="rect">
            <a:avLst/>
          </a:prstGeom>
        </p:spPr>
      </p:pic>
    </p:spTree>
    <p:extLst>
      <p:ext uri="{BB962C8B-B14F-4D97-AF65-F5344CB8AC3E}">
        <p14:creationId xmlns:p14="http://schemas.microsoft.com/office/powerpoint/2010/main" val="41763193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C4934-8E4B-EC3A-C3AC-B2966ABBBBEC}"/>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1090989-14F8-C0CD-37A6-1E11026844D3}"/>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B44E00E7-EE50-77E9-1EC2-5867DB23258A}"/>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E37073E4-0BF4-6B95-0732-1FE56CA31C43}"/>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B074B9E6-A790-96F5-0A10-3CC4A811CCBD}"/>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A232EAEC-AAA1-1BC7-D23B-DE52215D3998}"/>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468FDB1D-2A09-C522-8BF9-68EA107AEBD7}"/>
              </a:ext>
            </a:extLst>
          </p:cNvPr>
          <p:cNvSpPr txBox="1"/>
          <p:nvPr/>
        </p:nvSpPr>
        <p:spPr>
          <a:xfrm>
            <a:off x="1518598" y="3429000"/>
            <a:ext cx="1218603" cy="369332"/>
          </a:xfrm>
          <a:prstGeom prst="rect">
            <a:avLst/>
          </a:prstGeom>
          <a:noFill/>
        </p:spPr>
        <p:txBody>
          <a:bodyPr wrap="none" rtlCol="0">
            <a:spAutoFit/>
          </a:bodyPr>
          <a:lstStyle/>
          <a:p>
            <a:pPr algn="ctr"/>
            <a:r>
              <a:rPr lang="ko-KR" altLang="en-US" dirty="0"/>
              <a:t>홀딩 함수</a:t>
            </a:r>
            <a:r>
              <a:rPr lang="en-US" altLang="ko-KR" dirty="0"/>
              <a:t>.</a:t>
            </a:r>
            <a:endParaRPr lang="ko-KR" altLang="en-US" spc="-300" dirty="0"/>
          </a:p>
        </p:txBody>
      </p:sp>
      <p:pic>
        <p:nvPicPr>
          <p:cNvPr id="8" name="그림 7">
            <a:extLst>
              <a:ext uri="{FF2B5EF4-FFF2-40B4-BE49-F238E27FC236}">
                <a16:creationId xmlns:a16="http://schemas.microsoft.com/office/drawing/2014/main" id="{52EB2E5E-56BD-C78D-3D3E-8F017D66C14B}"/>
              </a:ext>
            </a:extLst>
          </p:cNvPr>
          <p:cNvPicPr>
            <a:picLocks noChangeAspect="1"/>
          </p:cNvPicPr>
          <p:nvPr/>
        </p:nvPicPr>
        <p:blipFill>
          <a:blip r:embed="rId3"/>
          <a:stretch>
            <a:fillRect/>
          </a:stretch>
        </p:blipFill>
        <p:spPr>
          <a:xfrm>
            <a:off x="4015401" y="908230"/>
            <a:ext cx="7755258" cy="5477222"/>
          </a:xfrm>
          <a:prstGeom prst="rect">
            <a:avLst/>
          </a:prstGeom>
        </p:spPr>
      </p:pic>
    </p:spTree>
    <p:extLst>
      <p:ext uri="{BB962C8B-B14F-4D97-AF65-F5344CB8AC3E}">
        <p14:creationId xmlns:p14="http://schemas.microsoft.com/office/powerpoint/2010/main" val="9600809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95F7D-901B-B023-73BE-1025E5B56606}"/>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8A1BF870-4980-2CCE-A249-E76CD189528E}"/>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106F8D3-8136-7389-931D-532AA5FADC25}"/>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8D46CD26-A102-ADCE-E442-53CD9A64062E}"/>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5BB73F12-67A4-CF8F-F920-1C97984115B3}"/>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4DB5FB14-E1EE-010A-2109-229E17B0DE7E}"/>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DD37A8E3-D7B4-3F67-EA02-FB973C4E031B}"/>
              </a:ext>
            </a:extLst>
          </p:cNvPr>
          <p:cNvSpPr txBox="1"/>
          <p:nvPr/>
        </p:nvSpPr>
        <p:spPr>
          <a:xfrm>
            <a:off x="1596343" y="3429000"/>
            <a:ext cx="1063113" cy="369332"/>
          </a:xfrm>
          <a:prstGeom prst="rect">
            <a:avLst/>
          </a:prstGeom>
          <a:noFill/>
        </p:spPr>
        <p:txBody>
          <a:bodyPr wrap="none" rtlCol="0">
            <a:spAutoFit/>
          </a:bodyPr>
          <a:lstStyle/>
          <a:p>
            <a:pPr algn="ctr"/>
            <a:r>
              <a:rPr lang="en-US" altLang="ko-KR" dirty="0"/>
              <a:t>sell</a:t>
            </a:r>
            <a:r>
              <a:rPr lang="ko-KR" altLang="en-US" dirty="0"/>
              <a:t> 함수 </a:t>
            </a:r>
            <a:endParaRPr lang="ko-KR" altLang="en-US" spc="-300" dirty="0"/>
          </a:p>
        </p:txBody>
      </p:sp>
      <p:pic>
        <p:nvPicPr>
          <p:cNvPr id="8" name="그림 7">
            <a:extLst>
              <a:ext uri="{FF2B5EF4-FFF2-40B4-BE49-F238E27FC236}">
                <a16:creationId xmlns:a16="http://schemas.microsoft.com/office/drawing/2014/main" id="{29F60357-BB27-50F8-AB6D-4A594F0C5135}"/>
              </a:ext>
            </a:extLst>
          </p:cNvPr>
          <p:cNvPicPr>
            <a:picLocks noChangeAspect="1"/>
          </p:cNvPicPr>
          <p:nvPr/>
        </p:nvPicPr>
        <p:blipFill>
          <a:blip r:embed="rId3"/>
          <a:stretch>
            <a:fillRect/>
          </a:stretch>
        </p:blipFill>
        <p:spPr>
          <a:xfrm>
            <a:off x="4015400" y="908229"/>
            <a:ext cx="7819333" cy="5477222"/>
          </a:xfrm>
          <a:prstGeom prst="rect">
            <a:avLst/>
          </a:prstGeom>
        </p:spPr>
      </p:pic>
    </p:spTree>
    <p:extLst>
      <p:ext uri="{BB962C8B-B14F-4D97-AF65-F5344CB8AC3E}">
        <p14:creationId xmlns:p14="http://schemas.microsoft.com/office/powerpoint/2010/main" val="683972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F4677-2008-C101-3FFD-C5B6705A1B09}"/>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C01B11A0-ACFC-9494-98DE-8A4966C3FA9B}"/>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CD0555A9-E849-BCB7-56CA-FE62744B5805}"/>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6E0FB6A0-D4DE-5AB9-610F-D4FE44B17959}"/>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BDBD083B-2C65-9CE7-2565-4325E60898B0}"/>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56EE77ED-E993-0C33-B484-66D3EE91E01E}"/>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E9C9045A-5043-6CFA-3A83-D94B5E3F0205}"/>
              </a:ext>
            </a:extLst>
          </p:cNvPr>
          <p:cNvSpPr txBox="1"/>
          <p:nvPr/>
        </p:nvSpPr>
        <p:spPr>
          <a:xfrm>
            <a:off x="923873" y="1600200"/>
            <a:ext cx="2137124" cy="369332"/>
          </a:xfrm>
          <a:prstGeom prst="rect">
            <a:avLst/>
          </a:prstGeom>
          <a:noFill/>
        </p:spPr>
        <p:txBody>
          <a:bodyPr wrap="none" rtlCol="0">
            <a:spAutoFit/>
          </a:bodyPr>
          <a:lstStyle/>
          <a:p>
            <a:pPr algn="ctr"/>
            <a:r>
              <a:rPr lang="ko-KR" altLang="en-US" dirty="0"/>
              <a:t>리스트 초기화 함수</a:t>
            </a:r>
            <a:endParaRPr lang="ko-KR" altLang="en-US" spc="-300" dirty="0"/>
          </a:p>
        </p:txBody>
      </p:sp>
      <p:sp>
        <p:nvSpPr>
          <p:cNvPr id="9" name="TextBox 8">
            <a:extLst>
              <a:ext uri="{FF2B5EF4-FFF2-40B4-BE49-F238E27FC236}">
                <a16:creationId xmlns:a16="http://schemas.microsoft.com/office/drawing/2014/main" id="{AF4BBAF7-FA3E-6C82-D30D-00C191CFB5C2}"/>
              </a:ext>
            </a:extLst>
          </p:cNvPr>
          <p:cNvSpPr txBox="1"/>
          <p:nvPr/>
        </p:nvSpPr>
        <p:spPr>
          <a:xfrm>
            <a:off x="1427129" y="4385733"/>
            <a:ext cx="1367682" cy="369332"/>
          </a:xfrm>
          <a:prstGeom prst="rect">
            <a:avLst/>
          </a:prstGeom>
          <a:noFill/>
        </p:spPr>
        <p:txBody>
          <a:bodyPr wrap="none" rtlCol="0">
            <a:spAutoFit/>
          </a:bodyPr>
          <a:lstStyle/>
          <a:p>
            <a:pPr algn="ctr"/>
            <a:r>
              <a:rPr lang="ko-KR" altLang="en-US" spc="-300" dirty="0"/>
              <a:t>노드 추가 함수</a:t>
            </a:r>
          </a:p>
        </p:txBody>
      </p:sp>
      <p:pic>
        <p:nvPicPr>
          <p:cNvPr id="11" name="그림 10">
            <a:extLst>
              <a:ext uri="{FF2B5EF4-FFF2-40B4-BE49-F238E27FC236}">
                <a16:creationId xmlns:a16="http://schemas.microsoft.com/office/drawing/2014/main" id="{D92166DD-3209-D6F2-C3B5-3FEF56F14A01}"/>
              </a:ext>
            </a:extLst>
          </p:cNvPr>
          <p:cNvPicPr>
            <a:picLocks noChangeAspect="1"/>
          </p:cNvPicPr>
          <p:nvPr/>
        </p:nvPicPr>
        <p:blipFill>
          <a:blip r:embed="rId3"/>
          <a:stretch>
            <a:fillRect/>
          </a:stretch>
        </p:blipFill>
        <p:spPr>
          <a:xfrm>
            <a:off x="4015401" y="894548"/>
            <a:ext cx="7668599" cy="5589515"/>
          </a:xfrm>
          <a:prstGeom prst="rect">
            <a:avLst/>
          </a:prstGeom>
        </p:spPr>
      </p:pic>
    </p:spTree>
    <p:extLst>
      <p:ext uri="{BB962C8B-B14F-4D97-AF65-F5344CB8AC3E}">
        <p14:creationId xmlns:p14="http://schemas.microsoft.com/office/powerpoint/2010/main" val="374233292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F6CA8E-A09B-F90A-66E2-1ED2235D5C83}"/>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14F9850A-B774-9CD5-4410-5657874F8EDB}"/>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3E3C59D-0B1F-7E13-B886-6A092ECF8FBC}"/>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48E36218-7989-46C4-D01C-8A90843F5707}"/>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C51FAF7D-8624-C9FE-61B0-8A82E89AAABF}"/>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CD519855-4CDE-080C-731A-2B992F9F5332}"/>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C8F2C436-7EED-852A-86AC-8B8A6E794722}"/>
              </a:ext>
            </a:extLst>
          </p:cNvPr>
          <p:cNvSpPr txBox="1"/>
          <p:nvPr/>
        </p:nvSpPr>
        <p:spPr>
          <a:xfrm>
            <a:off x="1619489" y="3209757"/>
            <a:ext cx="982961" cy="369332"/>
          </a:xfrm>
          <a:prstGeom prst="rect">
            <a:avLst/>
          </a:prstGeom>
          <a:noFill/>
        </p:spPr>
        <p:txBody>
          <a:bodyPr wrap="none" rtlCol="0">
            <a:spAutoFit/>
          </a:bodyPr>
          <a:lstStyle/>
          <a:p>
            <a:pPr algn="ctr"/>
            <a:r>
              <a:rPr lang="ko-KR" altLang="en-US" spc="-300" dirty="0"/>
              <a:t>메뉴  함수</a:t>
            </a:r>
          </a:p>
        </p:txBody>
      </p:sp>
      <p:pic>
        <p:nvPicPr>
          <p:cNvPr id="7" name="그림 6">
            <a:extLst>
              <a:ext uri="{FF2B5EF4-FFF2-40B4-BE49-F238E27FC236}">
                <a16:creationId xmlns:a16="http://schemas.microsoft.com/office/drawing/2014/main" id="{71134EFA-4FB7-4ACE-F0D2-D80B9B98C0EE}"/>
              </a:ext>
            </a:extLst>
          </p:cNvPr>
          <p:cNvPicPr>
            <a:picLocks noChangeAspect="1"/>
          </p:cNvPicPr>
          <p:nvPr/>
        </p:nvPicPr>
        <p:blipFill>
          <a:blip r:embed="rId3"/>
          <a:stretch>
            <a:fillRect/>
          </a:stretch>
        </p:blipFill>
        <p:spPr>
          <a:xfrm>
            <a:off x="4015401" y="2049587"/>
            <a:ext cx="7693999" cy="2705478"/>
          </a:xfrm>
          <a:prstGeom prst="rect">
            <a:avLst/>
          </a:prstGeom>
        </p:spPr>
      </p:pic>
    </p:spTree>
    <p:extLst>
      <p:ext uri="{BB962C8B-B14F-4D97-AF65-F5344CB8AC3E}">
        <p14:creationId xmlns:p14="http://schemas.microsoft.com/office/powerpoint/2010/main" val="36831089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A3052-B6E9-D6E3-22D9-BB582EC11A4E}"/>
            </a:ext>
          </a:extLst>
        </p:cNvPr>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AD7F8E16-8001-DC08-7EAE-4951000FFA72}"/>
              </a:ext>
            </a:extLst>
          </p:cNvPr>
          <p:cNvCxnSpPr/>
          <p:nvPr/>
        </p:nvCxnSpPr>
        <p:spPr>
          <a:xfrm>
            <a:off x="144378" y="160422"/>
            <a:ext cx="12060000" cy="0"/>
          </a:xfrm>
          <a:prstGeom prst="line">
            <a:avLst/>
          </a:prstGeom>
          <a:ln w="762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2DC53FB4-09CF-017F-E19A-53D9E5C34BF9}"/>
              </a:ext>
            </a:extLst>
          </p:cNvPr>
          <p:cNvSpPr txBox="1"/>
          <p:nvPr/>
        </p:nvSpPr>
        <p:spPr>
          <a:xfrm>
            <a:off x="144378" y="272716"/>
            <a:ext cx="702436" cy="338554"/>
          </a:xfrm>
          <a:prstGeom prst="rect">
            <a:avLst/>
          </a:prstGeom>
          <a:noFill/>
        </p:spPr>
        <p:txBody>
          <a:bodyPr wrap="none" rtlCol="0">
            <a:spAutoFit/>
          </a:bodyPr>
          <a:lstStyle/>
          <a:p>
            <a:r>
              <a:rPr lang="en-US" altLang="ko-KR" sz="1600" dirty="0">
                <a:solidFill>
                  <a:schemeClr val="accent1"/>
                </a:solidFill>
              </a:rPr>
              <a:t>Part 1</a:t>
            </a:r>
            <a:endParaRPr lang="ko-KR" altLang="en-US" sz="1600" dirty="0">
              <a:solidFill>
                <a:schemeClr val="accent1"/>
              </a:solidFill>
            </a:endParaRPr>
          </a:p>
        </p:txBody>
      </p:sp>
      <p:sp>
        <p:nvSpPr>
          <p:cNvPr id="5" name="TextBox 4">
            <a:extLst>
              <a:ext uri="{FF2B5EF4-FFF2-40B4-BE49-F238E27FC236}">
                <a16:creationId xmlns:a16="http://schemas.microsoft.com/office/drawing/2014/main" id="{9708E13E-8357-20C1-9C33-5BE18F2F94E9}"/>
              </a:ext>
            </a:extLst>
          </p:cNvPr>
          <p:cNvSpPr txBox="1"/>
          <p:nvPr/>
        </p:nvSpPr>
        <p:spPr>
          <a:xfrm>
            <a:off x="1163052" y="272716"/>
            <a:ext cx="3243196" cy="523220"/>
          </a:xfrm>
          <a:prstGeom prst="rect">
            <a:avLst/>
          </a:prstGeom>
          <a:noFill/>
        </p:spPr>
        <p:txBody>
          <a:bodyPr wrap="none" rtlCol="0">
            <a:spAutoFit/>
          </a:bodyPr>
          <a:lstStyle/>
          <a:p>
            <a:r>
              <a:rPr lang="ko-KR" altLang="en-US" sz="2800" b="1" spc="-300" dirty="0">
                <a:solidFill>
                  <a:schemeClr val="accent1"/>
                </a:solidFill>
              </a:rPr>
              <a:t>코드 구조 및 주요 함수</a:t>
            </a:r>
          </a:p>
        </p:txBody>
      </p:sp>
      <p:cxnSp>
        <p:nvCxnSpPr>
          <p:cNvPr id="6" name="직선 연결선 5">
            <a:extLst>
              <a:ext uri="{FF2B5EF4-FFF2-40B4-BE49-F238E27FC236}">
                <a16:creationId xmlns:a16="http://schemas.microsoft.com/office/drawing/2014/main" id="{6C0D654F-9696-C120-0DAB-37D9E1CFAC4B}"/>
              </a:ext>
            </a:extLst>
          </p:cNvPr>
          <p:cNvCxnSpPr/>
          <p:nvPr/>
        </p:nvCxnSpPr>
        <p:spPr>
          <a:xfrm>
            <a:off x="144378" y="6737685"/>
            <a:ext cx="12060000" cy="0"/>
          </a:xfrm>
          <a:prstGeom prst="line">
            <a:avLst/>
          </a:prstGeom>
          <a:ln w="31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9" name="직사각형 18">
            <a:extLst>
              <a:ext uri="{FF2B5EF4-FFF2-40B4-BE49-F238E27FC236}">
                <a16:creationId xmlns:a16="http://schemas.microsoft.com/office/drawing/2014/main" id="{5D508D79-9F0D-FBA9-AB19-3CE90343A8C8}"/>
              </a:ext>
            </a:extLst>
          </p:cNvPr>
          <p:cNvSpPr/>
          <p:nvPr/>
        </p:nvSpPr>
        <p:spPr>
          <a:xfrm>
            <a:off x="4015401" y="894549"/>
            <a:ext cx="7755258" cy="54909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TextBox 31">
            <a:extLst>
              <a:ext uri="{FF2B5EF4-FFF2-40B4-BE49-F238E27FC236}">
                <a16:creationId xmlns:a16="http://schemas.microsoft.com/office/drawing/2014/main" id="{328EF808-CEB1-C88E-C774-41945E1F1E7D}"/>
              </a:ext>
            </a:extLst>
          </p:cNvPr>
          <p:cNvSpPr txBox="1"/>
          <p:nvPr/>
        </p:nvSpPr>
        <p:spPr>
          <a:xfrm>
            <a:off x="1619489" y="3209757"/>
            <a:ext cx="982961" cy="369332"/>
          </a:xfrm>
          <a:prstGeom prst="rect">
            <a:avLst/>
          </a:prstGeom>
          <a:noFill/>
        </p:spPr>
        <p:txBody>
          <a:bodyPr wrap="none" rtlCol="0">
            <a:spAutoFit/>
          </a:bodyPr>
          <a:lstStyle/>
          <a:p>
            <a:pPr algn="ctr"/>
            <a:r>
              <a:rPr lang="ko-KR" altLang="en-US" spc="-300" dirty="0"/>
              <a:t>구동  화면</a:t>
            </a:r>
          </a:p>
        </p:txBody>
      </p:sp>
      <p:pic>
        <p:nvPicPr>
          <p:cNvPr id="10" name="그림 9">
            <a:extLst>
              <a:ext uri="{FF2B5EF4-FFF2-40B4-BE49-F238E27FC236}">
                <a16:creationId xmlns:a16="http://schemas.microsoft.com/office/drawing/2014/main" id="{1321359D-0077-AFB3-44AC-7828387AD943}"/>
              </a:ext>
            </a:extLst>
          </p:cNvPr>
          <p:cNvPicPr>
            <a:picLocks noChangeAspect="1"/>
          </p:cNvPicPr>
          <p:nvPr/>
        </p:nvPicPr>
        <p:blipFill>
          <a:blip r:embed="rId3"/>
          <a:stretch>
            <a:fillRect/>
          </a:stretch>
        </p:blipFill>
        <p:spPr>
          <a:xfrm>
            <a:off x="4015400" y="908229"/>
            <a:ext cx="7755257" cy="5490902"/>
          </a:xfrm>
          <a:prstGeom prst="rect">
            <a:avLst/>
          </a:prstGeom>
        </p:spPr>
      </p:pic>
    </p:spTree>
    <p:extLst>
      <p:ext uri="{BB962C8B-B14F-4D97-AF65-F5344CB8AC3E}">
        <p14:creationId xmlns:p14="http://schemas.microsoft.com/office/powerpoint/2010/main" val="41233186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718EA0"/>
        </a:solidFill>
        <a:effectLst/>
      </p:bgPr>
    </p:bg>
    <p:spTree>
      <p:nvGrpSpPr>
        <p:cNvPr id="1" name=""/>
        <p:cNvGrpSpPr/>
        <p:nvPr/>
      </p:nvGrpSpPr>
      <p:grpSpPr>
        <a:xfrm>
          <a:off x="0" y="0"/>
          <a:ext cx="0" cy="0"/>
          <a:chOff x="0" y="0"/>
          <a:chExt cx="0" cy="0"/>
        </a:xfrm>
      </p:grpSpPr>
      <p:sp>
        <p:nvSpPr>
          <p:cNvPr id="229" name="TextBox 228">
            <a:extLst>
              <a:ext uri="{FF2B5EF4-FFF2-40B4-BE49-F238E27FC236}">
                <a16:creationId xmlns:a16="http://schemas.microsoft.com/office/drawing/2014/main" id="{82E972E3-5A9F-5EC8-8519-037C335D1561}"/>
              </a:ext>
            </a:extLst>
          </p:cNvPr>
          <p:cNvSpPr txBox="1"/>
          <p:nvPr/>
        </p:nvSpPr>
        <p:spPr>
          <a:xfrm flipH="1">
            <a:off x="566413" y="2947461"/>
            <a:ext cx="9530086" cy="1077218"/>
          </a:xfrm>
          <a:prstGeom prst="rect">
            <a:avLst/>
          </a:prstGeom>
          <a:noFill/>
        </p:spPr>
        <p:txBody>
          <a:bodyPr wrap="square" rtlCol="0">
            <a:spAutoFit/>
          </a:bodyPr>
          <a:lstStyle/>
          <a:p>
            <a:r>
              <a:rPr lang="ko-KR" altLang="en-US" sz="3200" b="1" dirty="0">
                <a:solidFill>
                  <a:schemeClr val="bg1"/>
                </a:solidFill>
              </a:rPr>
              <a:t>Stack 기반 계산기</a:t>
            </a:r>
            <a:endParaRPr lang="en-US" altLang="ko-KR" sz="3200" b="1" dirty="0">
              <a:solidFill>
                <a:schemeClr val="bg1"/>
              </a:solidFill>
            </a:endParaRPr>
          </a:p>
          <a:p>
            <a:r>
              <a:rPr lang="en-US" altLang="ko-KR" sz="3200" b="1" dirty="0">
                <a:solidFill>
                  <a:schemeClr val="bg1"/>
                </a:solidFill>
              </a:rPr>
              <a:t>Double linked list </a:t>
            </a:r>
            <a:r>
              <a:rPr lang="ko-KR" altLang="en-US" sz="3200" b="1" dirty="0">
                <a:solidFill>
                  <a:schemeClr val="bg1"/>
                </a:solidFill>
              </a:rPr>
              <a:t>기반 </a:t>
            </a:r>
            <a:r>
              <a:rPr lang="ko-KR" altLang="en-US" sz="3200" b="1" dirty="0" smtClean="0">
                <a:solidFill>
                  <a:schemeClr val="bg1"/>
                </a:solidFill>
              </a:rPr>
              <a:t>주식 </a:t>
            </a:r>
            <a:r>
              <a:rPr lang="ko-KR" altLang="en-US" sz="3200" b="1" dirty="0">
                <a:solidFill>
                  <a:schemeClr val="bg1"/>
                </a:solidFill>
              </a:rPr>
              <a:t>매매프로그램</a:t>
            </a:r>
            <a:endParaRPr lang="en-US" altLang="ko-KR" sz="3200" b="1" dirty="0">
              <a:solidFill>
                <a:schemeClr val="bg1"/>
              </a:solidFill>
            </a:endParaRPr>
          </a:p>
        </p:txBody>
      </p:sp>
      <p:sp>
        <p:nvSpPr>
          <p:cNvPr id="230" name="TextBox 229">
            <a:extLst>
              <a:ext uri="{FF2B5EF4-FFF2-40B4-BE49-F238E27FC236}">
                <a16:creationId xmlns:a16="http://schemas.microsoft.com/office/drawing/2014/main" id="{99BAEDBE-12FD-5EE1-9883-1EEE1DBAB417}"/>
              </a:ext>
            </a:extLst>
          </p:cNvPr>
          <p:cNvSpPr txBox="1"/>
          <p:nvPr/>
        </p:nvSpPr>
        <p:spPr>
          <a:xfrm flipH="1">
            <a:off x="566417" y="4021514"/>
            <a:ext cx="4996181" cy="369332"/>
          </a:xfrm>
          <a:prstGeom prst="rect">
            <a:avLst/>
          </a:prstGeom>
          <a:noFill/>
        </p:spPr>
        <p:txBody>
          <a:bodyPr wrap="square" rtlCol="0">
            <a:spAutoFit/>
          </a:bodyPr>
          <a:lstStyle/>
          <a:p>
            <a:r>
              <a:rPr lang="ko-KR" altLang="en-US" dirty="0">
                <a:solidFill>
                  <a:schemeClr val="bg1"/>
                </a:solidFill>
              </a:rPr>
              <a:t>Thank you  |  Q &amp; A</a:t>
            </a:r>
          </a:p>
        </p:txBody>
      </p:sp>
      <p:sp>
        <p:nvSpPr>
          <p:cNvPr id="6" name="TextBox 5">
            <a:extLst>
              <a:ext uri="{FF2B5EF4-FFF2-40B4-BE49-F238E27FC236}">
                <a16:creationId xmlns:a16="http://schemas.microsoft.com/office/drawing/2014/main" id="{99BAEDBE-12FD-5EE1-9883-1EEE1DBAB417}"/>
              </a:ext>
            </a:extLst>
          </p:cNvPr>
          <p:cNvSpPr txBox="1"/>
          <p:nvPr/>
        </p:nvSpPr>
        <p:spPr>
          <a:xfrm flipH="1">
            <a:off x="8138792" y="6212264"/>
            <a:ext cx="1957708" cy="369332"/>
          </a:xfrm>
          <a:prstGeom prst="rect">
            <a:avLst/>
          </a:prstGeom>
          <a:noFill/>
        </p:spPr>
        <p:txBody>
          <a:bodyPr wrap="square" rtlCol="0">
            <a:spAutoFit/>
          </a:bodyPr>
          <a:lstStyle/>
          <a:p>
            <a:r>
              <a:rPr lang="ko-KR" altLang="en-US" dirty="0">
                <a:solidFill>
                  <a:schemeClr val="bg1"/>
                </a:solidFill>
              </a:rPr>
              <a:t>계산기 </a:t>
            </a:r>
            <a:r>
              <a:rPr lang="en-US" altLang="ko-KR" dirty="0">
                <a:solidFill>
                  <a:schemeClr val="bg1"/>
                </a:solidFill>
              </a:rPr>
              <a:t>QR code</a:t>
            </a:r>
            <a:endParaRPr lang="ko-KR" altLang="en-US" dirty="0">
              <a:solidFill>
                <a:schemeClr val="bg1"/>
              </a:solidFill>
            </a:endParaRPr>
          </a:p>
        </p:txBody>
      </p:sp>
      <p:pic>
        <p:nvPicPr>
          <p:cNvPr id="3" name="그림 2"/>
          <p:cNvPicPr>
            <a:picLocks noChangeAspect="1"/>
          </p:cNvPicPr>
          <p:nvPr/>
        </p:nvPicPr>
        <p:blipFill>
          <a:blip r:embed="rId3"/>
          <a:stretch>
            <a:fillRect/>
          </a:stretch>
        </p:blipFill>
        <p:spPr>
          <a:xfrm>
            <a:off x="8166004" y="4476571"/>
            <a:ext cx="1844771" cy="1733768"/>
          </a:xfrm>
          <a:prstGeom prst="rect">
            <a:avLst/>
          </a:prstGeom>
        </p:spPr>
      </p:pic>
      <p:pic>
        <p:nvPicPr>
          <p:cNvPr id="7" name="그림 6" descr="Code 아이콘, 로고, 기호 – PNG, SVG 무료 다운로드">
            <a:hlinkClick r:id="rId4" action="ppaction://hlinkfile"/>
            <a:extLst>
              <a:ext uri="{FF2B5EF4-FFF2-40B4-BE49-F238E27FC236}">
                <a16:creationId xmlns:a16="http://schemas.microsoft.com/office/drawing/2014/main" id="{57C9FB73-36E1-1F35-7240-2F5C077B9082}"/>
              </a:ext>
            </a:extLst>
          </p:cNvPr>
          <p:cNvPicPr>
            <a:picLocks noChangeAspect="1"/>
          </p:cNvPicPr>
          <p:nvPr/>
        </p:nvPicPr>
        <p:blipFill>
          <a:blip r:embed="rId5"/>
          <a:stretch>
            <a:fillRect/>
          </a:stretch>
        </p:blipFill>
        <p:spPr>
          <a:xfrm>
            <a:off x="10138320" y="4476571"/>
            <a:ext cx="1943100" cy="1733768"/>
          </a:xfrm>
          <a:prstGeom prst="rect">
            <a:avLst/>
          </a:prstGeom>
        </p:spPr>
      </p:pic>
      <p:sp>
        <p:nvSpPr>
          <p:cNvPr id="8" name="TextBox 7">
            <a:extLst>
              <a:ext uri="{FF2B5EF4-FFF2-40B4-BE49-F238E27FC236}">
                <a16:creationId xmlns:a16="http://schemas.microsoft.com/office/drawing/2014/main" id="{8419CDC7-C18E-0270-E921-FB7043A46F31}"/>
              </a:ext>
            </a:extLst>
          </p:cNvPr>
          <p:cNvSpPr txBox="1"/>
          <p:nvPr/>
        </p:nvSpPr>
        <p:spPr>
          <a:xfrm flipH="1">
            <a:off x="10123712" y="6258430"/>
            <a:ext cx="1957708" cy="276999"/>
          </a:xfrm>
          <a:prstGeom prst="rect">
            <a:avLst/>
          </a:prstGeom>
          <a:noFill/>
        </p:spPr>
        <p:txBody>
          <a:bodyPr wrap="square" rtlCol="0">
            <a:spAutoFit/>
          </a:bodyPr>
          <a:lstStyle/>
          <a:p>
            <a:pPr algn="ctr"/>
            <a:r>
              <a:rPr lang="ko-KR" altLang="en-US" sz="1200" b="1" dirty="0">
                <a:solidFill>
                  <a:schemeClr val="bg1"/>
                </a:solidFill>
              </a:rPr>
              <a:t>매매 프로그램 코드 링크</a:t>
            </a:r>
          </a:p>
        </p:txBody>
      </p:sp>
    </p:spTree>
    <p:extLst>
      <p:ext uri="{BB962C8B-B14F-4D97-AF65-F5344CB8AC3E}">
        <p14:creationId xmlns:p14="http://schemas.microsoft.com/office/powerpoint/2010/main" val="2915345313"/>
      </p:ext>
    </p:extLst>
  </p:cSld>
  <p:clrMapOvr>
    <a:masterClrMapping/>
  </p:clrMapOvr>
</p:sld>
</file>

<file path=ppt/theme/theme1.xml><?xml version="1.0" encoding="utf-8"?>
<a:theme xmlns:a="http://schemas.openxmlformats.org/drawingml/2006/main" name="Office 테마">
  <a:themeElements>
    <a:clrScheme name="_008_105">
      <a:dk1>
        <a:sysClr val="windowText" lastClr="000000"/>
      </a:dk1>
      <a:lt1>
        <a:sysClr val="window" lastClr="FFFFFF"/>
      </a:lt1>
      <a:dk2>
        <a:srgbClr val="44546A"/>
      </a:dk2>
      <a:lt2>
        <a:srgbClr val="E7E6E6"/>
      </a:lt2>
      <a:accent1>
        <a:srgbClr val="224D60"/>
      </a:accent1>
      <a:accent2>
        <a:srgbClr val="006182"/>
      </a:accent2>
      <a:accent3>
        <a:srgbClr val="4E849C"/>
      </a:accent3>
      <a:accent4>
        <a:srgbClr val="DCDBD9"/>
      </a:accent4>
      <a:accent5>
        <a:srgbClr val="3B626E"/>
      </a:accent5>
      <a:accent6>
        <a:srgbClr val="27383E"/>
      </a:accent6>
      <a:hlink>
        <a:srgbClr val="3F3F3F"/>
      </a:hlink>
      <a:folHlink>
        <a:srgbClr val="3F3F3F"/>
      </a:folHlink>
    </a:clrScheme>
    <a:fontScheme name="Pretendard_Black_standard">
      <a:majorFont>
        <a:latin typeface="Pretendard Black"/>
        <a:ea typeface="Pretendard Black"/>
        <a:cs typeface=""/>
      </a:majorFont>
      <a:minorFont>
        <a:latin typeface="Pretendard"/>
        <a:ea typeface="Pretendard"/>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560</TotalTime>
  <Words>1103</Words>
  <Application>Microsoft Office PowerPoint</Application>
  <PresentationFormat>와이드스크린</PresentationFormat>
  <Paragraphs>168</Paragraphs>
  <Slides>28</Slides>
  <Notes>28</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28</vt:i4>
      </vt:variant>
    </vt:vector>
  </HeadingPairs>
  <TitlesOfParts>
    <vt:vector size="33" baseType="lpstr">
      <vt:lpstr>Pretendard</vt:lpstr>
      <vt:lpstr>Pretendard Black</vt:lpstr>
      <vt:lpstr>맑은 고딕</vt:lpstr>
      <vt:lpstr>Arial</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Yu Saebyeol</dc:creator>
  <cp:lastModifiedBy>kccistc</cp:lastModifiedBy>
  <cp:revision>77</cp:revision>
  <dcterms:created xsi:type="dcterms:W3CDTF">2022-08-03T01:14:38Z</dcterms:created>
  <dcterms:modified xsi:type="dcterms:W3CDTF">2026-06-07T23:45:34Z</dcterms:modified>
</cp:coreProperties>
</file>